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</a:rPr>
              <a:t>Beyond Tasking:</a:t>
            </a:r>
          </a:p>
          <a:p>
            <a:r>
              <a:rPr sz="3400" b="1" i="0">
                <a:solidFill>
                  <a:srgbClr val="FFFFFF"/>
                </a:solidFill>
                <a:latin typeface="Calibri"/>
              </a:rPr>
              <a:t>Extending C2SIM Plans for Autonomous-System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EEF1F5"/>
                </a:solidFill>
                <a:latin typeface="Calibri"/>
              </a:rPr>
              <a:t>The LOX Plan construct, behavior trees and BDI, and a proposed ASX plan-semantics module</a:t>
            </a:r>
          </a:p>
          <a:p>
            <a:pPr>
              <a:spcBef>
                <a:spcPts val="1400"/>
              </a:spcBef>
            </a:pPr>
            <a:r>
              <a:rPr sz="1400" b="0" i="0">
                <a:solidFill>
                  <a:srgbClr val="2E869A"/>
                </a:solidFill>
                <a:latin typeface="Calibri"/>
              </a:rPr>
              <a:t>C2SIM ASX Sub-group  —  working brief for discussion  —  DRAFT, July 2026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666666"/>
                </a:solidFill>
                <a:latin typeface="Calibri"/>
              </a:rPr>
              <a:t>Companion artifacts: Plan-Semantics-Analysis.md  +  ASX-PlanSemantics-Draft.ttl (v0.0.2)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70432"/>
            <a:ext cx="2011680" cy="38100"/>
          </a:xfrm>
          <a:prstGeom prst="rect">
            <a:avLst/>
          </a:prstGeom>
          <a:solidFill>
            <a:srgbClr val="2E8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3A5F"/>
                </a:solidFill>
                <a:latin typeface="Calibri"/>
              </a:rPr>
              <a:t>The concern in one 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2E869A"/>
                </a:solidFill>
                <a:latin typeface="Calibri"/>
              </a:rPr>
              <a:t>Why plan semantics — and why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•  C2SIM tasking tells a unit WHAT to do (task verb, WHO/WHEN/WHERE). A human crew fills in every decision the order leaves open.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•  A robotic/autonomous system has no crew: every decision the order leaves open must either be transmitted, or surrendered to opaque onboard behavior.</a:t>
            </a:r>
          </a:p>
          <a:p>
            <a:pPr>
              <a:spcAft>
                <a:spcPts val="600"/>
              </a:spcAft>
            </a:pPr>
            <a:r>
              <a:rPr sz="1600" b="1" i="0">
                <a:solidFill>
                  <a:srgbClr val="333333"/>
                </a:solidFill>
                <a:latin typeface="Calibri"/>
              </a:rPr>
              <a:t>•  The ASX scenario corpus keeps demanding the same missing pieces: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–  CASEVAC (contributed): “replans route if threat or obstacle is encountered … handled by autonomy” — contingent behavior, explained to the operator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–  MDARS persistent watch (fielded system): a standing patrol that is never “complete” — classic orders have no such thing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–  Urban C-UAS (Corona &amp; Biagini 2019): “UAVs must wait for human confirmation before taking suggested actions” — engagement authority as data</a:t>
            </a:r>
          </a:p>
          <a:p>
            <a:pPr>
              <a:spcAft>
                <a:spcPts val="600"/>
              </a:spcAft>
            </a:pPr>
            <a:r>
              <a:rPr sz="1600" b="1" i="0">
                <a:solidFill>
                  <a:srgbClr val="333333"/>
                </a:solidFill>
                <a:latin typeface="Calibri"/>
              </a:rPr>
              <a:t>•  The question for this brief:</a:t>
            </a:r>
          </a:p>
          <a:p>
            <a:pPr lvl="1">
              <a:spcAft>
                <a:spcPts val="600"/>
              </a:spcAft>
            </a:pPr>
            <a:r>
              <a:rPr sz="1300" b="1" i="0">
                <a:solidFill>
                  <a:srgbClr val="1F3A5F"/>
                </a:solidFill>
                <a:latin typeface="Calibri"/>
              </a:rPr>
              <a:t>–  Can C2SIM's existing Plan construct carry the semantics autonomy frameworks actually execute — behavior trees, BDI goals — or do we need something new?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66666"/>
                </a:solidFill>
                <a:latin typeface="Calibri"/>
              </a:rPr>
              <a:t>C2SIM ASX Sub-group   |   Plan-Semantics Working Brief (DRAFT)   |   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70432"/>
            <a:ext cx="2011680" cy="38100"/>
          </a:xfrm>
          <a:prstGeom prst="rect">
            <a:avLst/>
          </a:prstGeom>
          <a:solidFill>
            <a:srgbClr val="2E8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3A5F"/>
                </a:solidFill>
                <a:latin typeface="Calibri"/>
              </a:rPr>
              <a:t>Refresher: what C2SIM tasking says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2E869A"/>
                </a:solidFill>
                <a:latin typeface="Calibri"/>
              </a:rPr>
              <a:t>Core standard (SISO C2SIM 1.0.x) — no Plan class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•  OrderBody → Task: exactly one TaskActionCode (WHAT) and one PerformingEntity (WHO); optional times (WHEN), location (WHERE); optional DesiredEffectCode (WHY).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333333"/>
                </a:solidFill>
                <a:latin typeface="Calibri"/>
              </a:rPr>
              <a:t>•  Sequencing between tasks — two idioms only: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–  ActionTemporalRelationship: 18 Allen-style codes (STREND = “starts after end of”, concurrency, duration-offset variants)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–  RelativeTime: anchor a start time to an Event (incl. TaskStart / TaskEnd) plus an offset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•  Execution feedback — TaskStatus report: TASKPEND, TASKSTRT, TASKINPRG, TASKCMPLT, TASKABRT.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114800"/>
            <a:ext cx="10972800" cy="1051560"/>
          </a:xfrm>
          <a:prstGeom prst="round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187952"/>
            <a:ext cx="10698480" cy="905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C0392B"/>
                </a:solidFill>
                <a:latin typeface="Calibri"/>
              </a:rPr>
              <a:t>Notice what is NOT here</a:t>
            </a:r>
          </a:p>
          <a:p>
            <a:pPr>
              <a:spcBef>
                <a:spcPts val="300"/>
              </a:spcBef>
            </a:pPr>
            <a:r>
              <a:rPr sz="1400" b="0" i="0">
                <a:solidFill>
                  <a:srgbClr val="C0392B"/>
                </a:solidFill>
                <a:latin typeface="Calibri"/>
              </a:rPr>
              <a:t>No failure status (a task completes or is aborted — “tried and did not succeed” is unsayable).  No conditions over world state.  No branching.  No loops.  No goals.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3949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 i="1">
                <a:solidFill>
                  <a:srgbClr val="666666"/>
                </a:solidFill>
                <a:latin typeface="Calibri"/>
              </a:rPr>
              <a:t>•  Two under-used core hooks that become load-bearing later: FIPA-style CommunicativeActTypeCode (Agree, Confirm, Refuse …) and the Order-vs-Request deontic split.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66666"/>
                </a:solidFill>
                <a:latin typeface="Calibri"/>
              </a:rPr>
              <a:t>C2SIM ASX Sub-group   |   Plan-Semantics Working Brief (DRAFT)   |   July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70432"/>
            <a:ext cx="2011680" cy="38100"/>
          </a:xfrm>
          <a:prstGeom prst="rect">
            <a:avLst/>
          </a:prstGeom>
          <a:solidFill>
            <a:srgbClr val="2E8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3A5F"/>
                </a:solidFill>
                <a:latin typeface="Calibri"/>
              </a:rPr>
              <a:t>The construct you may not know: the LOX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2E869A"/>
                </a:solidFill>
                <a:latin typeface="Calibri"/>
              </a:rPr>
              <a:t>Land Operations Extension — and it is more than a task container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5394960" cy="2286000"/>
          </a:xfrm>
          <a:prstGeom prst="round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81912"/>
            <a:ext cx="5120640" cy="2139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F3A5F"/>
                </a:solidFill>
                <a:latin typeface="Calibri"/>
              </a:rPr>
              <a:t>PlanBody  (a DomainMessageBody)</a:t>
            </a:r>
          </a:p>
          <a:p>
            <a:pPr>
              <a:spcBef>
                <a:spcPts val="300"/>
              </a:spcBef>
            </a:pPr>
            <a:r>
              <a:rPr sz="1350" b="0" i="0">
                <a:solidFill>
                  <a:srgbClr val="333333"/>
                </a:solidFill>
                <a:latin typeface="Calibri"/>
              </a:rPr>
              <a:t>hasPlanPhase 0..*  — the phases</a:t>
            </a:r>
          </a:p>
          <a:p>
            <a:pPr>
              <a:spcBef>
                <a:spcPts val="300"/>
              </a:spcBef>
            </a:pPr>
            <a:r>
              <a:rPr sz="1350" b="0" i="0">
                <a:solidFill>
                  <a:srgbClr val="333333"/>
                </a:solidFill>
                <a:latin typeface="Calibri"/>
              </a:rPr>
              <a:t>isToBeExecutedNow (exactly 1)</a:t>
            </a:r>
          </a:p>
          <a:p>
            <a:pPr>
              <a:spcBef>
                <a:spcPts val="300"/>
              </a:spcBef>
            </a:pPr>
            <a:r>
              <a:rPr sz="1350" b="0" i="0">
                <a:solidFill>
                  <a:srgbClr val="333333"/>
                </a:solidFill>
                <a:latin typeface="Calibri"/>
              </a:rPr>
              <a:t> </a:t>
            </a:r>
          </a:p>
          <a:p>
            <a:pPr>
              <a:spcBef>
                <a:spcPts val="300"/>
              </a:spcBef>
            </a:pPr>
            <a:r>
              <a:rPr sz="1350" b="0" i="0">
                <a:solidFill>
                  <a:srgbClr val="333333"/>
                </a:solidFill>
                <a:latin typeface="Calibri"/>
              </a:rPr>
              <a:t>PlanPhase  (recursive via hasSubPhase)</a:t>
            </a:r>
          </a:p>
          <a:p>
            <a:pPr>
              <a:spcBef>
                <a:spcPts val="300"/>
              </a:spcBef>
            </a:pPr>
            <a:r>
              <a:rPr sz="1350" b="0" i="0">
                <a:solidFill>
                  <a:srgbClr val="333333"/>
                </a:solidFill>
                <a:latin typeface="Calibri"/>
              </a:rPr>
              <a:t>hasPlanPhaseTrigger — exactly 1</a:t>
            </a:r>
          </a:p>
          <a:p>
            <a:pPr>
              <a:spcBef>
                <a:spcPts val="300"/>
              </a:spcBef>
            </a:pPr>
            <a:r>
              <a:rPr sz="1350" b="0" i="0">
                <a:solidFill>
                  <a:srgbClr val="333333"/>
                </a:solidFill>
                <a:latin typeface="Calibri"/>
              </a:rPr>
              <a:t>hasPlanPhaseCompletionCondition — exactly 1</a:t>
            </a:r>
          </a:p>
          <a:p>
            <a:pPr>
              <a:spcBef>
                <a:spcPts val="300"/>
              </a:spcBef>
            </a:pPr>
            <a:r>
              <a:rPr sz="1350" b="0" i="0">
                <a:solidFill>
                  <a:srgbClr val="333333"/>
                </a:solidFill>
                <a:latin typeface="Calibri"/>
              </a:rPr>
              <a:t>hasTaskReference 0..* — the tasks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508760"/>
            <a:ext cx="5349240" cy="2286000"/>
          </a:xfrm>
          <a:prstGeom prst="round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81912"/>
            <a:ext cx="5074920" cy="2139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F3A5F"/>
                </a:solidFill>
                <a:latin typeface="Calibri"/>
              </a:rPr>
              <a:t>Trigger types (when a phase starts)</a:t>
            </a:r>
          </a:p>
          <a:p>
            <a:pPr>
              <a:spcBef>
                <a:spcPts val="300"/>
              </a:spcBef>
            </a:pPr>
            <a:r>
              <a:rPr sz="1350" b="0" i="0">
                <a:solidFill>
                  <a:srgbClr val="333333"/>
                </a:solidFill>
                <a:latin typeface="Calibri"/>
              </a:rPr>
              <a:t>EventTrigger — at the time of an Event</a:t>
            </a:r>
          </a:p>
          <a:p>
            <a:pPr>
              <a:spcBef>
                <a:spcPts val="300"/>
              </a:spcBef>
            </a:pPr>
            <a:r>
              <a:rPr sz="1350" b="0" i="0">
                <a:solidFill>
                  <a:srgbClr val="333333"/>
                </a:solidFill>
                <a:latin typeface="Calibri"/>
              </a:rPr>
              <a:t>OnOrderTrigger — on an ExecutePlanPhase task</a:t>
            </a:r>
          </a:p>
          <a:p>
            <a:pPr>
              <a:spcBef>
                <a:spcPts val="300"/>
              </a:spcBef>
            </a:pPr>
            <a:r>
              <a:rPr sz="1350" b="0" i="0">
                <a:solidFill>
                  <a:srgbClr val="333333"/>
                </a:solidFill>
                <a:latin typeface="Calibri"/>
              </a:rPr>
              <a:t>PriorPhaseCompletionTrigger — when another phase completes (→ sequences)</a:t>
            </a:r>
          </a:p>
          <a:p>
            <a:pPr>
              <a:spcBef>
                <a:spcPts val="300"/>
              </a:spcBef>
            </a:pPr>
            <a:r>
              <a:rPr sz="1350" b="0" i="0">
                <a:solidFill>
                  <a:srgbClr val="333333"/>
                </a:solidFill>
                <a:latin typeface="Calibri"/>
              </a:rPr>
              <a:t> </a:t>
            </a:r>
          </a:p>
          <a:p>
            <a:pPr>
              <a:spcBef>
                <a:spcPts val="300"/>
              </a:spcBef>
            </a:pPr>
            <a:r>
              <a:rPr sz="1350" b="0" i="0">
                <a:solidFill>
                  <a:srgbClr val="333333"/>
                </a:solidFill>
                <a:latin typeface="Calibri"/>
              </a:rPr>
              <a:t>Completion codes (when it counts as done)</a:t>
            </a:r>
          </a:p>
          <a:p>
            <a:pPr>
              <a:spcBef>
                <a:spcPts val="300"/>
              </a:spcBef>
            </a:pPr>
            <a:r>
              <a:rPr sz="1350" b="0" i="0">
                <a:solidFill>
                  <a:srgbClr val="333333"/>
                </a:solidFill>
                <a:latin typeface="Calibri"/>
              </a:rPr>
              <a:t>AllTasksComplete   OneTaskComplete   OtherOrderReceived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023360"/>
            <a:ext cx="10972800" cy="1371600"/>
          </a:xfrm>
          <a:prstGeom prst="round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096512"/>
            <a:ext cx="10698480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F3A5F"/>
                </a:solidFill>
                <a:latin typeface="Calibri"/>
              </a:rPr>
              <a:t>The key observation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1F3A5F"/>
                </a:solidFill>
                <a:latin typeface="Calibri"/>
              </a:rPr>
              <a:t>This is not a task list. Triggers + completion conditions + recursive decomposition = a rudimentary REACTIVE EXECUTION model.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2E869A"/>
                </a:solidFill>
                <a:latin typeface="Calibri"/>
              </a:rPr>
              <a:t>That makes the Plan construct — not Order/Task — the natural chassis for autonomy semantics.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53212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 i="1">
                <a:solidFill>
                  <a:srgbClr val="666666"/>
                </a:solidFill>
                <a:latin typeface="Calibri"/>
              </a:rPr>
              <a:t>•  Also in LOX: ManeuverWarfareTask adds RuleOfEngagement, plus JC3IEDM task relations ALT (“is an alternative to”) and HASPRV (“provisional sub-action”) — contingency LABELS with no activation semantics.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66666"/>
                </a:solidFill>
                <a:latin typeface="Calibri"/>
              </a:rPr>
              <a:t>C2SIM ASX Sub-group   |   Plan-Semantics Working Brief (DRAFT)   |   July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70432"/>
            <a:ext cx="2011680" cy="38100"/>
          </a:xfrm>
          <a:prstGeom prst="rect">
            <a:avLst/>
          </a:prstGeom>
          <a:solidFill>
            <a:srgbClr val="2E8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3A5F"/>
                </a:solidFill>
                <a:latin typeface="Calibri"/>
              </a:rPr>
              <a:t>How autonomous systems specify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2E869A"/>
                </a:solidFill>
                <a:latin typeface="Calibri"/>
              </a:rPr>
              <a:t>Two dominant mechanisms — 60 seconds each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5394960" cy="3931920"/>
          </a:xfrm>
          <a:prstGeom prst="round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81912"/>
            <a:ext cx="5120640" cy="3785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F3A5F"/>
                </a:solidFill>
                <a:latin typeface="Calibri"/>
              </a:rPr>
              <a:t>Behavior Trees (ROS 2 Nav2, Spot SDK …)</a:t>
            </a:r>
          </a:p>
          <a:p>
            <a:pPr>
              <a:spcBef>
                <a:spcPts val="300"/>
              </a:spcBef>
            </a:pPr>
            <a:r>
              <a:rPr sz="1350" b="0" i="0">
                <a:solidFill>
                  <a:srgbClr val="333333"/>
                </a:solidFill>
                <a:latin typeface="Calibri"/>
              </a:rPr>
              <a:t>A tree of control-flow nodes over primitive actions:</a:t>
            </a:r>
          </a:p>
          <a:p>
            <a:pPr>
              <a:spcBef>
                <a:spcPts val="300"/>
              </a:spcBef>
            </a:pPr>
            <a:r>
              <a:rPr sz="1350" b="0" i="0">
                <a:solidFill>
                  <a:srgbClr val="333333"/>
                </a:solidFill>
                <a:latin typeface="Calibri"/>
              </a:rPr>
              <a:t>  Sequence — children in order, halt on failure</a:t>
            </a:r>
          </a:p>
          <a:p>
            <a:pPr>
              <a:spcBef>
                <a:spcPts val="300"/>
              </a:spcBef>
            </a:pPr>
            <a:r>
              <a:rPr sz="1350" b="0" i="0">
                <a:solidFill>
                  <a:srgbClr val="333333"/>
                </a:solidFill>
                <a:latin typeface="Calibri"/>
              </a:rPr>
              <a:t>  Fallback/Selector — try alternatives until one succeeds</a:t>
            </a:r>
          </a:p>
          <a:p>
            <a:pPr>
              <a:spcBef>
                <a:spcPts val="300"/>
              </a:spcBef>
            </a:pPr>
            <a:r>
              <a:rPr sz="1350" b="0" i="0">
                <a:solidFill>
                  <a:srgbClr val="333333"/>
                </a:solidFill>
                <a:latin typeface="Calibri"/>
              </a:rPr>
              <a:t>  Parallel — concurrent, succeed-on-all / succeed-on-one</a:t>
            </a:r>
          </a:p>
          <a:p>
            <a:pPr>
              <a:spcBef>
                <a:spcPts val="300"/>
              </a:spcBef>
            </a:pPr>
            <a:r>
              <a:rPr sz="1350" b="0" i="0">
                <a:solidFill>
                  <a:srgbClr val="333333"/>
                </a:solidFill>
                <a:latin typeface="Calibri"/>
              </a:rPr>
              <a:t>  Decorators — retry N times, loop, timeout, invert</a:t>
            </a:r>
          </a:p>
          <a:p>
            <a:pPr>
              <a:spcBef>
                <a:spcPts val="300"/>
              </a:spcBef>
            </a:pPr>
            <a:r>
              <a:rPr sz="1350" b="0" i="0">
                <a:solidFill>
                  <a:srgbClr val="333333"/>
                </a:solidFill>
                <a:latin typeface="Calibri"/>
              </a:rPr>
              <a:t>  Condition leaves — guards over world state</a:t>
            </a:r>
          </a:p>
          <a:p>
            <a:pPr>
              <a:spcBef>
                <a:spcPts val="300"/>
              </a:spcBef>
            </a:pPr>
            <a:r>
              <a:rPr sz="1350" b="0" i="0">
                <a:solidFill>
                  <a:srgbClr val="333333"/>
                </a:solidFill>
                <a:latin typeface="Calibri"/>
              </a:rPr>
              <a:t> </a:t>
            </a:r>
          </a:p>
          <a:p>
            <a:pPr>
              <a:spcBef>
                <a:spcPts val="300"/>
              </a:spcBef>
            </a:pPr>
            <a:r>
              <a:rPr sz="1350" b="0" i="0">
                <a:solidFill>
                  <a:srgbClr val="1F3A5F"/>
                </a:solidFill>
                <a:latin typeface="Calibri"/>
              </a:rPr>
              <a:t>Every node returns Success / Failure / Running.</a:t>
            </a:r>
          </a:p>
          <a:p>
            <a:pPr>
              <a:spcBef>
                <a:spcPts val="300"/>
              </a:spcBef>
            </a:pPr>
            <a:r>
              <a:rPr sz="1350" b="0" i="0">
                <a:solidFill>
                  <a:srgbClr val="1F3A5F"/>
                </a:solidFill>
                <a:latin typeface="Calibri"/>
              </a:rPr>
              <a:t>FAILURE is the engine of the whole model: it is what</a:t>
            </a:r>
          </a:p>
          <a:p>
            <a:pPr>
              <a:spcBef>
                <a:spcPts val="300"/>
              </a:spcBef>
            </a:pPr>
            <a:r>
              <a:rPr sz="1350" b="0" i="0">
                <a:solidFill>
                  <a:srgbClr val="1F3A5F"/>
                </a:solidFill>
                <a:latin typeface="Calibri"/>
              </a:rPr>
              <a:t>selects alternatives and drives recovery.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508760"/>
            <a:ext cx="5349240" cy="3931920"/>
          </a:xfrm>
          <a:prstGeom prst="round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81912"/>
            <a:ext cx="5074920" cy="3785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F3A5F"/>
                </a:solidFill>
                <a:latin typeface="Calibri"/>
              </a:rPr>
              <a:t>BDI agents (FIPA lineage)</a:t>
            </a:r>
          </a:p>
          <a:p>
            <a:pPr>
              <a:spcBef>
                <a:spcPts val="300"/>
              </a:spcBef>
            </a:pPr>
            <a:r>
              <a:rPr sz="1350" b="0" i="0">
                <a:solidFill>
                  <a:srgbClr val="333333"/>
                </a:solidFill>
                <a:latin typeface="Calibri"/>
              </a:rPr>
              <a:t>Beliefs — the agent's world model</a:t>
            </a:r>
          </a:p>
          <a:p>
            <a:pPr>
              <a:spcBef>
                <a:spcPts val="300"/>
              </a:spcBef>
            </a:pPr>
            <a:r>
              <a:rPr sz="1350" b="0" i="0">
                <a:solidFill>
                  <a:srgbClr val="333333"/>
                </a:solidFill>
                <a:latin typeface="Calibri"/>
              </a:rPr>
              <a:t>Desires/Goals — end states: achieve once, or MAINTAIN</a:t>
            </a:r>
          </a:p>
          <a:p>
            <a:pPr>
              <a:spcBef>
                <a:spcPts val="300"/>
              </a:spcBef>
            </a:pPr>
            <a:r>
              <a:rPr sz="1350" b="0" i="0">
                <a:solidFill>
                  <a:srgbClr val="333333"/>
                </a:solidFill>
                <a:latin typeface="Calibri"/>
              </a:rPr>
              <a:t>Intentions — goals committed to, pursued via plans</a:t>
            </a:r>
          </a:p>
          <a:p>
            <a:pPr>
              <a:spcBef>
                <a:spcPts val="300"/>
              </a:spcBef>
            </a:pPr>
            <a:r>
              <a:rPr sz="1350" b="0" i="0">
                <a:solidFill>
                  <a:srgbClr val="333333"/>
                </a:solidFill>
                <a:latin typeface="Calibri"/>
              </a:rPr>
              <a:t> </a:t>
            </a:r>
          </a:p>
          <a:p>
            <a:pPr>
              <a:spcBef>
                <a:spcPts val="300"/>
              </a:spcBef>
            </a:pPr>
            <a:r>
              <a:rPr sz="1350" b="0" i="0">
                <a:solidFill>
                  <a:srgbClr val="333333"/>
                </a:solidFill>
                <a:latin typeface="Calibri"/>
              </a:rPr>
              <a:t>A plan library holds alternative recipes per goal;</a:t>
            </a:r>
          </a:p>
          <a:p>
            <a:pPr>
              <a:spcBef>
                <a:spcPts val="300"/>
              </a:spcBef>
            </a:pPr>
            <a:r>
              <a:rPr sz="1350" b="0" i="0">
                <a:solidFill>
                  <a:srgbClr val="333333"/>
                </a:solidFill>
                <a:latin typeface="Calibri"/>
              </a:rPr>
              <a:t>each plan carries a CONTEXT CONDITION deciding</a:t>
            </a:r>
          </a:p>
          <a:p>
            <a:pPr>
              <a:spcBef>
                <a:spcPts val="300"/>
              </a:spcBef>
            </a:pPr>
            <a:r>
              <a:rPr sz="1350" b="0" i="0">
                <a:solidFill>
                  <a:srgbClr val="333333"/>
                </a:solidFill>
                <a:latin typeface="Calibri"/>
              </a:rPr>
              <a:t>when it applies (primary / degraded / contested …).</a:t>
            </a:r>
          </a:p>
          <a:p>
            <a:pPr>
              <a:spcBef>
                <a:spcPts val="300"/>
              </a:spcBef>
            </a:pPr>
            <a:r>
              <a:rPr sz="1350" b="0" i="0">
                <a:solidFill>
                  <a:srgbClr val="333333"/>
                </a:solidFill>
                <a:latin typeface="Calibri"/>
              </a:rPr>
              <a:t> </a:t>
            </a:r>
          </a:p>
          <a:p>
            <a:pPr>
              <a:spcBef>
                <a:spcPts val="300"/>
              </a:spcBef>
            </a:pPr>
            <a:r>
              <a:rPr sz="1350" b="0" i="0">
                <a:solidFill>
                  <a:srgbClr val="1F3A5F"/>
                </a:solidFill>
                <a:latin typeface="Calibri"/>
              </a:rPr>
              <a:t>Goal-directed tasking: transmit the end state and</a:t>
            </a:r>
          </a:p>
          <a:p>
            <a:pPr>
              <a:spcBef>
                <a:spcPts val="300"/>
              </a:spcBef>
            </a:pPr>
            <a:r>
              <a:rPr sz="1350" b="0" i="0">
                <a:solidFill>
                  <a:srgbClr val="1F3A5F"/>
                </a:solidFill>
                <a:latin typeface="Calibri"/>
              </a:rPr>
              <a:t>constraints; the system chooses the procedure.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577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0" i="1">
                <a:solidFill>
                  <a:srgbClr val="666666"/>
                </a:solidFill>
                <a:latin typeface="Calibri"/>
              </a:rPr>
              <a:t>•  The subgroup's own standards survey (Reference Materials) recommends modeling BT/HTN concepts directly and using FIPA/BDI for the goal layer, anchored to IEEE 1872.1/.2.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66666"/>
                </a:solidFill>
                <a:latin typeface="Calibri"/>
              </a:rPr>
              <a:t>C2SIM ASX Sub-group   |   Plan-Semantics Working Brief (DRAFT)   |   July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70432"/>
            <a:ext cx="2011680" cy="38100"/>
          </a:xfrm>
          <a:prstGeom prst="rect">
            <a:avLst/>
          </a:prstGeom>
          <a:solidFill>
            <a:srgbClr val="2E8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3A5F"/>
                </a:solidFill>
                <a:latin typeface="Calibri"/>
              </a:rPr>
              <a:t>Correlation: a surprising amount already maps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2E869A"/>
                </a:solidFill>
                <a:latin typeface="Calibri"/>
              </a:rPr>
              <a:t>LOX Plan vs. behavior-tree concepts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508760"/>
          <a:ext cx="1097280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5120640"/>
                <a:gridCol w="219456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Behavior-tree concept</a:t>
                      </a:r>
                    </a:p>
                  </a:txBody>
                  <a:tcPr marT="18288" marB="18288" marL="54864" marR="54864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LOX Plan analog</a:t>
                      </a:r>
                    </a:p>
                  </a:txBody>
                  <a:tcPr marT="18288" marB="18288" marL="54864" marR="54864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Fidelity</a:t>
                      </a:r>
                    </a:p>
                  </a:txBody>
                  <a:tcPr marT="18288" marB="18288" marL="54864" marR="54864"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333333"/>
                          </a:solidFill>
                          <a:latin typeface="Calibri"/>
                        </a:rPr>
                        <a:t>Composite node</a:t>
                      </a:r>
                    </a:p>
                  </a:txBody>
                  <a:tcPr marT="18288" marB="18288" marL="54864" marR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333333"/>
                          </a:solidFill>
                          <a:latin typeface="Calibri"/>
                        </a:rPr>
                        <a:t>PlanPhase with subphases (native recursion)</a:t>
                      </a:r>
                    </a:p>
                  </a:txBody>
                  <a:tcPr marT="18288" marB="18288" marL="54864" marR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E7D32"/>
                          </a:solidFill>
                          <a:latin typeface="Calibri"/>
                        </a:rPr>
                        <a:t>good</a:t>
                      </a:r>
                    </a:p>
                  </a:txBody>
                  <a:tcPr marT="18288" marB="18288" marL="54864" marR="54864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333333"/>
                          </a:solidFill>
                          <a:latin typeface="Calibri"/>
                        </a:rPr>
                        <a:t>Sequence</a:t>
                      </a:r>
                    </a:p>
                  </a:txBody>
                  <a:tcPr marT="18288" marB="18288" marL="54864" marR="54864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333333"/>
                          </a:solidFill>
                          <a:latin typeface="Calibri"/>
                        </a:rPr>
                        <a:t>PriorPhaseCompletionTrigger chains</a:t>
                      </a:r>
                    </a:p>
                  </a:txBody>
                  <a:tcPr marT="18288" marB="18288" marL="54864" marR="54864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C87F0A"/>
                          </a:solidFill>
                          <a:latin typeface="Calibri"/>
                        </a:rPr>
                        <a:t>structural only — breaks once failure exists</a:t>
                      </a:r>
                    </a:p>
                  </a:txBody>
                  <a:tcPr marT="18288" marB="18288" marL="54864" marR="54864">
                    <a:solidFill>
                      <a:srgbClr val="EEF1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333333"/>
                          </a:solidFill>
                          <a:latin typeface="Calibri"/>
                        </a:rPr>
                        <a:t>Parallel, succeed-on-all</a:t>
                      </a:r>
                    </a:p>
                  </a:txBody>
                  <a:tcPr marT="18288" marB="18288" marL="54864" marR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333333"/>
                          </a:solidFill>
                          <a:latin typeface="Calibri"/>
                        </a:rPr>
                        <a:t>phase + AllTasksComplete</a:t>
                      </a:r>
                    </a:p>
                  </a:txBody>
                  <a:tcPr marT="18288" marB="18288" marL="54864" marR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E7D32"/>
                          </a:solidFill>
                          <a:latin typeface="Calibri"/>
                        </a:rPr>
                        <a:t>good (no straggler-cancel rule)</a:t>
                      </a:r>
                    </a:p>
                  </a:txBody>
                  <a:tcPr marT="18288" marB="18288" marL="54864" marR="54864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333333"/>
                          </a:solidFill>
                          <a:latin typeface="Calibri"/>
                        </a:rPr>
                        <a:t>Parallel, succeed-on-one</a:t>
                      </a:r>
                    </a:p>
                  </a:txBody>
                  <a:tcPr marT="18288" marB="18288" marL="54864" marR="54864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333333"/>
                          </a:solidFill>
                          <a:latin typeface="Calibri"/>
                        </a:rPr>
                        <a:t>phase + OneTaskComplete</a:t>
                      </a:r>
                    </a:p>
                  </a:txBody>
                  <a:tcPr marT="18288" marB="18288" marL="54864" marR="54864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E7D32"/>
                          </a:solidFill>
                          <a:latin typeface="Calibri"/>
                        </a:rPr>
                        <a:t>good (same caveat)</a:t>
                      </a:r>
                    </a:p>
                  </a:txBody>
                  <a:tcPr marT="18288" marB="18288" marL="54864" marR="54864">
                    <a:solidFill>
                      <a:srgbClr val="EEF1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333333"/>
                          </a:solidFill>
                          <a:latin typeface="Calibri"/>
                        </a:rPr>
                        <a:t>Action leaf</a:t>
                      </a:r>
                    </a:p>
                  </a:txBody>
                  <a:tcPr marT="18288" marB="18288" marL="54864" marR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333333"/>
                          </a:solidFill>
                          <a:latin typeface="Calibri"/>
                        </a:rPr>
                        <a:t>Task referenced from a phase</a:t>
                      </a:r>
                    </a:p>
                  </a:txBody>
                  <a:tcPr marT="18288" marB="18288" marL="54864" marR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E7D32"/>
                          </a:solidFill>
                          <a:latin typeface="Calibri"/>
                        </a:rPr>
                        <a:t>good</a:t>
                      </a:r>
                    </a:p>
                  </a:txBody>
                  <a:tcPr marT="18288" marB="18288" marL="54864" marR="54864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333333"/>
                          </a:solidFill>
                          <a:latin typeface="Calibri"/>
                        </a:rPr>
                        <a:t>Entry gating</a:t>
                      </a:r>
                    </a:p>
                  </a:txBody>
                  <a:tcPr marT="18288" marB="18288" marL="54864" marR="54864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333333"/>
                          </a:solidFill>
                          <a:latin typeface="Calibri"/>
                        </a:rPr>
                        <a:t>EventTrigger (a temporal anchor, not runtime detection)</a:t>
                      </a:r>
                    </a:p>
                  </a:txBody>
                  <a:tcPr marT="18288" marB="18288" marL="54864" marR="54864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C87F0A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 marT="18288" marB="18288" marL="54864" marR="54864">
                    <a:solidFill>
                      <a:srgbClr val="EEF1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333333"/>
                          </a:solidFill>
                          <a:latin typeface="Calibri"/>
                        </a:rPr>
                        <a:t>External preemption</a:t>
                      </a:r>
                    </a:p>
                  </a:txBody>
                  <a:tcPr marT="18288" marB="18288" marL="54864" marR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333333"/>
                          </a:solidFill>
                          <a:latin typeface="Calibri"/>
                        </a:rPr>
                        <a:t>OtherOrderReceived / OnOrderTrigger</a:t>
                      </a:r>
                    </a:p>
                  </a:txBody>
                  <a:tcPr marT="18288" marB="18288" marL="54864" marR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C87F0A"/>
                          </a:solidFill>
                          <a:latin typeface="Calibri"/>
                        </a:rPr>
                        <a:t>partial — human-initiated only</a:t>
                      </a:r>
                    </a:p>
                  </a:txBody>
                  <a:tcPr marT="18288" marB="18288" marL="54864" marR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4892040"/>
            <a:ext cx="10972800" cy="1188720"/>
          </a:xfrm>
          <a:prstGeom prst="round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965192"/>
            <a:ext cx="10698480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F3A5F"/>
                </a:solidFill>
                <a:latin typeface="Calibri"/>
              </a:rPr>
              <a:t>And on the BDI side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333333"/>
                </a:solidFill>
                <a:latin typeface="Calibri"/>
              </a:rPr>
              <a:t>Plan recipe = PlanBody (good).  Plan triggering = EventTrigger/OnOrderTrigger (good).  Performatives already in core (good).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666666"/>
                </a:solidFill>
                <a:latin typeface="Calibri"/>
              </a:rPr>
              <a:t>Beliefs: C2SIM reports are belief updates — adequate as-is; the belief store belongs to the executing system.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66666"/>
                </a:solidFill>
                <a:latin typeface="Calibri"/>
              </a:rPr>
              <a:t>C2SIM ASX Sub-group   |   Plan-Semantics Working Brief (DRAFT)   |   July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70432"/>
            <a:ext cx="2011680" cy="38100"/>
          </a:xfrm>
          <a:prstGeom prst="rect">
            <a:avLst/>
          </a:prstGeom>
          <a:solidFill>
            <a:srgbClr val="2E8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3A5F"/>
                </a:solidFill>
                <a:latin typeface="Calibri"/>
              </a:rPr>
              <a:t>What is missing — seven precisely enumerable gaps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2E869A"/>
                </a:solidFill>
                <a:latin typeface="Calibri"/>
              </a:rPr>
              <a:t>Each one demanded by scenarios already in the ASX corpus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508760"/>
          <a:ext cx="10972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566160"/>
                <a:gridCol w="694944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T="18288" marB="18288" marL="54864" marR="54864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Missing semantics</a:t>
                      </a:r>
                    </a:p>
                  </a:txBody>
                  <a:tcPr marT="18288" marB="18288" marL="54864" marR="54864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Scenario moment that demands it</a:t>
                      </a:r>
                    </a:p>
                  </a:txBody>
                  <a:tcPr marT="18288" marB="18288" marL="54864" marR="54864"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3333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T="18288" marB="18288" marL="54864" marR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C0392B"/>
                          </a:solidFill>
                          <a:latin typeface="Calibri"/>
                        </a:rPr>
                        <a:t>Failure as an outcome</a:t>
                      </a:r>
                    </a:p>
                  </a:txBody>
                  <a:tcPr marT="18288" marB="18288" marL="54864" marR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333333"/>
                          </a:solidFill>
                          <a:latin typeface="Calibri"/>
                        </a:rPr>
                        <a:t>everything downstream: nothing can fail today, so nothing can recover</a:t>
                      </a:r>
                    </a:p>
                  </a:txBody>
                  <a:tcPr marT="18288" marB="18288" marL="54864" marR="54864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3333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T="18288" marB="18288" marL="54864" marR="54864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C0392B"/>
                          </a:solidFill>
                          <a:latin typeface="Calibri"/>
                        </a:rPr>
                        <a:t>Fallback / alternative branching</a:t>
                      </a:r>
                    </a:p>
                  </a:txBody>
                  <a:tcPr marT="18288" marB="18288" marL="54864" marR="54864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333333"/>
                          </a:solidFill>
                          <a:latin typeface="Calibri"/>
                        </a:rPr>
                        <a:t>CASEVAC: replan route on IED report; CBRN: backtrack, replan, abort after 3 attempts</a:t>
                      </a:r>
                    </a:p>
                  </a:txBody>
                  <a:tcPr marT="18288" marB="18288" marL="54864" marR="54864">
                    <a:solidFill>
                      <a:srgbClr val="EEF1F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3333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T="18288" marB="18288" marL="54864" marR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C0392B"/>
                          </a:solidFill>
                          <a:latin typeface="Calibri"/>
                        </a:rPr>
                        <a:t>Guards over world state</a:t>
                      </a:r>
                    </a:p>
                  </a:txBody>
                  <a:tcPr marT="18288" marB="18288" marL="54864" marR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333333"/>
                          </a:solidFill>
                          <a:latin typeface="Calibri"/>
                        </a:rPr>
                        <a:t>MUTT: maintain comms continuously; relocate if position compromised</a:t>
                      </a:r>
                    </a:p>
                  </a:txBody>
                  <a:tcPr marT="18288" marB="18288" marL="54864" marR="54864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3333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T="18288" marB="18288" marL="54864" marR="54864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C0392B"/>
                          </a:solidFill>
                          <a:latin typeface="Calibri"/>
                        </a:rPr>
                        <a:t>Loops / standing tasks</a:t>
                      </a:r>
                    </a:p>
                  </a:txBody>
                  <a:tcPr marT="18288" marB="18288" marL="54864" marR="54864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333333"/>
                          </a:solidFill>
                          <a:latin typeface="Calibri"/>
                        </a:rPr>
                        <a:t>MDARS standing watch; MCM revisit every 8–24 h; route-clearance repeat</a:t>
                      </a:r>
                    </a:p>
                  </a:txBody>
                  <a:tcPr marT="18288" marB="18288" marL="54864" marR="54864">
                    <a:solidFill>
                      <a:srgbClr val="EEF1F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33333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T="18288" marB="18288" marL="54864" marR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C0392B"/>
                          </a:solidFill>
                          <a:latin typeface="Calibri"/>
                        </a:rPr>
                        <a:t>Goals distinct from procedure</a:t>
                      </a:r>
                    </a:p>
                  </a:txBody>
                  <a:tcPr marT="18288" marB="18288" marL="54864" marR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333333"/>
                          </a:solidFill>
                          <a:latin typeface="Calibri"/>
                        </a:rPr>
                        <a:t>MCM: neutralize mines (achieve) vs. keep sea lane usable (maintain)</a:t>
                      </a:r>
                    </a:p>
                  </a:txBody>
                  <a:tcPr marT="18288" marB="18288" marL="54864" marR="54864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33333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T="18288" marB="18288" marL="54864" marR="54864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C0392B"/>
                          </a:solidFill>
                          <a:latin typeface="Calibri"/>
                        </a:rPr>
                        <a:t>Plan selection by context</a:t>
                      </a:r>
                    </a:p>
                  </a:txBody>
                  <a:tcPr marT="18288" marB="18288" marL="54864" marR="54864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333333"/>
                          </a:solidFill>
                          <a:latin typeface="Calibri"/>
                        </a:rPr>
                        <a:t>Sustainment: routine distribution vs. contested resupply for the same goal</a:t>
                      </a:r>
                    </a:p>
                  </a:txBody>
                  <a:tcPr marT="18288" marB="18288" marL="54864" marR="54864">
                    <a:solidFill>
                      <a:srgbClr val="EEF1F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33333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T="18288" marB="18288" marL="54864" marR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C0392B"/>
                          </a:solidFill>
                          <a:latin typeface="Calibri"/>
                        </a:rPr>
                        <a:t>Intention &amp; rationale reporting</a:t>
                      </a:r>
                    </a:p>
                  </a:txBody>
                  <a:tcPr marT="18288" marB="18288" marL="54864" marR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333333"/>
                          </a:solidFill>
                          <a:latin typeface="Calibri"/>
                        </a:rPr>
                        <a:t>CASEVAC: “explainable reasons” for changes; DroneResponse explanation schema</a:t>
                      </a:r>
                    </a:p>
                  </a:txBody>
                  <a:tcPr marT="18288" marB="18288" marL="54864" marR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257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50" b="0" i="0">
                <a:solidFill>
                  <a:srgbClr val="1F3A5F"/>
                </a:solidFill>
                <a:latin typeface="Calibri"/>
              </a:rPr>
              <a:t>•  These align 1:1 with the sub-group's open decision-log items: W1/Q-K (engagement authority — flagged as the central policy gap), X2 (explainability), Q-N (coverage goals), Q-D (graded autonomy), N2 (standing tasks), X6 (re-tasking).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66666"/>
                </a:solidFill>
                <a:latin typeface="Calibri"/>
              </a:rPr>
              <a:t>C2SIM ASX Sub-group   |   Plan-Semantics Working Brief (DRAFT)   |   July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70432"/>
            <a:ext cx="2011680" cy="38100"/>
          </a:xfrm>
          <a:prstGeom prst="rect">
            <a:avLst/>
          </a:prstGeom>
          <a:solidFill>
            <a:srgbClr val="2E8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3A5F"/>
                </a:solidFill>
                <a:latin typeface="Calibri"/>
              </a:rPr>
              <a:t>Feasibility: extend, don't fork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2E869A"/>
                </a:solidFill>
                <a:latin typeface="Calibri"/>
              </a:rPr>
              <a:t>Every mechanism needed is an idiom the standard already uses on itself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•  Open trigger hierarchy — LOX added 3 PlanPhaseTrigger subclasses; ASX can add more (same pattern).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•  Open code lists — SMX added 25 DesiredEffectCodes; LOX added 446 TaskActionCodes; adding TASKFAILD follows precedent exactly.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•  Subclass-and-restrict — ManeuverWarfareTask ⊑ Task is the sanctioned enrichment pattern; AutonomousPlanPhase ⊑ PlanPhase does the same.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•  New report contents — SMX ObservationReportContent is the template for status/rationale reports.</a:t>
            </a:r>
          </a:p>
          <a:p>
            <a:pPr>
              <a:spcAft>
                <a:spcPts val="600"/>
              </a:spcAft>
            </a:pPr>
            <a:r>
              <a:rPr sz="1600" b="1" i="0">
                <a:solidFill>
                  <a:srgbClr val="2E7D32"/>
                </a:solidFill>
                <a:latin typeface="Calibri"/>
              </a:rPr>
              <a:t>•  Verdict: an additive ASX module importing LOX. No core/LOX changes. No standalone ontology.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434840"/>
            <a:ext cx="10972800" cy="1691640"/>
          </a:xfrm>
          <a:prstGeom prst="round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507992"/>
            <a:ext cx="10698480" cy="1545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C87F0A"/>
                </a:solidFill>
                <a:latin typeface="Calibri"/>
              </a:rPr>
              <a:t>The honest qualification (from our adversarial review)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333333"/>
                </a:solidFill>
                <a:latin typeface="Calibri"/>
              </a:rPr>
              <a:t>REPORTING constructs degrade gracefully — a legacy consumer that ignores them loses information, not safety.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C0392B"/>
                </a:solidFill>
                <a:latin typeface="Calibri"/>
              </a:rPr>
              <a:t>GATING constructs (triggers, guards, timeouts) are mandatory-to-understand: ignoring a HumanApprovalTrigger would fire an engagement phase WITHOUT its human gate.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1F3A5F"/>
                </a:solidFill>
                <a:latin typeface="Calibri"/>
              </a:rPr>
              <a:t>Module rule: unknown trigger ⇒ fail closed (never execute, report inability); gated plans only to consumers that negotiated the module.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66666"/>
                </a:solidFill>
                <a:latin typeface="Calibri"/>
              </a:rPr>
              <a:t>C2SIM ASX Sub-group   |   Plan-Semantics Working Brief (DRAFT)   |   July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70432"/>
            <a:ext cx="2011680" cy="38100"/>
          </a:xfrm>
          <a:prstGeom prst="rect">
            <a:avLst/>
          </a:prstGeom>
          <a:solidFill>
            <a:srgbClr val="2E8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3A5F"/>
                </a:solidFill>
                <a:latin typeface="Calibri"/>
              </a:rPr>
              <a:t>The proposed module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2E869A"/>
                </a:solidFill>
                <a:latin typeface="Calibri"/>
              </a:rPr>
              <a:t>asx/plan v0.0.2 draft — OWL (Turtle) + 14 normative execution rules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3566160" cy="3977639"/>
          </a:xfrm>
          <a:prstGeom prst="round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81912"/>
            <a:ext cx="3291840" cy="3831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F3A5F"/>
                </a:solidFill>
                <a:latin typeface="Calibri"/>
              </a:rPr>
              <a:t>New triggers (⊑ PlanPhaseTrigger)</a:t>
            </a:r>
          </a:p>
          <a:p>
            <a:pPr>
              <a:spcBef>
                <a:spcPts val="300"/>
              </a:spcBef>
            </a:pPr>
            <a:r>
              <a:rPr sz="1250" b="0" i="0">
                <a:solidFill>
                  <a:srgbClr val="333333"/>
                </a:solidFill>
                <a:latin typeface="Calibri"/>
              </a:rPr>
              <a:t>StateConditionTrigger — fires on a world-state predicate</a:t>
            </a:r>
          </a:p>
          <a:p>
            <a:pPr>
              <a:spcBef>
                <a:spcPts val="300"/>
              </a:spcBef>
            </a:pPr>
            <a:r>
              <a:rPr sz="1250" b="0" i="0">
                <a:solidFill>
                  <a:srgbClr val="333333"/>
                </a:solidFill>
                <a:latin typeface="Calibri"/>
              </a:rPr>
              <a:t>CompositeTrigger — ALL / ANY over sub-triggers</a:t>
            </a:r>
          </a:p>
          <a:p>
            <a:pPr>
              <a:spcBef>
                <a:spcPts val="300"/>
              </a:spcBef>
            </a:pPr>
            <a:r>
              <a:rPr sz="1250" b="0" i="0">
                <a:solidFill>
                  <a:srgbClr val="333333"/>
                </a:solidFill>
                <a:latin typeface="Calibri"/>
              </a:rPr>
              <a:t>HumanApprovalTrigger — approval gate</a:t>
            </a:r>
          </a:p>
          <a:p>
            <a:pPr>
              <a:spcBef>
                <a:spcPts val="300"/>
              </a:spcBef>
            </a:pPr>
            <a:r>
              <a:rPr sz="1250" b="0" i="0">
                <a:solidFill>
                  <a:srgbClr val="333333"/>
                </a:solidFill>
                <a:latin typeface="Calibri"/>
              </a:rPr>
              <a:t>OnPhaseFailureTrigger — fires when a named phase FAILS</a:t>
            </a:r>
          </a:p>
          <a:p>
            <a:pPr>
              <a:spcBef>
                <a:spcPts val="300"/>
              </a:spcBef>
            </a:pPr>
            <a:r>
              <a:rPr sz="1250" b="0" i="0">
                <a:solidFill>
                  <a:srgbClr val="333333"/>
                </a:solidFill>
                <a:latin typeface="Calibri"/>
              </a:rPr>
              <a:t>ParentPhasePolicyTrigger — parent-managed subphases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508760"/>
            <a:ext cx="3566160" cy="3977639"/>
          </a:xfrm>
          <a:prstGeom prst="round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581912"/>
            <a:ext cx="3291840" cy="3831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F3A5F"/>
                </a:solidFill>
                <a:latin typeface="Calibri"/>
              </a:rPr>
              <a:t>Enriched plan constructs</a:t>
            </a:r>
          </a:p>
          <a:p>
            <a:pPr>
              <a:spcBef>
                <a:spcPts val="300"/>
              </a:spcBef>
            </a:pPr>
            <a:r>
              <a:rPr sz="1250" b="0" i="0">
                <a:solidFill>
                  <a:srgbClr val="333333"/>
                </a:solidFill>
                <a:latin typeface="Calibri"/>
              </a:rPr>
              <a:t>AutonomousPlanPhase ⊑ PlanPhase:</a:t>
            </a:r>
          </a:p>
          <a:p>
            <a:pPr>
              <a:spcBef>
                <a:spcPts val="300"/>
              </a:spcBef>
            </a:pPr>
            <a:r>
              <a:rPr sz="1250" b="0" i="0">
                <a:solidFill>
                  <a:srgbClr val="333333"/>
                </a:solidFill>
                <a:latin typeface="Calibri"/>
              </a:rPr>
              <a:t>  failure policy + fallback ref</a:t>
            </a:r>
          </a:p>
          <a:p>
            <a:pPr>
              <a:spcBef>
                <a:spcPts val="300"/>
              </a:spcBef>
            </a:pPr>
            <a:r>
              <a:rPr sz="1250" b="0" i="0">
                <a:solidFill>
                  <a:srgbClr val="333333"/>
                </a:solidFill>
                <a:latin typeface="Calibri"/>
              </a:rPr>
              <a:t>  guards, timeout, repetition,</a:t>
            </a:r>
          </a:p>
          <a:p>
            <a:pPr>
              <a:spcBef>
                <a:spcPts val="300"/>
              </a:spcBef>
            </a:pPr>
            <a:r>
              <a:rPr sz="1250" b="0" i="0">
                <a:solidFill>
                  <a:srgbClr val="333333"/>
                </a:solidFill>
                <a:latin typeface="Calibri"/>
              </a:rPr>
              <a:t>  per-phase autonomy level,</a:t>
            </a:r>
          </a:p>
          <a:p>
            <a:pPr>
              <a:spcBef>
                <a:spcPts val="300"/>
              </a:spcBef>
            </a:pPr>
            <a:r>
              <a:rPr sz="1250" b="0" i="0">
                <a:solidFill>
                  <a:srgbClr val="333333"/>
                </a:solidFill>
                <a:latin typeface="Calibri"/>
              </a:rPr>
              <a:t>  phase products, goal link</a:t>
            </a:r>
          </a:p>
          <a:p>
            <a:pPr>
              <a:spcBef>
                <a:spcPts val="300"/>
              </a:spcBef>
            </a:pPr>
            <a:r>
              <a:rPr sz="1250" b="0" i="0">
                <a:solidFill>
                  <a:srgbClr val="333333"/>
                </a:solidFill>
                <a:latin typeface="Calibri"/>
              </a:rPr>
              <a:t>AutonomousPlanBody ⊑ PlanBody:</a:t>
            </a:r>
          </a:p>
          <a:p>
            <a:pPr>
              <a:spcBef>
                <a:spcPts val="300"/>
              </a:spcBef>
            </a:pPr>
            <a:r>
              <a:rPr sz="1250" b="0" i="0">
                <a:solidFill>
                  <a:srgbClr val="333333"/>
                </a:solidFill>
                <a:latin typeface="Calibri"/>
              </a:rPr>
              <a:t>  inline Goals + context conditions</a:t>
            </a:r>
          </a:p>
          <a:p>
            <a:pPr>
              <a:spcBef>
                <a:spcPts val="300"/>
              </a:spcBef>
            </a:pPr>
            <a:r>
              <a:rPr sz="1250" b="0" i="0">
                <a:solidFill>
                  <a:srgbClr val="333333"/>
                </a:solidFill>
                <a:latin typeface="Calibri"/>
              </a:rPr>
              <a:t>Condition: 12 typed, negatable predicates</a:t>
            </a:r>
          </a:p>
          <a:p>
            <a:pPr>
              <a:spcBef>
                <a:spcPts val="300"/>
              </a:spcBef>
            </a:pPr>
            <a:r>
              <a:rPr sz="1250" b="0" i="0">
                <a:solidFill>
                  <a:srgbClr val="333333"/>
                </a:solidFill>
                <a:latin typeface="Calibri"/>
              </a:rPr>
              <a:t>Goal: achieve / maintain end states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508760"/>
            <a:ext cx="3566160" cy="3977639"/>
          </a:xfrm>
          <a:prstGeom prst="round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80" y="1581912"/>
            <a:ext cx="3291840" cy="3831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F3A5F"/>
                </a:solidFill>
                <a:latin typeface="Calibri"/>
              </a:rPr>
              <a:t>Reports &amp; verbs</a:t>
            </a:r>
          </a:p>
          <a:p>
            <a:pPr>
              <a:spcBef>
                <a:spcPts val="300"/>
              </a:spcBef>
            </a:pPr>
            <a:r>
              <a:rPr sz="1250" b="0" i="0">
                <a:solidFill>
                  <a:srgbClr val="333333"/>
                </a:solidFill>
                <a:latin typeface="Calibri"/>
              </a:rPr>
              <a:t>PlanExecutionStatusContent — which phase, what outcome, which goal (intention)</a:t>
            </a:r>
          </a:p>
          <a:p>
            <a:pPr>
              <a:spcBef>
                <a:spcPts val="300"/>
              </a:spcBef>
            </a:pPr>
            <a:r>
              <a:rPr sz="1250" b="0" i="0">
                <a:solidFill>
                  <a:srgbClr val="333333"/>
                </a:solidFill>
                <a:latin typeface="Calibri"/>
              </a:rPr>
              <a:t>PlanDeviationReportContent — what changed and WHY (rationale + confidence)</a:t>
            </a:r>
          </a:p>
          <a:p>
            <a:pPr>
              <a:spcBef>
                <a:spcPts val="300"/>
              </a:spcBef>
            </a:pPr>
            <a:r>
              <a:rPr sz="1250" b="0" i="0">
                <a:solidFill>
                  <a:srgbClr val="333333"/>
                </a:solidFill>
                <a:latin typeface="Calibri"/>
              </a:rPr>
              <a:t>Code additions: TASKFAILD;</a:t>
            </a:r>
          </a:p>
          <a:p>
            <a:pPr>
              <a:spcBef>
                <a:spcPts val="300"/>
              </a:spcBef>
            </a:pPr>
            <a:r>
              <a:rPr sz="1250" b="0" i="0">
                <a:solidFill>
                  <a:srgbClr val="333333"/>
                </a:solidFill>
                <a:latin typeface="Calibri"/>
              </a:rPr>
              <a:t>ConfigureAutonomy, Suspend/Resume/AbortPlanExecution, OverrideAction, AchieveGoal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623560"/>
            <a:ext cx="10972800" cy="685800"/>
          </a:xfrm>
          <a:prstGeom prst="round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696712"/>
            <a:ext cx="10698480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F3A5F"/>
                </a:solidFill>
                <a:latin typeface="Calibri"/>
              </a:rPr>
              <a:t/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1F3A5F"/>
                </a:solidFill>
                <a:latin typeface="Calibri"/>
              </a:rPr>
              <a:t>Layering: C2SIM core → SMX → LOX → asx/plan (owl:imports).  Everything is optional on top of a plain LOX plan; OWL vocabulary + rules R1–R14 together are the proposal.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66666"/>
                </a:solidFill>
                <a:latin typeface="Calibri"/>
              </a:rPr>
              <a:t>C2SIM ASX Sub-group   |   Plan-Semantics Working Brief (DRAFT)   |   July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70432"/>
            <a:ext cx="2011680" cy="38100"/>
          </a:xfrm>
          <a:prstGeom prst="rect">
            <a:avLst/>
          </a:prstGeom>
          <a:solidFill>
            <a:srgbClr val="2E8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3A5F"/>
                </a:solidFill>
                <a:latin typeface="Calibri"/>
              </a:rPr>
              <a:t>Highlight 1 — Conditions and triggers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2E869A"/>
                </a:solidFill>
                <a:latin typeface="Calibri"/>
              </a:rPr>
              <a:t>The guard-node vocabulary, kept deliberately small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0" i="0">
                <a:solidFill>
                  <a:srgbClr val="333333"/>
                </a:solidFill>
                <a:latin typeface="Calibri"/>
              </a:rPr>
              <a:t>•  Condition = predicate code + typed parameters (subject/object refs, threshold value/duration) + isNegated. Machine-checkable; free text is display-only.</a:t>
            </a:r>
          </a:p>
          <a:p>
            <a:pPr>
              <a:spcAft>
                <a:spcPts val="600"/>
              </a:spcAft>
            </a:pPr>
            <a:r>
              <a:rPr sz="1450" b="0" i="0">
                <a:solidFill>
                  <a:srgbClr val="333333"/>
                </a:solidFill>
                <a:latin typeface="Calibri"/>
              </a:rPr>
              <a:t>•  Predicates from the scenario corpus: HazardOnRoute, CommsAvailable/Denied, ThreatDetectedInArea, AreaCoverageAchieved (Q-N), EstimateConfidenceAbove (belief-state gating), EntityWithinRange, WeatherLimitExceeded …</a:t>
            </a:r>
          </a:p>
          <a:p>
            <a:pPr>
              <a:spcAft>
                <a:spcPts val="600"/>
              </a:spcAft>
            </a:pPr>
            <a:r>
              <a:rPr sz="1450" b="0" i="0">
                <a:solidFill>
                  <a:srgbClr val="333333"/>
                </a:solidFill>
                <a:latin typeface="Calibri"/>
              </a:rPr>
              <a:t>•  StateConditionTrigger is the runtime-reactivity primitive (level-triggered, evaluated on the tasked system's own world model — rule R11 says so out loud).</a:t>
            </a:r>
          </a:p>
          <a:p>
            <a:pPr>
              <a:spcAft>
                <a:spcPts val="600"/>
              </a:spcAft>
            </a:pPr>
            <a:r>
              <a:rPr sz="1450" b="0" i="0">
                <a:solidFill>
                  <a:srgbClr val="333333"/>
                </a:solidFill>
                <a:latin typeface="Calibri"/>
              </a:rPr>
              <a:t>•  CompositeTrigger: ALL / ANY over sub-triggers, nestable. Semantics pinned by rule R9: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–  discrete sub-triggers (events, orders, approvals) LATCH once occurred; state conditions must HOLD at the instant of firing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1F3A5F"/>
                </a:solidFill>
                <a:latin typeface="Calibri"/>
              </a:rPr>
              <a:t>–  so “depart when route advertised AND comms up” cannot fire during a comms outage just because comms were up earlier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892040"/>
            <a:ext cx="10972800" cy="1188720"/>
          </a:xfrm>
          <a:prstGeom prst="round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965192"/>
            <a:ext cx="10698480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F3A5F"/>
                </a:solidFill>
                <a:latin typeface="Calibri"/>
              </a:rPr>
              <a:t>Design discipline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333333"/>
                </a:solidFill>
                <a:latin typeface="Calibri"/>
              </a:rPr>
              <a:t>No general boolean expression language: conjunction = repeated conditions (R12), disjunction = CompositeTrigger, negation = isNegated.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666666"/>
                </a:solidFill>
                <a:latin typeface="Calibri"/>
              </a:rPr>
              <a:t>If richer logic is ever evidenced, a ConditionExpression subclass can be added without disturbing this base.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66666"/>
                </a:solidFill>
                <a:latin typeface="Calibri"/>
              </a:rPr>
              <a:t>C2SIM ASX Sub-group   |   Plan-Semantics Working Brief (DRAFT)   |   July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70432"/>
            <a:ext cx="2011680" cy="38100"/>
          </a:xfrm>
          <a:prstGeom prst="rect">
            <a:avLst/>
          </a:prstGeom>
          <a:solidFill>
            <a:srgbClr val="2E8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3A5F"/>
                </a:solidFill>
                <a:latin typeface="Calibri"/>
              </a:rPr>
              <a:t>Highlight 2 — Failure, fallback, repetition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2E869A"/>
                </a:solidFill>
                <a:latin typeface="Calibri"/>
              </a:rPr>
              <a:t>The behavior-tree half: what LOX plans could not say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0" i="0">
                <a:solidFill>
                  <a:srgbClr val="333333"/>
                </a:solidFill>
                <a:latin typeface="Calibri"/>
              </a:rPr>
              <a:t>•  Outcomes (R1): PhaseSucceeded / PhaseFailed / PhaseAborted / PhaseSkipped — plus TASKFAILD at task level (candidate core erratum).</a:t>
            </a:r>
          </a:p>
          <a:p>
            <a:pPr>
              <a:spcAft>
                <a:spcPts val="600"/>
              </a:spcAft>
            </a:pPr>
            <a:r>
              <a:rPr sz="1450" b="0" i="0">
                <a:solidFill>
                  <a:srgbClr val="333333"/>
                </a:solidFill>
                <a:latin typeface="Calibri"/>
              </a:rPr>
              <a:t>•  Failure policy vs. failure cause (R3/R4): select AnyTaskFailed or AllTasksFailed; declared timeouts and guards are implicitly live — a declared timeout is never decorative.</a:t>
            </a:r>
          </a:p>
          <a:p>
            <a:pPr>
              <a:spcAft>
                <a:spcPts val="600"/>
              </a:spcAft>
            </a:pPr>
            <a:r>
              <a:rPr sz="1450" b="0" i="0">
                <a:solidFill>
                  <a:srgbClr val="333333"/>
                </a:solidFill>
                <a:latin typeface="Calibri"/>
              </a:rPr>
              <a:t>•  Fallback (R7): hasOnFailurePhaseReference names the recovery phase, whose trigger MUST be an OnPhaseFailureTrigger — it cannot fire off the failure path. Chains give further alternatives; a chain that succeeds counts as success for the parent.</a:t>
            </a:r>
          </a:p>
          <a:p>
            <a:pPr>
              <a:spcAft>
                <a:spcPts val="600"/>
              </a:spcAft>
            </a:pPr>
            <a:r>
              <a:rPr sz="1450" b="0" i="0">
                <a:solidFill>
                  <a:srgbClr val="333333"/>
                </a:solidFill>
                <a:latin typeface="Calibri"/>
              </a:rPr>
              <a:t>•  PriorityFallback policy = BT Selector as containment; SequentialInOrder + AnyTaskFailed = BT Sequence (failure halts, siblings skipped — R2/R5, no silent stalls).</a:t>
            </a:r>
          </a:p>
          <a:p>
            <a:pPr>
              <a:spcAft>
                <a:spcPts val="600"/>
              </a:spcAft>
            </a:pPr>
            <a:r>
              <a:rPr sz="1450" b="0" i="0">
                <a:solidFill>
                  <a:srgbClr val="333333"/>
                </a:solidFill>
                <a:latin typeface="Calibri"/>
              </a:rPr>
              <a:t>•  Repetition (R10): RetryOnFailure (bounded), RepeatUntilCondition (loop closed by a Condition — e.g. route clear), MaintainContinuously (standing watch, N2).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029200"/>
            <a:ext cx="10972800" cy="1051560"/>
          </a:xfrm>
          <a:prstGeom prst="round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102352"/>
            <a:ext cx="10698480" cy="905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C87F0A"/>
                </a:solidFill>
                <a:latin typeface="Calibri"/>
              </a:rPr>
              <a:t>Why the rules matter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1F3A5F"/>
                </a:solidFill>
                <a:latin typeface="Calibri"/>
              </a:rPr>
              <a:t>OWL restrictions alone cannot say “failure beats completion when both are satisfiable, judged on event times” (R6). Without R1–R14, two conformant implementations disagree about the same plan.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66666"/>
                </a:solidFill>
                <a:latin typeface="Calibri"/>
              </a:rPr>
              <a:t>C2SIM ASX Sub-group   |   Plan-Semantics Working Brief (DRAFT)   |   July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70432"/>
            <a:ext cx="2011680" cy="38100"/>
          </a:xfrm>
          <a:prstGeom prst="rect">
            <a:avLst/>
          </a:prstGeom>
          <a:solidFill>
            <a:srgbClr val="2E8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3A5F"/>
                </a:solidFill>
                <a:latin typeface="Calibri"/>
              </a:rPr>
              <a:t>Highlight 3 — The engagement-authority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2E869A"/>
                </a:solidFill>
                <a:latin typeface="Calibri"/>
              </a:rPr>
              <a:t>Directly answers W1/Q-K, the decision log's “central ASX policy gap”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•  HumanApprovalTrigger: the phase starts only on Agree/Confirm from a named authority; Refuse or timeout applies the fallback disposition immediately (timeout phase, else skip — and a skip cannot stall the rest of the plan, R2).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•  Compose it: (tactical trigger) ALL (human approval) — e.g. “threat inside inner bubble AND operator confirms” (the Corona &amp; Biagini tiered-escalation pattern).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•  Per-phase autonomy: hasRequiredAutonomyLevelCode — autonomous transit, supervised engagement, in one plan (the CBRN pattern; sharpens Q-D).</a:t>
            </a:r>
          </a:p>
          <a:p>
            <a:pPr>
              <a:spcAft>
                <a:spcPts val="600"/>
              </a:spcAft>
            </a:pPr>
            <a:r>
              <a:rPr sz="1550" b="1" i="0">
                <a:solidFill>
                  <a:srgbClr val="1F3A5F"/>
                </a:solidFill>
                <a:latin typeface="Calibri"/>
              </a:rPr>
              <a:t>•  “May this system take this action without a human?” becomes an inspectable, machine-checkable property of the transmitted plan — not an implementation detail.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709160"/>
            <a:ext cx="10972800" cy="1371600"/>
          </a:xfrm>
          <a:prstGeom prst="round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782312"/>
            <a:ext cx="10698480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C0392B"/>
                </a:solidFill>
                <a:latin typeface="Calibri"/>
              </a:rPr>
              <a:t>Fail-closed by rule (R13)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C0392B"/>
                </a:solidFill>
                <a:latin typeface="Calibri"/>
              </a:rPr>
              <a:t>A consumer that cannot interpret a phase's trigger MUST treat the phase as not triggerable, never execute it, and report the inability (ACKNOTUNDSTD).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666666"/>
                </a:solidFill>
                <a:latin typeface="Calibri"/>
              </a:rPr>
              <a:t>This is the one construct whose degradation mode would otherwise be catastrophic — the review made us say it normatively.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66666"/>
                </a:solidFill>
                <a:latin typeface="Calibri"/>
              </a:rPr>
              <a:t>C2SIM ASX Sub-group   |   Plan-Semantics Working Brief (DRAFT)   |   July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70432"/>
            <a:ext cx="2011680" cy="38100"/>
          </a:xfrm>
          <a:prstGeom prst="rect">
            <a:avLst/>
          </a:prstGeom>
          <a:solidFill>
            <a:srgbClr val="2E8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3A5F"/>
                </a:solidFill>
                <a:latin typeface="Calibri"/>
              </a:rPr>
              <a:t>Highlight 4 — Goals and the plan pre-selection library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2E869A"/>
                </a:solidFill>
                <a:latin typeface="Calibri"/>
              </a:rPr>
              <a:t>The BDI half: from procedural to goal-directed tasking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0" i="0">
                <a:solidFill>
                  <a:srgbClr val="333333"/>
                </a:solidFill>
                <a:latin typeface="Calibri"/>
              </a:rPr>
              <a:t>•  Goal = end state, not procedure: achievement condition(s), failure conditions, commitment mode (AchieveOnce / Maintain / AchieveThenMaintain), priority. Transported inline via hasGoal on AutonomousPlanBody.</a:t>
            </a:r>
          </a:p>
          <a:p>
            <a:pPr>
              <a:spcAft>
                <a:spcPts val="600"/>
              </a:spcAft>
            </a:pPr>
            <a:r>
              <a:rPr sz="1450" b="0" i="0">
                <a:solidFill>
                  <a:srgbClr val="333333"/>
                </a:solidFill>
                <a:latin typeface="Calibri"/>
              </a:rPr>
              <a:t>•  Maintain-mode goals finally express standing tasks: MDARS “continuous physical security over the depot”; MCM “keep the sea lane usable”.</a:t>
            </a:r>
          </a:p>
          <a:p>
            <a:pPr>
              <a:spcAft>
                <a:spcPts val="600"/>
              </a:spcAft>
            </a:pPr>
            <a:r>
              <a:rPr sz="1450" b="0" i="0">
                <a:solidFill>
                  <a:srgbClr val="333333"/>
                </a:solidFill>
                <a:latin typeface="Calibri"/>
              </a:rPr>
              <a:t>•  Plan pre-selection library: transmit several plans for one Goal, each with context conditions — primary / degraded-comms / contested. The system selects among applicable plans and reports every switch (PlanSwitched + rationale).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1F3A5F"/>
                </a:solidFill>
                <a:latin typeface="Calibri"/>
              </a:rPr>
              <a:t>•  Contingency plans become DATA — inspectable before the mission — instead of doctrine buried in free text. ALT/HASPRV finally get activation semantics.</a:t>
            </a:r>
          </a:p>
          <a:p>
            <a:pPr>
              <a:spcAft>
                <a:spcPts val="600"/>
              </a:spcAft>
            </a:pPr>
            <a:r>
              <a:rPr sz="1450" b="0" i="0">
                <a:solidFill>
                  <a:srgbClr val="333333"/>
                </a:solidFill>
                <a:latin typeface="Calibri"/>
              </a:rPr>
              <a:t>•  Goal-only tasking: an AchieveGoal task carries the end state, constraints, and ROE; the system plans. (Deliberately NOT full BDI: no subgoaling, no reconsideration strategy — those are agent internals.)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120640"/>
            <a:ext cx="10972800" cy="960120"/>
          </a:xfrm>
          <a:prstGeom prst="round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193792"/>
            <a:ext cx="10698480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C87F0A"/>
                </a:solidFill>
                <a:latin typeface="Calibri"/>
              </a:rPr>
              <a:t>Safety rule for the library (R14)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C0392B"/>
                </a:solidFill>
                <a:latin typeface="Calibri"/>
              </a:rPr>
              <a:t>Variants carry isToBeExecutedNow = false and go only to module-aware consumers — to a legacy LOX consumer, three plan variants would read as three orders to execute.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66666"/>
                </a:solidFill>
                <a:latin typeface="Calibri"/>
              </a:rPr>
              <a:t>C2SIM ASX Sub-group   |   Plan-Semantics Working Brief (DRAFT)   |   July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70432"/>
            <a:ext cx="2011680" cy="38100"/>
          </a:xfrm>
          <a:prstGeom prst="rect">
            <a:avLst/>
          </a:prstGeom>
          <a:solidFill>
            <a:srgbClr val="2E8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3A5F"/>
                </a:solidFill>
                <a:latin typeface="Calibri"/>
              </a:rPr>
              <a:t>Highlight 5 — Intention transparency and explainability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2E869A"/>
                </a:solidFill>
                <a:latin typeface="Calibri"/>
              </a:rPr>
              <a:t>Closing X2/Q-H with constructs that degrade gracefully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5394960" cy="3017520"/>
          </a:xfrm>
          <a:prstGeom prst="round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81912"/>
            <a:ext cx="5120640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F3A5F"/>
                </a:solidFill>
                <a:latin typeface="Calibri"/>
              </a:rPr>
              <a:t>PlanExecutionStatusContent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333333"/>
                </a:solidFill>
                <a:latin typeface="Calibri"/>
              </a:rPr>
              <a:t>which phase — and which GOAL is being pursued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333333"/>
                </a:solidFill>
                <a:latin typeface="Calibri"/>
              </a:rPr>
              <a:t>  (the system's active intention)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333333"/>
                </a:solidFill>
                <a:latin typeface="Calibri"/>
              </a:rPr>
              <a:t>outcome + failure cause (policy / timeout / guard)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333333"/>
                </a:solidFill>
                <a:latin typeface="Calibri"/>
              </a:rPr>
              <a:t>attempt number under retry (no premature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333333"/>
                </a:solidFill>
                <a:latin typeface="Calibri"/>
              </a:rPr>
              <a:t>  contingency firing — R10)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333333"/>
                </a:solidFill>
                <a:latin typeface="Calibri"/>
              </a:rPr>
              <a:t>estimated completion time (CASEVAC's phased-ETA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333333"/>
                </a:solidFill>
                <a:latin typeface="Calibri"/>
              </a:rPr>
              <a:t>  requirement, verbatim)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508760"/>
            <a:ext cx="5349240" cy="3017520"/>
          </a:xfrm>
          <a:prstGeom prst="round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81912"/>
            <a:ext cx="5074920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F3A5F"/>
                </a:solidFill>
                <a:latin typeface="Calibri"/>
              </a:rPr>
              <a:t>PlanDeviationReportContent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333333"/>
                </a:solidFill>
                <a:latin typeface="Calibri"/>
              </a:rPr>
              <a:t>sent whenever autonomy exercises an unscripted choice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333333"/>
                </a:solidFill>
                <a:latin typeface="Calibri"/>
              </a:rPr>
              <a:t>deviation type: RouteChanged, FallbackActivated,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333333"/>
                </a:solidFill>
                <a:latin typeface="Calibri"/>
              </a:rPr>
              <a:t>  PlanSwitched, GoalAbandoned, TaskReassigned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333333"/>
                </a:solidFill>
                <a:latin typeface="Calibri"/>
              </a:rPr>
              <a:t>the triggering event OR condition (citable by UUID)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333333"/>
                </a:solidFill>
                <a:latin typeface="Calibri"/>
              </a:rPr>
              <a:t>rationale text + confidence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666666"/>
                </a:solidFill>
                <a:latin typeface="Calibri"/>
              </a:rPr>
              <a:t>schema adapted from the DroneResponse explainability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666666"/>
                </a:solidFill>
                <a:latin typeface="Calibri"/>
              </a:rPr>
              <a:t>study (event, action, reasoning, change, confidence)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7548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0" i="0">
                <a:solidFill>
                  <a:srgbClr val="1F3A5F"/>
                </a:solidFill>
                <a:latin typeface="Calibri"/>
              </a:rPr>
              <a:t>•  Together these answer the CASEVAC requirement head-on: “Why did it change its expected route? Why was it unable to complete its mission?” — as structured messages, not prose.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2E7D32"/>
                </a:solidFill>
                <a:latin typeface="Calibri"/>
              </a:rPr>
              <a:t>•  Purely additive reporting: legacy consumers lose information, never safety.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66666"/>
                </a:solidFill>
                <a:latin typeface="Calibri"/>
              </a:rPr>
              <a:t>C2SIM ASX Sub-group   |   Plan-Semantics Working Brief (DRAFT)   |   July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70432"/>
            <a:ext cx="2011680" cy="38100"/>
          </a:xfrm>
          <a:prstGeom prst="rect">
            <a:avLst/>
          </a:prstGeom>
          <a:solidFill>
            <a:srgbClr val="2E8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3A5F"/>
                </a:solidFill>
                <a:latin typeface="Calibri"/>
              </a:rPr>
              <a:t>Worked example — CASEVAC transport phase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2E869A"/>
                </a:solidFill>
                <a:latin typeface="Calibri"/>
              </a:rPr>
              <a:t>Two coordinating UGVs; the transport departs on the scout's published route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81328"/>
            <a:ext cx="6766560" cy="4434840"/>
          </a:xfrm>
          <a:prstGeom prst="round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54480"/>
            <a:ext cx="6492240" cy="4288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F3A5F"/>
                </a:solidFill>
                <a:latin typeface="Calibri"/>
              </a:rPr>
              <a:t>TransportMovePhase  (AutonomousPlanPhase)</a:t>
            </a:r>
          </a:p>
          <a:p>
            <a:pPr>
              <a:spcBef>
                <a:spcPts val="300"/>
              </a:spcBef>
            </a:pPr>
            <a:r>
              <a:rPr sz="1350" b="0" i="0">
                <a:solidFill>
                  <a:srgbClr val="1F3A5F"/>
                </a:solidFill>
                <a:latin typeface="Calibri"/>
              </a:rPr>
              <a:t>TRIGGER  =  CompositeTrigger  [ALL]</a:t>
            </a:r>
          </a:p>
          <a:p>
            <a:pPr>
              <a:spcBef>
                <a:spcPts val="300"/>
              </a:spcBef>
            </a:pPr>
            <a:r>
              <a:rPr sz="1350" b="0" i="0">
                <a:solidFill>
                  <a:srgbClr val="333333"/>
                </a:solidFill>
                <a:latin typeface="Calibri"/>
              </a:rPr>
              <a:t>   EventTrigger: scout's route-advertisement message</a:t>
            </a:r>
          </a:p>
          <a:p>
            <a:pPr>
              <a:spcBef>
                <a:spcPts val="300"/>
              </a:spcBef>
            </a:pPr>
            <a:r>
              <a:rPr sz="1350" b="0" i="0">
                <a:solidFill>
                  <a:srgbClr val="333333"/>
                </a:solidFill>
                <a:latin typeface="Calibri"/>
              </a:rPr>
              <a:t>   StateConditionTrigger: CommsAvailable  (must HOLD at departure — R9)</a:t>
            </a:r>
          </a:p>
          <a:p>
            <a:pPr>
              <a:spcBef>
                <a:spcPts val="300"/>
              </a:spcBef>
            </a:pPr>
            <a:r>
              <a:rPr sz="1350" b="0" i="0">
                <a:solidFill>
                  <a:srgbClr val="1F3A5F"/>
                </a:solidFill>
                <a:latin typeface="Calibri"/>
              </a:rPr>
              <a:t>GUARD  =  HazardOnRoute, isNegated = true</a:t>
            </a:r>
          </a:p>
          <a:p>
            <a:pPr>
              <a:spcBef>
                <a:spcPts val="300"/>
              </a:spcBef>
            </a:pPr>
            <a:r>
              <a:rPr sz="1350" b="0" i="0">
                <a:solidFill>
                  <a:srgbClr val="333333"/>
                </a:solidFill>
                <a:latin typeface="Calibri"/>
              </a:rPr>
              <a:t>   invariant: active route free of IED/obstacle reports;</a:t>
            </a:r>
          </a:p>
          <a:p>
            <a:pPr>
              <a:spcBef>
                <a:spcPts val="300"/>
              </a:spcBef>
            </a:pPr>
            <a:r>
              <a:rPr sz="1350" b="0" i="0">
                <a:solidFill>
                  <a:srgbClr val="333333"/>
                </a:solidFill>
                <a:latin typeface="Calibri"/>
              </a:rPr>
              <a:t>   violation fails the phase at once (R4)</a:t>
            </a:r>
          </a:p>
          <a:p>
            <a:pPr>
              <a:spcBef>
                <a:spcPts val="300"/>
              </a:spcBef>
            </a:pPr>
            <a:r>
              <a:rPr sz="1350" b="0" i="0">
                <a:solidFill>
                  <a:srgbClr val="1F3A5F"/>
                </a:solidFill>
                <a:latin typeface="Calibri"/>
              </a:rPr>
              <a:t>ON FAILURE  →  ReplanRoutePhase</a:t>
            </a:r>
          </a:p>
          <a:p>
            <a:pPr>
              <a:spcBef>
                <a:spcPts val="300"/>
              </a:spcBef>
            </a:pPr>
            <a:r>
              <a:rPr sz="1350" b="0" i="0">
                <a:solidFill>
                  <a:srgbClr val="333333"/>
                </a:solidFill>
                <a:latin typeface="Calibri"/>
              </a:rPr>
              <a:t>   whose trigger is OnPhaseFailureTrigger(TransportMovePhase)</a:t>
            </a:r>
          </a:p>
          <a:p>
            <a:pPr>
              <a:spcBef>
                <a:spcPts val="300"/>
              </a:spcBef>
            </a:pPr>
            <a:r>
              <a:rPr sz="1350" b="0" i="0">
                <a:solidFill>
                  <a:srgbClr val="333333"/>
                </a:solidFill>
                <a:latin typeface="Calibri"/>
              </a:rPr>
              <a:t>   — it can only fire on the failure path (R7)</a:t>
            </a:r>
          </a:p>
          <a:p>
            <a:pPr>
              <a:spcBef>
                <a:spcPts val="300"/>
              </a:spcBef>
            </a:pPr>
            <a:r>
              <a:rPr sz="1350" b="0" i="0">
                <a:solidFill>
                  <a:srgbClr val="1F3A5F"/>
                </a:solidFill>
                <a:latin typeface="Calibri"/>
              </a:rPr>
              <a:t>GOAL  =  casualty at casualty collection point</a:t>
            </a:r>
          </a:p>
          <a:p>
            <a:pPr>
              <a:spcBef>
                <a:spcPts val="300"/>
              </a:spcBef>
            </a:pPr>
            <a:r>
              <a:rPr sz="1350" b="0" i="0">
                <a:solidFill>
                  <a:srgbClr val="333333"/>
                </a:solidFill>
                <a:latin typeface="Calibri"/>
              </a:rPr>
              <a:t>   if the replan succeeds, the parent still succeeds (R7)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481328"/>
            <a:ext cx="3931920" cy="4434840"/>
          </a:xfrm>
          <a:prstGeom prst="round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1554480"/>
            <a:ext cx="3657600" cy="4288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F3A5F"/>
                </a:solidFill>
                <a:latin typeface="Calibri"/>
              </a:rPr>
              <a:t>What the operator sees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333333"/>
                </a:solidFill>
                <a:latin typeface="Calibri"/>
              </a:rPr>
              <a:t>status: phase in progress, active goal,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333333"/>
                </a:solidFill>
                <a:latin typeface="Calibri"/>
              </a:rPr>
              <a:t>  ETA to CCP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333333"/>
                </a:solidFill>
                <a:latin typeface="Calibri"/>
              </a:rPr>
              <a:t> 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333333"/>
                </a:solidFill>
                <a:latin typeface="Calibri"/>
              </a:rPr>
              <a:t>on IED report: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333333"/>
                </a:solidFill>
                <a:latin typeface="Calibri"/>
              </a:rPr>
              <a:t>  deviation report —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333333"/>
                </a:solidFill>
                <a:latin typeface="Calibri"/>
              </a:rPr>
              <a:t>  FallbackActivated,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333333"/>
                </a:solidFill>
                <a:latin typeface="Calibri"/>
              </a:rPr>
              <a:t>  condition: guard UUID,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333333"/>
                </a:solidFill>
                <a:latin typeface="Calibri"/>
              </a:rPr>
              <a:t>  rationale: “suspected IED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333333"/>
                </a:solidFill>
                <a:latin typeface="Calibri"/>
              </a:rPr>
              <a:t>  on route; replanning via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333333"/>
                </a:solidFill>
                <a:latin typeface="Calibri"/>
              </a:rPr>
              <a:t>  alternate crossing”,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333333"/>
                </a:solidFill>
                <a:latin typeface="Calibri"/>
              </a:rPr>
              <a:t>  confidence 0.85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0" i="1">
                <a:solidFill>
                  <a:srgbClr val="666666"/>
                </a:solidFill>
                <a:latin typeface="Calibri"/>
              </a:rPr>
              <a:t>•  The adversarial review corrected this very example twice: the guard's polarity (isNegated) and the fallback target's trigger. Both errors were silent under the earlier draft — exactly the class of ambiguity the module now forbids.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66666"/>
                </a:solidFill>
                <a:latin typeface="Calibri"/>
              </a:rPr>
              <a:t>C2SIM ASX Sub-group   |   Plan-Semantics Working Brief (DRAFT)   |   July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70432"/>
            <a:ext cx="2011680" cy="38100"/>
          </a:xfrm>
          <a:prstGeom prst="rect">
            <a:avLst/>
          </a:prstGeom>
          <a:solidFill>
            <a:srgbClr val="2E8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3A5F"/>
                </a:solidFill>
                <a:latin typeface="Calibri"/>
              </a:rPr>
              <a:t>Where else these constructs show 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2E869A"/>
                </a:solidFill>
                <a:latin typeface="Calibri"/>
              </a:rPr>
              <a:t>Five sourced scenarios from the ASX corpus — the recommended validation walk set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508760"/>
          <a:ext cx="10972800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63440"/>
                <a:gridCol w="630936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Scenario (provenance)</a:t>
                      </a:r>
                    </a:p>
                  </a:txBody>
                  <a:tcPr marT="18288" marB="18288" marL="54864" marR="54864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Constructs exercised</a:t>
                      </a:r>
                    </a:p>
                  </a:txBody>
                  <a:tcPr marT="18288" marB="18288" marL="54864" marR="54864">
                    <a:solidFill>
                      <a:srgbClr val="1F3A5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DroneResponse multi-sUAS search  (Agrawal et al. 2021, arXiv)</a:t>
                      </a:r>
                    </a:p>
                  </a:txBody>
                  <a:tcPr marT="18288" marB="18288" marL="54864" marR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state triggers, fallback → request-human-assistance, deviation+rationale schema, configure/suspend/override verbs, confidence gating</a:t>
                      </a:r>
                    </a:p>
                  </a:txBody>
                  <a:tcPr marT="18288" marB="18288" marL="54864" marR="54864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CBRN UGV recon  (Muster et al. 2024, EnRicH field trials)</a:t>
                      </a:r>
                    </a:p>
                  </a:txBody>
                  <a:tcPr marT="18288" marB="18288" marL="54864" marR="54864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per-phase autonomy (auto mapping vs verified manipulation), retry-3-then-abort, approval gating without weapons</a:t>
                      </a:r>
                    </a:p>
                  </a:txBody>
                  <a:tcPr marT="18288" marB="18288" marL="54864" marR="54864">
                    <a:solidFill>
                      <a:srgbClr val="EEF1F5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MDARS persistent watch  (DTIC ADA422465 — fielded Army program)</a:t>
                      </a:r>
                    </a:p>
                  </a:txBody>
                  <a:tcPr marT="18288" marB="18288" marL="54864" marR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MaintainContinuously standing watch, ANY-composite exception triggers (intruder/trapped/fire), suspend/resume, maintain goals</a:t>
                      </a:r>
                    </a:p>
                  </a:txBody>
                  <a:tcPr marT="18288" marB="18288" marL="54864" marR="54864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Cooperative MCM  (Ling 2020, NPS thesis)</a:t>
                      </a:r>
                    </a:p>
                  </a:txBody>
                  <a:tcPr marT="18288" marB="18288" marL="54864" marR="54864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achieve vs maintain in one mission, repeat-on-cadence perpetual search, cross-unit state trigger (mine classified → neutralize)</a:t>
                      </a:r>
                    </a:p>
                  </a:txBody>
                  <a:tcPr marT="18288" marB="18288" marL="54864" marR="54864">
                    <a:solidFill>
                      <a:srgbClr val="EEF1F5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Urban C-UAS escort  (Corona &amp; Biagini, MESAS 2019)</a:t>
                      </a:r>
                    </a:p>
                  </a:txBody>
                  <a:tcPr marT="18288" marB="18288" marL="54864" marR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human-confirmation gating, tiered non-kinetic→kinetic escalation as composite triggers, status reports proposing next actions</a:t>
                      </a:r>
                    </a:p>
                  </a:txBody>
                  <a:tcPr marT="18288" marB="18288" marL="54864" marR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166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50" b="0" i="0">
                <a:solidFill>
                  <a:srgbClr val="1F3A5F"/>
                </a:solidFill>
                <a:latin typeface="Calibri"/>
              </a:rPr>
              <a:t>•  Every module construct is exercised at least twice across these five plus CASEVAC. All are sourced (non-LLM-generated), honoring the group's evidence standard.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66666"/>
                </a:solidFill>
                <a:latin typeface="Calibri"/>
              </a:rPr>
              <a:t>C2SIM ASX Sub-group   |   Plan-Semantics Working Brief (DRAFT)   |   July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70432"/>
            <a:ext cx="2011680" cy="38100"/>
          </a:xfrm>
          <a:prstGeom prst="rect">
            <a:avLst/>
          </a:prstGeom>
          <a:solidFill>
            <a:srgbClr val="2E8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3A5F"/>
                </a:solidFill>
                <a:latin typeface="Calibri"/>
              </a:rPr>
              <a:t>What it deliberately does not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2E869A"/>
                </a:solidFill>
                <a:latin typeface="Calibri"/>
              </a:rPr>
              <a:t>Scope discipline + honest gaps (from the adversarial pass over the corpus)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5394960" cy="2377440"/>
          </a:xfrm>
          <a:prstGeom prst="round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81912"/>
            <a:ext cx="5120640" cy="2231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F3A5F"/>
                </a:solidFill>
                <a:latin typeface="Calibri"/>
              </a:rPr>
              <a:t>Excluded on principle — engine internals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333333"/>
                </a:solidFill>
                <a:latin typeface="Calibri"/>
              </a:rPr>
              <a:t>tick mechanics, blackboards, node memory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333333"/>
                </a:solidFill>
                <a:latin typeface="Calibri"/>
              </a:rPr>
              <a:t>BDI deliberation cycles, reconsideration strategy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333333"/>
                </a:solidFill>
                <a:latin typeface="Calibri"/>
              </a:rPr>
              <a:t>subgoaling (plans posting goals recursively)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666666"/>
                </a:solidFill>
                <a:latin typeface="Calibri"/>
              </a:rPr>
              <a:t>The standard exchanges structure and intent of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666666"/>
                </a:solidFill>
                <a:latin typeface="Calibri"/>
              </a:rPr>
              <a:t>behavior, not the execution engine.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508760"/>
            <a:ext cx="5349240" cy="2377440"/>
          </a:xfrm>
          <a:prstGeom prst="round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81912"/>
            <a:ext cx="5074920" cy="2231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F3A5F"/>
                </a:solidFill>
                <a:latin typeface="Calibri"/>
              </a:rPr>
              <a:t>Known limitations — tracked as future work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333333"/>
                </a:solidFill>
                <a:latin typeface="Calibri"/>
              </a:rPr>
              <a:t>reactive cross-phase preemption / trigger re-arming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333333"/>
                </a:solidFill>
                <a:latin typeface="Calibri"/>
              </a:rPr>
              <a:t>commanded task re-allocation, capability-based assignment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333333"/>
                </a:solidFill>
                <a:latin typeface="Calibri"/>
              </a:rPr>
              <a:t>report roll-up across disaggregated plans (MUM-T)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333333"/>
                </a:solidFill>
                <a:latin typeface="Calibri"/>
              </a:rPr>
              <a:t>quantitative control envelopes (formation keeping)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333333"/>
                </a:solidFill>
                <a:latin typeface="Calibri"/>
              </a:rPr>
              <a:t>resource-economy / rate conditions (counter-UAS attrition)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114800"/>
            <a:ext cx="10972800" cy="1737360"/>
          </a:xfrm>
          <a:prstGeom prst="round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187952"/>
            <a:ext cx="10698480" cy="1591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F3A5F"/>
                </a:solidFill>
                <a:latin typeface="Calibri"/>
              </a:rPr>
              <a:t>How this was checked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333333"/>
                </a:solidFill>
                <a:latin typeface="Calibri"/>
              </a:rPr>
              <a:t>Built from a structural analysis of core/SMX/LOX/ASX, then subjected to a four-way adversarial review: OWL consistency against the reference ontologies, fact-check of every claim against the repo, a BT/BDI conceptual critique, and scenario mining.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666666"/>
                </a:solidFill>
                <a:latin typeface="Calibri"/>
              </a:rPr>
              <a:t>The review found (and v0.0.2 fixed): the fallback-trigger paradox, sequence stalls under failure, AND-latching, guard polarity, an untransmittable Goal, unsafe plan-library degradation, unordered condition parameters — among others.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1F3A5F"/>
                </a:solidFill>
                <a:latin typeface="Calibri"/>
              </a:rPr>
              <a:t>Every surviving limitation above is documented in the analysis (§7) with its scenario evidence.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66666"/>
                </a:solidFill>
                <a:latin typeface="Calibri"/>
              </a:rPr>
              <a:t>C2SIM ASX Sub-group   |   Plan-Semantics Working Brief (DRAFT)   |   July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70432"/>
            <a:ext cx="2011680" cy="38100"/>
          </a:xfrm>
          <a:prstGeom prst="rect">
            <a:avLst/>
          </a:prstGeom>
          <a:solidFill>
            <a:srgbClr val="2E8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3A5F"/>
                </a:solidFill>
                <a:latin typeface="Calibri"/>
              </a:rPr>
              <a:t>What we ask the group to evaluate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2E869A"/>
                </a:solidFill>
                <a:latin typeface="Calibri"/>
              </a:rPr>
              <a:t>And the proposed sequence if the direction holds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50" b="1" i="0">
                <a:solidFill>
                  <a:srgbClr val="333333"/>
                </a:solidFill>
                <a:latin typeface="Calibri"/>
              </a:rPr>
              <a:t>•  1.  Direction — extend the LOX Plan (additive ASX module) rather than a freestanding behavior ontology. Agree?</a:t>
            </a:r>
          </a:p>
          <a:p>
            <a:pPr>
              <a:spcAft>
                <a:spcPts val="600"/>
              </a:spcAft>
            </a:pPr>
            <a:r>
              <a:rPr sz="1550" b="1" i="0">
                <a:solidFill>
                  <a:srgbClr val="333333"/>
                </a:solidFill>
                <a:latin typeface="Calibri"/>
              </a:rPr>
              <a:t>•  2.  The interop posture — fail-closed unknown triggers + capability negotiation for gating constructs. Acceptable operationally?</a:t>
            </a:r>
          </a:p>
          <a:p>
            <a:pPr>
              <a:spcAft>
                <a:spcPts val="600"/>
              </a:spcAft>
            </a:pPr>
            <a:r>
              <a:rPr sz="1550" b="1" i="0">
                <a:solidFill>
                  <a:srgbClr val="333333"/>
                </a:solidFill>
                <a:latin typeface="Calibri"/>
              </a:rPr>
              <a:t>•  3.  The condition vocabulary — right size? (typed predicates, no expression language; 12 initial predicates, scenario-driven growth)</a:t>
            </a:r>
          </a:p>
          <a:p>
            <a:pPr>
              <a:spcAft>
                <a:spcPts val="600"/>
              </a:spcAft>
            </a:pPr>
            <a:r>
              <a:rPr sz="1550" b="1" i="0">
                <a:solidFill>
                  <a:srgbClr val="333333"/>
                </a:solidFill>
                <a:latin typeface="Calibri"/>
              </a:rPr>
              <a:t>•  4.  Core errata to raise with the PDG — TASKFAILD, task cancel/suspend verbs, runtime event-occurrence report.</a:t>
            </a:r>
          </a:p>
          <a:p>
            <a:pPr>
              <a:spcAft>
                <a:spcPts val="600"/>
              </a:spcAft>
            </a:pPr>
            <a:r>
              <a:rPr sz="1450" b="0" i="0">
                <a:solidFill>
                  <a:srgbClr val="333333"/>
                </a:solidFill>
                <a:latin typeface="Calibri"/>
              </a:rPr>
              <a:t>•  Proposed sequence: Condition + triggers (Q-D, Q-N)  →  HumanApprovalTrigger + LoA linkage (W1/Q-K)  →  Goal / plan library  →  report contents (X2, X6).</a:t>
            </a:r>
          </a:p>
          <a:p>
            <a:pPr>
              <a:spcAft>
                <a:spcPts val="600"/>
              </a:spcAft>
            </a:pPr>
            <a:r>
              <a:rPr sz="1450" b="0" i="0">
                <a:solidFill>
                  <a:srgbClr val="333333"/>
                </a:solidFill>
                <a:latin typeface="Calibri"/>
              </a:rPr>
              <a:t>•  Prerequisites from the instantiation review: Swarm ⊑ CollectiveEntity (P7); attach hasAutonomousRoleCode (P3).</a:t>
            </a:r>
          </a:p>
          <a:p>
            <a:pPr>
              <a:spcAft>
                <a:spcPts val="600"/>
              </a:spcAft>
            </a:pPr>
            <a:r>
              <a:rPr sz="1450" b="0" i="0">
                <a:solidFill>
                  <a:srgbClr val="333333"/>
                </a:solidFill>
                <a:latin typeface="Calibri"/>
              </a:rPr>
              <a:t>•  Next artifact: instantiation-review-style walks of CASEVAC + DroneResponse + MDARS in the module vocabulary, before advancing the OWL.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486400"/>
            <a:ext cx="10972800" cy="777240"/>
          </a:xfrm>
          <a:prstGeom prst="round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559552"/>
            <a:ext cx="1069848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F3A5F"/>
                </a:solidFill>
                <a:latin typeface="Calibri"/>
              </a:rPr>
              <a:t/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1F3A5F"/>
                </a:solidFill>
                <a:latin typeface="Calibri"/>
              </a:rPr>
              <a:t>Artifacts: Plan-Semantics-Analysis.md (analysis, rules, limitations)  •  ASX-PlanSemantics-Draft.ttl v0.0.2 (618 triples, validated)  •  this deck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66666"/>
                </a:solidFill>
                <a:latin typeface="Calibri"/>
              </a:rPr>
              <a:t>C2SIM ASX Sub-group   |   Plan-Semantics Working Brief (DRAFT)   |   July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