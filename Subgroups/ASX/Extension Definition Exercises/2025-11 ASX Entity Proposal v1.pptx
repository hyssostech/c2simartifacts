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ags/tag2.xml" ContentType="application/vnd.openxmlformats-officedocument.presentationml.tag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  <p:sldMasterId id="2147484069" r:id="rId5"/>
  </p:sldMasterIdLst>
  <p:notesMasterIdLst>
    <p:notesMasterId r:id="rId31"/>
  </p:notesMasterIdLst>
  <p:handoutMasterIdLst>
    <p:handoutMasterId r:id="rId32"/>
  </p:handoutMasterIdLst>
  <p:sldIdLst>
    <p:sldId id="2147470876" r:id="rId6"/>
    <p:sldId id="2147472366" r:id="rId7"/>
    <p:sldId id="2147472407" r:id="rId8"/>
    <p:sldId id="2147472378" r:id="rId9"/>
    <p:sldId id="2147472397" r:id="rId10"/>
    <p:sldId id="2147472403" r:id="rId11"/>
    <p:sldId id="2147472404" r:id="rId12"/>
    <p:sldId id="2147472391" r:id="rId13"/>
    <p:sldId id="2147472398" r:id="rId14"/>
    <p:sldId id="2147472401" r:id="rId15"/>
    <p:sldId id="2147472400" r:id="rId16"/>
    <p:sldId id="2147472399" r:id="rId17"/>
    <p:sldId id="2147472405" r:id="rId18"/>
    <p:sldId id="2147472406" r:id="rId19"/>
    <p:sldId id="2147472376" r:id="rId20"/>
    <p:sldId id="2147472392" r:id="rId21"/>
    <p:sldId id="2147472408" r:id="rId22"/>
    <p:sldId id="2147472393" r:id="rId23"/>
    <p:sldId id="2147472394" r:id="rId24"/>
    <p:sldId id="2147470948" r:id="rId25"/>
    <p:sldId id="2147472350" r:id="rId26"/>
    <p:sldId id="2147472396" r:id="rId27"/>
    <p:sldId id="2147472373" r:id="rId28"/>
    <p:sldId id="2147472369" r:id="rId29"/>
    <p:sldId id="2147472370" r:id="rId30"/>
  </p:sldIdLst>
  <p:sldSz cx="12192000" cy="6858000"/>
  <p:notesSz cx="6858000" cy="9144000"/>
  <p:custDataLst>
    <p:tags r:id="rId33"/>
  </p:custDataLst>
  <p:defaultTextStyle>
    <a:defPPr>
      <a:defRPr lang="en-US"/>
    </a:defPPr>
    <a:lvl1pPr algn="l" defTabSz="913614" rtl="0" fontAlgn="base">
      <a:spcBef>
        <a:spcPct val="0"/>
      </a:spcBef>
      <a:spcAft>
        <a:spcPct val="0"/>
      </a:spcAft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6808" indent="-200852" algn="l" defTabSz="913614" rtl="0" fontAlgn="base">
      <a:spcBef>
        <a:spcPct val="0"/>
      </a:spcBef>
      <a:spcAft>
        <a:spcPct val="0"/>
      </a:spcAft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3614" indent="-401707" algn="l" defTabSz="913614" rtl="0" fontAlgn="base">
      <a:spcBef>
        <a:spcPct val="0"/>
      </a:spcBef>
      <a:spcAft>
        <a:spcPct val="0"/>
      </a:spcAft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0423" indent="-602558" algn="l" defTabSz="913614" rtl="0" fontAlgn="base">
      <a:spcBef>
        <a:spcPct val="0"/>
      </a:spcBef>
      <a:spcAft>
        <a:spcPct val="0"/>
      </a:spcAft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119" indent="-804302" algn="l" defTabSz="913614" rtl="0" fontAlgn="base">
      <a:spcBef>
        <a:spcPct val="0"/>
      </a:spcBef>
      <a:spcAft>
        <a:spcPct val="0"/>
      </a:spcAft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1279772" algn="l" defTabSz="5119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1535726" algn="l" defTabSz="5119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1791681" algn="l" defTabSz="5119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2047634" algn="l" defTabSz="51190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1AD7ED7-20BA-447F-8EB5-49C1BA74D5CC}">
          <p14:sldIdLst>
            <p14:sldId id="2147470876"/>
            <p14:sldId id="2147472366"/>
            <p14:sldId id="2147472407"/>
            <p14:sldId id="2147472378"/>
            <p14:sldId id="2147472397"/>
            <p14:sldId id="2147472403"/>
            <p14:sldId id="2147472404"/>
            <p14:sldId id="2147472391"/>
            <p14:sldId id="2147472398"/>
            <p14:sldId id="2147472401"/>
            <p14:sldId id="2147472400"/>
            <p14:sldId id="2147472399"/>
            <p14:sldId id="2147472405"/>
            <p14:sldId id="2147472406"/>
            <p14:sldId id="2147472376"/>
            <p14:sldId id="2147472392"/>
            <p14:sldId id="2147472408"/>
            <p14:sldId id="2147472393"/>
            <p14:sldId id="2147472394"/>
            <p14:sldId id="2147470948"/>
            <p14:sldId id="2147472350"/>
            <p14:sldId id="2147472396"/>
            <p14:sldId id="2147472373"/>
            <p14:sldId id="2147472369"/>
            <p14:sldId id="2147472370"/>
          </p14:sldIdLst>
        </p14:section>
        <p14:section name="Rough Notes" id="{4A96723C-D75C-4363-B0CC-4C787FD6C871}">
          <p14:sldIdLst/>
        </p14:section>
      </p14:sectionLst>
    </p:ext>
    <p:ext uri="{EFAFB233-063F-42B5-8137-9DF3F51BA10A}">
      <p15:sldGuideLst xmlns:p15="http://schemas.microsoft.com/office/powerpoint/2012/main">
        <p15:guide id="1" pos="5405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0C02B0F-18B6-A1BA-3D11-C94701D9A598}" name="Mary Beth Kennedy" initials="MK" userId="S::mkenn@cae.com::68bd4555-574c-4743-80b3-f4d0605b48dd" providerId="AD"/>
  <p188:author id="{D6B93F27-DAAF-7636-048B-F1EE364D2696}" name="Wendy Stough" initials="WS" userId="S::stough@cae.com::516d0afc-ea59-4f3e-8456-8cc9577739fb" providerId="AD"/>
  <p188:author id="{0068EE2C-92D3-4DA4-8A4C-AA46438635BE}" name="Andrew Arnovitz" initials="AA" userId="S::andrewa@cae.com::16fb7044-88b0-4005-9034-e219091908a2" providerId="AD"/>
  <p188:author id="{1E104033-2659-D2D9-65EC-9E86B1178930}" name="Constance Drilhon" initials="CD" userId="S::cdrilhon@cae.com::7c039946-c06f-412e-97d4-20d2e1c70f66" providerId="AD"/>
  <p188:author id="{968BC23A-C135-5FED-A839-3F844301CDFA}" name="Aline Massouh" initials="AM" userId="S::massouh@cae.com::f6945719-1d17-47b0-bb52-8d9b15a53f0a" providerId="AD"/>
  <p188:author id="{F185FA65-3452-B5BB-1225-8CBD8E4E6644}" name="Janie Mercky" initials="JM" userId="S::jmercky@cae.com::9214bfdf-f995-4722-a55a-f665a75775b8" providerId="AD"/>
  <p188:author id="{4C5EB16B-6394-B54D-5E75-F7C1F3C6FB50}" name="Jennifer Wood" initials="JW" userId="S::jennifw@cae.com::60627efe-5448-4879-91fd-2bb1c3c6254e" providerId="AD"/>
  <p188:author id="{0C37076D-8DEE-115E-2C2E-0F63C9278A94}" name="Xavier Arbour" initials="XA" userId="S::xarbour@cae.com::b36a5711-b6d9-4f95-8fa7-3d07e146ae58" providerId="AD"/>
  <p188:author id="{E67FBF75-F16C-23B2-DD0D-383A4B0C0F01}" name="Lyanne Joubert" initials="LJ" userId="S::ljoubert@cae.com::98bde078-f6d9-4616-84a3-8e643b4a61ed" providerId="AD"/>
  <p188:author id="{6661E87B-5442-3FCE-6EF2-44644B918B91}" name="Roger Marszalek" initials="RM" userId="S::rmarszalek@cae.com::9ebe57dc-a393-42f2-8917-2f326a754908" providerId="AD"/>
  <p188:author id="{E335F07D-D365-1864-CE46-901AB54851FC}" name="Heidi Fedak" initials="HF" userId="S::hfedak@cae.com::6ce069f8-1b57-4f78-81d2-c472e7019cec" providerId="AD"/>
  <p188:author id="{7658B38B-F5C3-3A9E-8749-D35C21257B94}" name="Claudia Boies" initials="CB" userId="S::cboies@cae.com::de1ccae1-2cfa-46c4-b9ff-5f54deba4923" providerId="AD"/>
  <p188:author id="{E3BF74CD-BB59-4CD5-5BFD-8AA91528AE56}" name="Sarah Bibeau" initials="SB" userId="S::sbibe@cae.com::11372fc5-2d87-4450-96cd-1de9251b9a57" providerId="AD"/>
  <p188:author id="{5C9C70D2-0269-CF0D-0911-C77646BD2B30}" name="Wendy Stough" initials="WS" userId="S::Wendy.Stough@caemilusa.com::b9e02a02-9667-4ab0-9ec2-e623e0a89341" providerId="AD"/>
  <p188:author id="{F84C03DD-6985-FDB5-ECE9-460D1AC0DE53}" name="Kyle Davis" initials="KD" userId="S::kdavis@cae.com::1f35857d-1a84-4d92-beb3-c2bf657d4f6e" providerId="AD"/>
  <p188:author id="{18758FE8-B6CC-81E8-F9C9-D41B20F9E300}" name="Samantha Golinski" initials="SG" userId="S::sgolinski@cae.com::07b5c5f7-57de-4290-83bb-b32b67575e2d" providerId="AD"/>
  <p188:author id="{2DBE92F7-F8B7-D20D-2953-8D0D26B73B31}" name="Ryan Eldridge" initials="RE" userId="S::reldr@cae.com::08927472-968a-416b-88fa-7accee49b1d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mantha Golinski" initials="SG" lastIdx="40" clrIdx="0">
    <p:extLst>
      <p:ext uri="{19B8F6BF-5375-455C-9EA6-DF929625EA0E}">
        <p15:presenceInfo xmlns:p15="http://schemas.microsoft.com/office/powerpoint/2012/main" userId="S::sgolinski@cae.com::07b5c5f7-57de-4290-83bb-b32b67575e2d" providerId="AD"/>
      </p:ext>
    </p:extLst>
  </p:cmAuthor>
  <p:cmAuthor id="2" name="Aline Massouh" initials="AM" lastIdx="44" clrIdx="1">
    <p:extLst>
      <p:ext uri="{19B8F6BF-5375-455C-9EA6-DF929625EA0E}">
        <p15:presenceInfo xmlns:p15="http://schemas.microsoft.com/office/powerpoint/2012/main" userId="S::massouh@cae.com::f6945719-1d17-47b0-bb52-8d9b15a53f0a" providerId="AD"/>
      </p:ext>
    </p:extLst>
  </p:cmAuthor>
  <p:cmAuthor id="3" name="Sarah Bibeau" initials="SB" lastIdx="41" clrIdx="2">
    <p:extLst>
      <p:ext uri="{19B8F6BF-5375-455C-9EA6-DF929625EA0E}">
        <p15:presenceInfo xmlns:p15="http://schemas.microsoft.com/office/powerpoint/2012/main" userId="S::sbibe@cae.com::11372fc5-2d87-4450-96cd-1de9251b9a57" providerId="AD"/>
      </p:ext>
    </p:extLst>
  </p:cmAuthor>
  <p:cmAuthor id="4" name="Annalisa Harris" initials="AH" lastIdx="4" clrIdx="3">
    <p:extLst>
      <p:ext uri="{19B8F6BF-5375-455C-9EA6-DF929625EA0E}">
        <p15:presenceInfo xmlns:p15="http://schemas.microsoft.com/office/powerpoint/2012/main" userId="S::anhar@cae.com::889352be-a83b-42ad-93cc-76d05f9fddd7" providerId="AD"/>
      </p:ext>
    </p:extLst>
  </p:cmAuthor>
  <p:cmAuthor id="5" name="Wendy Stough" initials="WS" lastIdx="2" clrIdx="4">
    <p:extLst>
      <p:ext uri="{19B8F6BF-5375-455C-9EA6-DF929625EA0E}">
        <p15:presenceInfo xmlns:p15="http://schemas.microsoft.com/office/powerpoint/2012/main" userId="S::stough@cae.com::516d0afc-ea59-4f3e-8456-8cc9577739fb" providerId="AD"/>
      </p:ext>
    </p:extLst>
  </p:cmAuthor>
  <p:cmAuthor id="6" name="Constance Drilhon" initials="CD" lastIdx="3" clrIdx="5">
    <p:extLst>
      <p:ext uri="{19B8F6BF-5375-455C-9EA6-DF929625EA0E}">
        <p15:presenceInfo xmlns:p15="http://schemas.microsoft.com/office/powerpoint/2012/main" userId="S::cdrilhon@cae.com::7c039946-c06f-412e-97d4-20d2e1c70f6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69F2"/>
    <a:srgbClr val="1D4BB6"/>
    <a:srgbClr val="FFFFFF"/>
    <a:srgbClr val="00B050"/>
    <a:srgbClr val="E3E3E3"/>
    <a:srgbClr val="06103D"/>
    <a:srgbClr val="FAFAFA"/>
    <a:srgbClr val="D9D9D9"/>
    <a:srgbClr val="F3F3F3"/>
    <a:srgbClr val="7F8C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165" autoAdjust="0"/>
  </p:normalViewPr>
  <p:slideViewPr>
    <p:cSldViewPr snapToGrid="0">
      <p:cViewPr>
        <p:scale>
          <a:sx n="75" d="100"/>
          <a:sy n="75" d="100"/>
        </p:scale>
        <p:origin x="874" y="336"/>
      </p:cViewPr>
      <p:guideLst>
        <p:guide pos="5405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microsoft.com/office/2018/10/relationships/authors" Target="authors.xml"/><Relationship Id="rId21" Type="http://schemas.openxmlformats.org/officeDocument/2006/relationships/slide" Target="slides/slide16.xml"/><Relationship Id="rId34" Type="http://schemas.openxmlformats.org/officeDocument/2006/relationships/commentAuthors" Target="commentAuthor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tags" Target="tags/tag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handoutMaster" Target="handoutMasters/handoutMaster1.xml"/><Relationship Id="rId37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presProps" Target="pres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A33E728-FF3F-47D0-95DE-B2C4065CFCC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869160" cy="458788"/>
          </a:xfrm>
          <a:prstGeom prst="rect">
            <a:avLst/>
          </a:prstGeom>
        </p:spPr>
        <p:txBody>
          <a:bodyPr vert="horz" lIns="144000" tIns="144000" rIns="144000" bIns="144000" rtlCol="0" anchor="t"/>
          <a:lstStyle>
            <a:lvl1pPr algn="l">
              <a:defRPr sz="1200"/>
            </a:lvl1pPr>
          </a:lstStyle>
          <a:p>
            <a:endParaRPr lang="en-CA">
              <a:solidFill>
                <a:schemeClr val="tx2"/>
              </a:solidFill>
              <a:latin typeface="Red Hat Display" panose="02010303040201060303" pitchFamily="2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9CC9FE-CDEF-4228-80B2-120082C1CD6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589239" y="0"/>
            <a:ext cx="1267173" cy="458788"/>
          </a:xfrm>
          <a:prstGeom prst="rect">
            <a:avLst/>
          </a:prstGeom>
        </p:spPr>
        <p:txBody>
          <a:bodyPr vert="horz" lIns="144000" tIns="144000" rIns="144000" bIns="144000" rtlCol="0" anchor="t"/>
          <a:lstStyle>
            <a:lvl1pPr algn="r">
              <a:defRPr sz="1200"/>
            </a:lvl1pPr>
          </a:lstStyle>
          <a:p>
            <a:fld id="{65784025-F79D-4849-B13B-BFBE9BA48635}" type="datetimeFigureOut">
              <a:rPr lang="en-CA" smtClean="0">
                <a:solidFill>
                  <a:schemeClr val="tx2"/>
                </a:solidFill>
                <a:latin typeface="Red Hat Display" panose="02010303040201060303" pitchFamily="2" charset="0"/>
              </a:rPr>
              <a:t>2025-11-03</a:t>
            </a:fld>
            <a:endParaRPr lang="en-CA">
              <a:solidFill>
                <a:schemeClr val="tx2"/>
              </a:solidFill>
              <a:latin typeface="Red Hat Display" panose="02010303040201060303" pitchFamily="2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7C5142-A5B5-414A-A935-439ECD59304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4869160" cy="458787"/>
          </a:xfrm>
          <a:prstGeom prst="rect">
            <a:avLst/>
          </a:prstGeom>
        </p:spPr>
        <p:txBody>
          <a:bodyPr vert="horz" lIns="144000" tIns="144000" rIns="144000" bIns="144000" rtlCol="0" anchor="b"/>
          <a:lstStyle>
            <a:lvl1pPr algn="l">
              <a:defRPr sz="1200"/>
            </a:lvl1pPr>
          </a:lstStyle>
          <a:p>
            <a:endParaRPr lang="en-CA">
              <a:solidFill>
                <a:schemeClr val="tx2"/>
              </a:solidFill>
              <a:latin typeface="Red Hat Display" panose="02010303040201060303" pitchFamily="2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CA9A4E-A69C-4CE9-B88B-1DA872B2E9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589239" y="8685213"/>
            <a:ext cx="1267173" cy="458787"/>
          </a:xfrm>
          <a:prstGeom prst="rect">
            <a:avLst/>
          </a:prstGeom>
        </p:spPr>
        <p:txBody>
          <a:bodyPr vert="horz" lIns="144000" tIns="144000" rIns="144000" bIns="144000" rtlCol="0" anchor="b"/>
          <a:lstStyle>
            <a:lvl1pPr algn="r">
              <a:defRPr sz="1200"/>
            </a:lvl1pPr>
          </a:lstStyle>
          <a:p>
            <a:fld id="{40B11401-9CD5-4FFC-B428-D493AAFECA1D}" type="slidenum">
              <a:rPr lang="en-CA" smtClean="0">
                <a:solidFill>
                  <a:schemeClr val="tx2"/>
                </a:solidFill>
                <a:latin typeface="Red Hat Display" panose="02010303040201060303" pitchFamily="2" charset="0"/>
              </a:rPr>
              <a:t>‹#›</a:t>
            </a:fld>
            <a:endParaRPr lang="en-CA">
              <a:solidFill>
                <a:schemeClr val="tx2"/>
              </a:solidFill>
              <a:latin typeface="Red Hat Display" panose="020103030402010603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169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144000" tIns="144000" rIns="144000" bIns="144000" rtlCol="0"/>
          <a:lstStyle>
            <a:lvl1pPr algn="l">
              <a:defRPr sz="1200">
                <a:solidFill>
                  <a:schemeClr val="tx2"/>
                </a:solidFill>
                <a:latin typeface="Red Hat Display" panose="02010303040201060303" pitchFamily="2" charset="0"/>
              </a:defRPr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144000" tIns="144000" rIns="144000" bIns="144000" rtlCol="0"/>
          <a:lstStyle>
            <a:lvl1pPr algn="r">
              <a:defRPr sz="1200">
                <a:solidFill>
                  <a:schemeClr val="tx2"/>
                </a:solidFill>
                <a:latin typeface="Red Hat Display" panose="02010303040201060303" pitchFamily="2" charset="0"/>
              </a:defRPr>
            </a:lvl1pPr>
          </a:lstStyle>
          <a:p>
            <a:fld id="{862401FA-03E4-417E-850D-BECBAC0BE149}" type="datetimeFigureOut">
              <a:rPr lang="en-CA" smtClean="0"/>
              <a:pPr/>
              <a:t>2025-11-03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48680" y="971600"/>
            <a:ext cx="5760640" cy="3240360"/>
          </a:xfrm>
          <a:prstGeom prst="rect">
            <a:avLst/>
          </a:prstGeom>
          <a:noFill/>
          <a:ln w="1270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48680" y="4427934"/>
            <a:ext cx="5760640" cy="374446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CA" noProof="0"/>
              <a:t>Cliquez pour ajouter des notes</a:t>
            </a:r>
          </a:p>
          <a:p>
            <a:pPr lvl="1"/>
            <a:r>
              <a:rPr lang="fr-CA" noProof="0"/>
              <a:t>Deuxième niveau</a:t>
            </a:r>
          </a:p>
          <a:p>
            <a:pPr lvl="2"/>
            <a:r>
              <a:rPr lang="fr-CA" noProof="0"/>
              <a:t>Troisième niveau</a:t>
            </a:r>
          </a:p>
          <a:p>
            <a:pPr lvl="3"/>
            <a:r>
              <a:rPr lang="fr-CA" noProof="0"/>
              <a:t>Quatrième niveau</a:t>
            </a:r>
          </a:p>
          <a:p>
            <a:pPr lvl="4"/>
            <a:r>
              <a:rPr lang="fr-CA" noProof="0" err="1"/>
              <a:t>Cinquème</a:t>
            </a:r>
            <a:r>
              <a:rPr lang="fr-CA" noProof="0"/>
              <a:t> niveau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144000" tIns="144000" rIns="144000" bIns="144000" rtlCol="0" anchor="b"/>
          <a:lstStyle>
            <a:lvl1pPr algn="l">
              <a:defRPr sz="1200">
                <a:solidFill>
                  <a:schemeClr val="tx2"/>
                </a:solidFill>
                <a:latin typeface="Red Hat Display" panose="02010303040201060303" pitchFamily="2" charset="0"/>
              </a:defRPr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144000" tIns="144000" rIns="144000" bIns="144000" rtlCol="0" anchor="b"/>
          <a:lstStyle>
            <a:lvl1pPr algn="r">
              <a:defRPr sz="1200">
                <a:solidFill>
                  <a:schemeClr val="tx2"/>
                </a:solidFill>
                <a:latin typeface="Red Hat Display" panose="02010303040201060303" pitchFamily="2" charset="0"/>
              </a:defRPr>
            </a:lvl1pPr>
          </a:lstStyle>
          <a:p>
            <a:fld id="{527AB645-225A-4E0C-832E-9FE495AA9FCD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6464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spcBef>
        <a:spcPts val="800"/>
      </a:spcBef>
      <a:buFont typeface="Arial" panose="020B0604020202020204" pitchFamily="34" charset="0"/>
      <a:buChar char="​"/>
      <a:defRPr sz="1400" kern="1200">
        <a:solidFill>
          <a:schemeClr val="tx2"/>
        </a:solidFill>
        <a:latin typeface="Red Hat Display" panose="02010303040201060303" pitchFamily="2" charset="0"/>
        <a:ea typeface="+mn-ea"/>
        <a:cs typeface="+mn-cs"/>
      </a:defRPr>
    </a:lvl1pPr>
    <a:lvl2pPr marL="234000" indent="-216000" algn="l" defTabSz="914400" rtl="0" eaLnBrk="1" latinLnBrk="0" hangingPunct="1">
      <a:spcBef>
        <a:spcPts val="400"/>
      </a:spcBef>
      <a:buClr>
        <a:schemeClr val="tx2"/>
      </a:buClr>
      <a:buFont typeface="Wingdings" panose="05000000000000000000" pitchFamily="2" charset="2"/>
      <a:buChar char="§"/>
      <a:defRPr sz="1200" kern="1200">
        <a:solidFill>
          <a:schemeClr val="tx2"/>
        </a:solidFill>
        <a:latin typeface="Red Hat Display" panose="02010303040201060303" pitchFamily="2" charset="0"/>
        <a:ea typeface="+mn-ea"/>
        <a:cs typeface="+mn-cs"/>
      </a:defRPr>
    </a:lvl2pPr>
    <a:lvl3pPr marL="428400" indent="-180000" algn="l" defTabSz="914400" rtl="0" eaLnBrk="1" latinLnBrk="0" hangingPunct="1">
      <a:spcBef>
        <a:spcPts val="200"/>
      </a:spcBef>
      <a:buClr>
        <a:schemeClr val="accent3"/>
      </a:buClr>
      <a:buFont typeface="Wingdings" panose="05000000000000000000" pitchFamily="2" charset="2"/>
      <a:buChar char="§"/>
      <a:defRPr sz="1100" kern="1200">
        <a:solidFill>
          <a:schemeClr val="tx2"/>
        </a:solidFill>
        <a:latin typeface="Red Hat Display" panose="02010303040201060303" pitchFamily="2" charset="0"/>
        <a:ea typeface="+mn-ea"/>
        <a:cs typeface="+mn-cs"/>
      </a:defRPr>
    </a:lvl3pPr>
    <a:lvl4pPr marL="583200" indent="-144000" algn="l" defTabSz="914400" rtl="0" eaLnBrk="1" latinLnBrk="0" hangingPunct="1">
      <a:spcBef>
        <a:spcPts val="100"/>
      </a:spcBef>
      <a:buClr>
        <a:schemeClr val="accent3"/>
      </a:buClr>
      <a:buFont typeface="Wingdings" panose="05000000000000000000" pitchFamily="2" charset="2"/>
      <a:buChar char="§"/>
      <a:defRPr sz="1000" kern="1200">
        <a:solidFill>
          <a:schemeClr val="tx2"/>
        </a:solidFill>
        <a:latin typeface="Red Hat Display" panose="02010303040201060303" pitchFamily="2" charset="0"/>
        <a:ea typeface="+mn-ea"/>
        <a:cs typeface="+mn-cs"/>
      </a:defRPr>
    </a:lvl4pPr>
    <a:lvl5pPr marL="234000" indent="-234000" algn="l" defTabSz="914400" rtl="0" eaLnBrk="1" latinLnBrk="0" hangingPunct="1">
      <a:buFont typeface="+mj-lt"/>
      <a:buAutoNum type="arabicPeriod"/>
      <a:defRPr sz="1200" kern="1200">
        <a:solidFill>
          <a:schemeClr val="tx2"/>
        </a:solidFill>
        <a:latin typeface="Red Hat Display" panose="02010303040201060303" pitchFamily="2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49275" y="971550"/>
            <a:ext cx="5759450" cy="32400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noProof="0">
                <a:latin typeface="+mn-lt"/>
              </a:rPr>
              <a:t>Welcome to CAE!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7AB645-225A-4E0C-832E-9FE495AA9FCD}" type="slidenum">
              <a:rPr lang="en-CA" smtClean="0"/>
              <a:pPr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138214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49275" y="971550"/>
            <a:ext cx="5759450" cy="32400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7AB645-225A-4E0C-832E-9FE495AA9FCD}" type="slidenum">
              <a:rPr lang="en-CA" smtClean="0"/>
              <a:pPr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37932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TH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15D5A5-820A-B44F-8145-281BEDFBB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84" y="1929226"/>
            <a:ext cx="6332760" cy="28679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9AB5DDA-A6EF-A373-1863-37FDEBFCE3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44072" y="404664"/>
            <a:ext cx="7658383" cy="8280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861029"/>
      </p:ext>
    </p:extLst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blan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F13E4E3-EA9B-4FF8-B6C4-2516ED16E94E}" type="slidenum">
              <a:rPr lang="fr-CA" smtClean="0"/>
              <a:t>‹#›</a:t>
            </a:fld>
            <a:endParaRPr lang="fr-CA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18438D0E-53A7-4602-B060-5EB840E30748}"/>
              </a:ext>
            </a:extLst>
          </p:cNvPr>
          <p:cNvCxnSpPr/>
          <p:nvPr/>
        </p:nvCxnSpPr>
        <p:spPr>
          <a:xfrm flipV="1">
            <a:off x="551384" y="-315416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309FFEBF-15C5-4A74-8443-3D9F69DF5BA6}"/>
              </a:ext>
            </a:extLst>
          </p:cNvPr>
          <p:cNvCxnSpPr/>
          <p:nvPr/>
        </p:nvCxnSpPr>
        <p:spPr>
          <a:xfrm flipV="1">
            <a:off x="11640616" y="-315416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63FEA88-6238-4326-ADAA-5D5995C58B00}"/>
              </a:ext>
            </a:extLst>
          </p:cNvPr>
          <p:cNvCxnSpPr/>
          <p:nvPr userDrawn="1"/>
        </p:nvCxnSpPr>
        <p:spPr>
          <a:xfrm flipV="1">
            <a:off x="551384" y="6957392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2C0827F4-BBBC-4AC8-82BB-F80122849490}"/>
              </a:ext>
            </a:extLst>
          </p:cNvPr>
          <p:cNvCxnSpPr/>
          <p:nvPr/>
        </p:nvCxnSpPr>
        <p:spPr>
          <a:xfrm flipV="1">
            <a:off x="11640616" y="6957392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FF82C03B-9388-45AF-B32A-14369CBD1092}"/>
              </a:ext>
            </a:extLst>
          </p:cNvPr>
          <p:cNvCxnSpPr/>
          <p:nvPr/>
        </p:nvCxnSpPr>
        <p:spPr>
          <a:xfrm>
            <a:off x="-312712" y="1412776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CFC4DB00-D96A-4DF3-8277-90A16AF398FE}"/>
              </a:ext>
            </a:extLst>
          </p:cNvPr>
          <p:cNvCxnSpPr/>
          <p:nvPr/>
        </p:nvCxnSpPr>
        <p:spPr>
          <a:xfrm>
            <a:off x="12288688" y="1412776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46BCEB62-8960-4982-8E37-7F8C41E3020D}"/>
              </a:ext>
            </a:extLst>
          </p:cNvPr>
          <p:cNvCxnSpPr/>
          <p:nvPr/>
        </p:nvCxnSpPr>
        <p:spPr>
          <a:xfrm>
            <a:off x="-312712" y="6309221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9380230A-3186-4194-B30B-500F725DBC56}"/>
              </a:ext>
            </a:extLst>
          </p:cNvPr>
          <p:cNvCxnSpPr/>
          <p:nvPr/>
        </p:nvCxnSpPr>
        <p:spPr>
          <a:xfrm>
            <a:off x="12288688" y="6309221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5432812"/>
      </p:ext>
    </p:extLst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3024" y="1129932"/>
            <a:ext cx="10086975" cy="778381"/>
          </a:xfrm>
        </p:spPr>
        <p:txBody>
          <a:bodyPr/>
          <a:lstStyle>
            <a:lvl1pPr>
              <a:lnSpc>
                <a:spcPct val="90000"/>
              </a:lnSpc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0" y="2732049"/>
            <a:ext cx="2974925" cy="3122342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99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3072358" y="2732049"/>
            <a:ext cx="2974925" cy="3122342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99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4"/>
          </p:nvPr>
        </p:nvSpPr>
        <p:spPr>
          <a:xfrm>
            <a:off x="6144716" y="2732049"/>
            <a:ext cx="2974925" cy="3122342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99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Picture Placeholder 8"/>
          <p:cNvSpPr>
            <a:spLocks noGrp="1"/>
          </p:cNvSpPr>
          <p:nvPr>
            <p:ph type="pic" sz="quarter" idx="15"/>
          </p:nvPr>
        </p:nvSpPr>
        <p:spPr>
          <a:xfrm>
            <a:off x="9217075" y="2732049"/>
            <a:ext cx="2974925" cy="3122342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99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502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E9BD5-9F0B-6B4D-9022-97B835D90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BF2535-BEB3-26B7-4C3E-F23734681C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BAA71-8C1C-6386-4E19-ABB95B02A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5D6A9C-C457-1C04-9BA0-23451CDC7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530" y="6347991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0378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Main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AC0CD-62C1-E37D-BEE9-36E693041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190F2-B8AB-B494-0052-6F4086BE9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85886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ED94B-D298-1553-3C1C-F06DDE3CA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6B353-2DD6-1159-F66E-011E4577E5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CA2FC-0713-D70E-1828-2001F7E85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4010E5-CF92-1334-2F4D-8BF283538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5905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68CF6-F428-FBC5-01A5-9F18569E2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67C50-3BBA-E137-5B8F-4CB14D3B26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732A8-105A-FAF3-0E19-D21F6470B6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66886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15616-B9BC-4C92-0460-CE9BB9832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BE2F45-9DD6-3DEF-A99C-321F3CF4C1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F08F63-0F60-B3CE-37D3-4A600A0CE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DF882B-CAF4-763A-D388-BFF19C9718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B38CC7-EE62-C44D-7C70-8748B3ADF7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EB4E1D-3CED-B2AF-759F-D67A2AD0A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25AACD-1E1B-4EE6-8883-A09231BD1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9788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2350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176E1-A0AD-D6A9-D307-3775BC4C3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1F160-5C16-1AE2-CBA8-D96792FDA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60E6DC-C756-B6DD-A2E0-92B451DF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3484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81FCBC-A445-9DD3-9CA0-2DBDC18F5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4F727-2ABD-1B3B-AA44-DB0C8BA16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9433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D7E0B-9508-648A-BDFA-FB743597F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76BE1-FEAF-F46D-7BD1-B99FB0320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8FA36E-90C3-9F2F-F913-60E9933BA9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C3B696-100C-6204-73C4-47E7AC6FF74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99DE38A-F523-4625-AD04-A26CD6F4D124}" type="datetimeFigureOut">
              <a:rPr lang="en-CA" smtClean="0"/>
              <a:t>2025-11-03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433EA2-1FA4-1976-0B6E-5FC026CC7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7447AC-98A3-957C-B222-D38432B49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95700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985DA-7408-8724-02A3-42C3556EB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21611B-92EC-7AD8-E9E7-7D838CF005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13F87E-14E9-E6FE-09D2-DD4C31F2E7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3D4E9-2808-4C3F-0386-59A446A1C8B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99DE38A-F523-4625-AD04-A26CD6F4D124}" type="datetimeFigureOut">
              <a:rPr lang="en-CA" smtClean="0"/>
              <a:t>2025-11-03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DA68B-F608-1B95-C937-806F2292F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7DB2E0-0AC3-BA45-C088-9D7F873D0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095210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D0DD6-ED25-8ECA-92CF-E4D0D75BA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320A86-DC8D-869E-6C79-25A01E112E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82B5-E63B-70A9-CDCE-57E44A0DBB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99DE38A-F523-4625-AD04-A26CD6F4D124}" type="datetimeFigureOut">
              <a:rPr lang="en-CA" smtClean="0"/>
              <a:t>2025-11-03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84D9AA-E5CC-067C-C206-6B547DDDA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0B71E-7FE4-3910-695D-38CCF8FED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294863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123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BDD116-2052-C881-F445-CBB917EBA3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5FABBE-937D-A6AE-4FFC-399430E552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0433A9-18FA-46F1-433E-BF3BE8247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99787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E0D24-DA10-51C1-6B44-AAED4CDF3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43A35E5-31F2-402C-8CA1-4B5E4AF19C5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7893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ags" Target="../tags/tag2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Placeholder 1"/>
          <p:cNvSpPr>
            <a:spLocks noGrp="1"/>
          </p:cNvSpPr>
          <p:nvPr>
            <p:ph type="title"/>
          </p:nvPr>
        </p:nvSpPr>
        <p:spPr>
          <a:xfrm>
            <a:off x="563563" y="1035051"/>
            <a:ext cx="11089754" cy="82867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fr-CA" noProof="0"/>
              <a:t>Cliquez pour ajouter une machette</a:t>
            </a:r>
          </a:p>
        </p:txBody>
      </p:sp>
      <p:sp>
        <p:nvSpPr>
          <p:cNvPr id="1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563563" y="1881188"/>
            <a:ext cx="11077576" cy="4556554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:p15="http://schemas.microsoft.com/office/powerpoint/2012/main" xmlns:p14="http://schemas.microsoft.com/office/powerpoint/2010/main" xmlns:asvg="http://schemas.microsoft.com/office/drawing/2016/SVG/main" xmlns:a16="http://schemas.microsoft.com/office/drawing/2014/main" xmlns:a14="http://schemas.microsoft.com/office/drawing/2010/main" xmlns="" val="1"/>
            </a:ext>
            <a:ext uri="{909E8E84-426E-40dd-AFC4-6F175D3DCCD1}">
              <a14:hiddenFill xmlns:a14="http://schemas.microsoft.com/office/drawing/2010/main" xmlns:p15="http://schemas.microsoft.com/office/powerpoint/2012/main" xmlns:p14="http://schemas.microsoft.com/office/powerpoint/2010/main" xmlns:asvg="http://schemas.microsoft.com/office/drawing/2016/SVG/main" xmlns:a16="http://schemas.microsoft.com/office/drawing/2014/main" xmlns:ma14="http://schemas.microsoft.com/office/mac/drawingml/2011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:p15="http://schemas.microsoft.com/office/powerpoint/2012/main" xmlns:p14="http://schemas.microsoft.com/office/powerpoint/2010/main" xmlns:asvg="http://schemas.microsoft.com/office/drawing/2016/SVG/main" xmlns:a16="http://schemas.microsoft.com/office/drawing/2014/main" xmlns:ma14="http://schemas.microsoft.com/office/mac/drawingml/2011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CA" noProof="0" dirty="0"/>
              <a:t>Cliquez pour modifier le texte</a:t>
            </a:r>
          </a:p>
          <a:p>
            <a:pPr lvl="1"/>
            <a:r>
              <a:rPr lang="fr-CA" noProof="0" dirty="0"/>
              <a:t>Deuxième niveau</a:t>
            </a:r>
          </a:p>
          <a:p>
            <a:pPr lvl="2"/>
            <a:r>
              <a:rPr lang="fr-CA" noProof="0" dirty="0"/>
              <a:t>Troisième niveau</a:t>
            </a:r>
          </a:p>
          <a:p>
            <a:pPr lvl="3"/>
            <a:r>
              <a:rPr lang="fr-CA" noProof="0" dirty="0"/>
              <a:t>Quatrième niveau</a:t>
            </a:r>
          </a:p>
          <a:p>
            <a:pPr lvl="4"/>
            <a:r>
              <a:rPr lang="fr-CA" noProof="0" dirty="0"/>
              <a:t>Cinquième niveau</a:t>
            </a:r>
          </a:p>
          <a:p>
            <a:pPr lvl="5"/>
            <a:r>
              <a:rPr lang="fr-CA" noProof="0" dirty="0"/>
              <a:t>Sixième niveau</a:t>
            </a:r>
          </a:p>
          <a:p>
            <a:pPr lvl="6"/>
            <a:r>
              <a:rPr lang="fr-CA" noProof="0" dirty="0"/>
              <a:t>Septième niveau pour titre de paragraphe</a:t>
            </a:r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3287" y="6517862"/>
            <a:ext cx="504000" cy="14446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l" defTabSz="342901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10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9F13E4E3-EA9B-4FF8-B6C4-2516ED16E94E}" type="slidenum">
              <a:rPr lang="fr-CA" smtClean="0"/>
              <a:pPr/>
              <a:t>‹#›</a:t>
            </a:fld>
            <a:endParaRPr lang="fr-CA" dirty="0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2FCBB0A4-34BF-4F15-8383-65A93B5F10EF}"/>
              </a:ext>
            </a:extLst>
          </p:cNvPr>
          <p:cNvCxnSpPr/>
          <p:nvPr userDrawn="1"/>
        </p:nvCxnSpPr>
        <p:spPr>
          <a:xfrm flipV="1">
            <a:off x="563563" y="6957392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8A06FE9-917C-48F3-878A-E6DFD3A44D90}"/>
              </a:ext>
            </a:extLst>
          </p:cNvPr>
          <p:cNvCxnSpPr/>
          <p:nvPr userDrawn="1"/>
        </p:nvCxnSpPr>
        <p:spPr>
          <a:xfrm flipV="1">
            <a:off x="11625263" y="6957392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C65F5152-33FE-4563-9ABC-9042E366D428}"/>
              </a:ext>
            </a:extLst>
          </p:cNvPr>
          <p:cNvCxnSpPr>
            <a:cxnSpLocks/>
          </p:cNvCxnSpPr>
          <p:nvPr userDrawn="1"/>
        </p:nvCxnSpPr>
        <p:spPr>
          <a:xfrm>
            <a:off x="-315300" y="1017150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F963B879-E6E3-4ACE-A15D-F64560162815}"/>
              </a:ext>
            </a:extLst>
          </p:cNvPr>
          <p:cNvCxnSpPr>
            <a:cxnSpLocks/>
          </p:cNvCxnSpPr>
          <p:nvPr userDrawn="1"/>
        </p:nvCxnSpPr>
        <p:spPr>
          <a:xfrm>
            <a:off x="12291276" y="1025674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BDA1220E-448F-44B2-866F-92ECB3A717EB}"/>
              </a:ext>
            </a:extLst>
          </p:cNvPr>
          <p:cNvCxnSpPr/>
          <p:nvPr userDrawn="1"/>
        </p:nvCxnSpPr>
        <p:spPr>
          <a:xfrm>
            <a:off x="-315300" y="6286551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00A997D2-1B0A-477D-9B2E-D2C7CF49A7A9}"/>
              </a:ext>
            </a:extLst>
          </p:cNvPr>
          <p:cNvCxnSpPr/>
          <p:nvPr userDrawn="1"/>
        </p:nvCxnSpPr>
        <p:spPr>
          <a:xfrm>
            <a:off x="12291276" y="6286500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4B470E4-0712-3F41-8087-979FE2C02DC8}"/>
              </a:ext>
            </a:extLst>
          </p:cNvPr>
          <p:cNvSpPr txBox="1"/>
          <p:nvPr userDrawn="1"/>
        </p:nvSpPr>
        <p:spPr>
          <a:xfrm>
            <a:off x="14073809" y="2769704"/>
            <a:ext cx="0" cy="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endParaRPr lang="en-US" sz="1800" err="1">
              <a:effectLst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6D7D249-E033-4244-85A9-83887FF0F08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970560" y="6438138"/>
            <a:ext cx="672000" cy="252000"/>
          </a:xfrm>
          <a:prstGeom prst="rect">
            <a:avLst/>
          </a:prstGeom>
        </p:spPr>
      </p:pic>
      <p:cxnSp>
        <p:nvCxnSpPr>
          <p:cNvPr id="30" name="Connecteur droit 11">
            <a:extLst>
              <a:ext uri="{FF2B5EF4-FFF2-40B4-BE49-F238E27FC236}">
                <a16:creationId xmlns:a16="http://schemas.microsoft.com/office/drawing/2014/main" id="{ABA5DEBF-FB63-354E-8AB1-6815A278F433}"/>
              </a:ext>
            </a:extLst>
          </p:cNvPr>
          <p:cNvCxnSpPr>
            <a:cxnSpLocks/>
          </p:cNvCxnSpPr>
          <p:nvPr userDrawn="1"/>
        </p:nvCxnSpPr>
        <p:spPr>
          <a:xfrm flipV="1">
            <a:off x="563563" y="-315300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12">
            <a:extLst>
              <a:ext uri="{FF2B5EF4-FFF2-40B4-BE49-F238E27FC236}">
                <a16:creationId xmlns:a16="http://schemas.microsoft.com/office/drawing/2014/main" id="{AC002767-9C39-1947-AA2F-E4D10AADEE1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625263" y="-315300"/>
            <a:ext cx="0" cy="21602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eur droit 5">
            <a:extLst>
              <a:ext uri="{FF2B5EF4-FFF2-40B4-BE49-F238E27FC236}">
                <a16:creationId xmlns:a16="http://schemas.microsoft.com/office/drawing/2014/main" id="{6F0D71C7-E788-D154-143E-0CD1C7D4AF9E}"/>
              </a:ext>
            </a:extLst>
          </p:cNvPr>
          <p:cNvCxnSpPr>
            <a:cxnSpLocks/>
          </p:cNvCxnSpPr>
          <p:nvPr userDrawn="1"/>
        </p:nvCxnSpPr>
        <p:spPr>
          <a:xfrm>
            <a:off x="-315300" y="584200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eur droit 18">
            <a:extLst>
              <a:ext uri="{FF2B5EF4-FFF2-40B4-BE49-F238E27FC236}">
                <a16:creationId xmlns:a16="http://schemas.microsoft.com/office/drawing/2014/main" id="{9769CFF4-1AC7-1339-2F34-B2C59B56B494}"/>
              </a:ext>
            </a:extLst>
          </p:cNvPr>
          <p:cNvCxnSpPr>
            <a:cxnSpLocks/>
          </p:cNvCxnSpPr>
          <p:nvPr userDrawn="1"/>
        </p:nvCxnSpPr>
        <p:spPr>
          <a:xfrm>
            <a:off x="12291276" y="584200"/>
            <a:ext cx="216024" cy="99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56E28FB-4E92-3B69-259B-3F96B74D3A53}"/>
              </a:ext>
            </a:extLst>
          </p:cNvPr>
          <p:cNvSpPr txBox="1">
            <a:spLocks/>
          </p:cNvSpPr>
          <p:nvPr userDrawn="1"/>
        </p:nvSpPr>
        <p:spPr>
          <a:xfrm>
            <a:off x="4058816" y="6517862"/>
            <a:ext cx="3582955" cy="252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342901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10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6808" indent="-200852" algn="l" defTabSz="913614" rtl="0" fontAlgn="base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614" indent="-401707" algn="l" defTabSz="913614" rtl="0" fontAlgn="base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0423" indent="-602558" algn="l" defTabSz="913614" rtl="0" fontAlgn="base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119" indent="-804302" algn="l" defTabSz="913614" rtl="0" fontAlgn="base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279772" algn="l" defTabSz="51190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35726" algn="l" defTabSz="51190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91681" algn="l" defTabSz="51190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047634" algn="l" defTabSz="51190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b="0" noProof="0" dirty="0"/>
              <a:t>C2SIM Extension for Unpiloted Vehicles </a:t>
            </a:r>
            <a:r>
              <a:rPr lang="fr-CA" b="0" dirty="0"/>
              <a:t> </a:t>
            </a:r>
          </a:p>
        </p:txBody>
      </p:sp>
    </p:spTree>
    <p:custDataLst>
      <p:tags r:id="rId5"/>
    </p:custDataLst>
    <p:extLst>
      <p:ext uri="{BB962C8B-B14F-4D97-AF65-F5344CB8AC3E}">
        <p14:creationId xmlns:p14="http://schemas.microsoft.com/office/powerpoint/2010/main" val="4021287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798" r:id="rId2"/>
    <p:sldLayoutId id="2147484056" r:id="rId3"/>
  </p:sldLayoutIdLst>
  <p:transition spd="med">
    <p:fade/>
  </p:transition>
  <p:hf hdr="0" ftr="0" dt="0"/>
  <p:txStyles>
    <p:titleStyle>
      <a:lvl1pPr algn="l" defTabSz="612019" rtl="0" eaLnBrk="1" fontAlgn="base" hangingPunct="1">
        <a:lnSpc>
          <a:spcPct val="89000"/>
        </a:lnSpc>
        <a:spcBef>
          <a:spcPts val="0"/>
        </a:spcBef>
        <a:spcAft>
          <a:spcPts val="0"/>
        </a:spcAft>
        <a:defRPr lang="en-US" sz="3200" b="0" kern="1200" cap="none" baseline="0" dirty="0" smtClean="0">
          <a:solidFill>
            <a:schemeClr val="tx2"/>
          </a:solidFill>
          <a:latin typeface="+mj-lt"/>
          <a:ea typeface="+mn-ea"/>
          <a:cs typeface="+mn-cs"/>
        </a:defRPr>
      </a:lvl1pPr>
      <a:lvl2pPr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2pPr>
      <a:lvl3pPr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3pPr>
      <a:lvl4pPr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4pPr>
      <a:lvl5pPr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5pPr>
      <a:lvl6pPr marL="192846"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6pPr>
      <a:lvl7pPr marL="385691"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7pPr>
      <a:lvl8pPr marL="578537"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8pPr>
      <a:lvl9pPr marL="771383" algn="l" defTabSz="612019" rtl="0" eaLnBrk="1" fontAlgn="base" hangingPunct="1">
        <a:lnSpc>
          <a:spcPts val="1423"/>
        </a:lnSpc>
        <a:spcBef>
          <a:spcPct val="0"/>
        </a:spcBef>
        <a:spcAft>
          <a:spcPct val="0"/>
        </a:spcAft>
        <a:defRPr sz="1500">
          <a:solidFill>
            <a:srgbClr val="404040"/>
          </a:solidFill>
          <a:latin typeface="+mn-lt"/>
        </a:defRPr>
      </a:lvl9pPr>
    </p:titleStyle>
    <p:bodyStyle>
      <a:lvl1pPr marL="0" indent="0" algn="l" defTabSz="612019" rtl="0" eaLnBrk="1" fontAlgn="base" hangingPunct="1">
        <a:spcBef>
          <a:spcPts val="1400"/>
        </a:spcBef>
        <a:spcAft>
          <a:spcPts val="0"/>
        </a:spcAft>
        <a:buClrTx/>
        <a:buFont typeface="Arial" panose="020B0604020202020204" pitchFamily="34" charset="0"/>
        <a:buChar char="​"/>
        <a:defRPr lang="en-US" sz="2200" b="0" kern="1200" dirty="0">
          <a:solidFill>
            <a:schemeClr val="tx2"/>
          </a:solidFill>
          <a:latin typeface="+mn-lt"/>
          <a:ea typeface="+mn-ea"/>
          <a:cs typeface="+mn-cs"/>
        </a:defRPr>
      </a:lvl1pPr>
      <a:lvl2pPr marL="234000" indent="-216000" algn="l" defTabSz="612019" rtl="0" eaLnBrk="1" fontAlgn="base" hangingPunct="1">
        <a:spcBef>
          <a:spcPts val="800"/>
        </a:spcBef>
        <a:spcAft>
          <a:spcPts val="0"/>
        </a:spcAft>
        <a:buClr>
          <a:schemeClr val="tx2"/>
        </a:buClr>
        <a:buFont typeface="Wingdings" panose="05000000000000000000" pitchFamily="2" charset="2"/>
        <a:buChar char="§"/>
        <a:defRPr sz="2000" kern="1200">
          <a:solidFill>
            <a:schemeClr val="tx2"/>
          </a:solidFill>
          <a:latin typeface="+mn-lt"/>
          <a:ea typeface="+mn-ea"/>
          <a:cs typeface="+mn-cs"/>
        </a:defRPr>
      </a:lvl2pPr>
      <a:lvl3pPr marL="428400" indent="-180000" algn="l" defTabSz="612019" rtl="0" eaLnBrk="1" fontAlgn="base" hangingPunct="1">
        <a:spcBef>
          <a:spcPts val="400"/>
        </a:spcBef>
        <a:spcAft>
          <a:spcPts val="0"/>
        </a:spcAft>
        <a:buClr>
          <a:schemeClr val="accent3"/>
        </a:buClr>
        <a:buFont typeface="Wingdings" panose="05000000000000000000" pitchFamily="2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3pPr>
      <a:lvl4pPr marL="583200" indent="-144000" algn="l" defTabSz="612019" rtl="0" eaLnBrk="1" fontAlgn="base" hangingPunct="1">
        <a:spcBef>
          <a:spcPts val="200"/>
        </a:spcBef>
        <a:spcAft>
          <a:spcPts val="0"/>
        </a:spcAft>
        <a:buClr>
          <a:schemeClr val="accent3"/>
        </a:buClr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414000" indent="-414000" algn="l" defTabSz="612019" rtl="0" eaLnBrk="1" fontAlgn="base" hangingPunct="1">
        <a:spcBef>
          <a:spcPts val="1000"/>
        </a:spcBef>
        <a:spcAft>
          <a:spcPts val="0"/>
        </a:spcAft>
        <a:buClr>
          <a:schemeClr val="tx2"/>
        </a:buClr>
        <a:buFont typeface="+mj-lt"/>
        <a:buAutoNum type="arabicPeriod"/>
        <a:defRPr sz="2000" kern="1200">
          <a:solidFill>
            <a:schemeClr val="tx2"/>
          </a:solidFill>
          <a:latin typeface="+mn-lt"/>
          <a:ea typeface="+mn-ea"/>
          <a:cs typeface="+mn-cs"/>
        </a:defRPr>
      </a:lvl5pPr>
      <a:lvl6pPr marL="720000" indent="-288000" algn="l" defTabSz="612212" rtl="0" eaLnBrk="1" latinLnBrk="0" hangingPunct="1">
        <a:spcBef>
          <a:spcPts val="400"/>
        </a:spcBef>
        <a:buClr>
          <a:schemeClr val="tx2"/>
        </a:buClr>
        <a:buFont typeface="+mj-lt"/>
        <a:buAutoNum type="alphaLcPeriod"/>
        <a:defRPr sz="1800" kern="1200">
          <a:solidFill>
            <a:schemeClr val="tx2"/>
          </a:solidFill>
          <a:latin typeface="+mn-lt"/>
          <a:ea typeface="+mn-ea"/>
          <a:cs typeface="+mn-cs"/>
        </a:defRPr>
      </a:lvl6pPr>
      <a:lvl7pPr marL="0" indent="0" algn="l" defTabSz="612212" rtl="0" eaLnBrk="1" latinLnBrk="0" hangingPunct="1">
        <a:spcBef>
          <a:spcPts val="1400"/>
        </a:spcBef>
        <a:buFont typeface="Arial" panose="020B0604020202020204" pitchFamily="34" charset="0"/>
        <a:buChar char="​"/>
        <a:defRPr sz="22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2295794" indent="-153053" algn="l" defTabSz="612212" rtl="0" eaLnBrk="1" latinLnBrk="0" hangingPunct="1">
        <a:spcBef>
          <a:spcPct val="20000"/>
        </a:spcBef>
        <a:buFont typeface="Arial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601901" indent="-153053" algn="l" defTabSz="612212" rtl="0" eaLnBrk="1" latinLnBrk="0" hangingPunct="1">
        <a:spcBef>
          <a:spcPct val="20000"/>
        </a:spcBef>
        <a:buFont typeface="Arial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6107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12212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8318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24424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30531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36637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42742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48848" algn="l" defTabSz="612212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795">
          <p15:clr>
            <a:srgbClr val="F26B43"/>
          </p15:clr>
        </p15:guide>
        <p15:guide id="4" orient="horz" pos="3952">
          <p15:clr>
            <a:srgbClr val="F26B43"/>
          </p15:clr>
        </p15:guide>
        <p15:guide id="5" pos="347">
          <p15:clr>
            <a:srgbClr val="F26B43"/>
          </p15:clr>
        </p15:guide>
        <p15:guide id="6" pos="7333">
          <p15:clr>
            <a:srgbClr val="F26B43"/>
          </p15:clr>
        </p15:guide>
        <p15:guide id="7" orient="horz" pos="640">
          <p15:clr>
            <a:srgbClr val="F26B43"/>
          </p15:clr>
        </p15:guide>
        <p15:guide id="8" pos="6902">
          <p15:clr>
            <a:srgbClr val="F26B43"/>
          </p15:clr>
        </p15:guide>
        <p15:guide id="9" pos="6040">
          <p15:clr>
            <a:srgbClr val="F26B43"/>
          </p15:clr>
        </p15:guide>
        <p15:guide id="10" pos="6471">
          <p15:clr>
            <a:srgbClr val="F26B43"/>
          </p15:clr>
        </p15:guide>
        <p15:guide id="11" pos="5609">
          <p15:clr>
            <a:srgbClr val="F26B43"/>
          </p15:clr>
        </p15:guide>
        <p15:guide id="12" pos="5178">
          <p15:clr>
            <a:srgbClr val="F26B43"/>
          </p15:clr>
        </p15:guide>
        <p15:guide id="13" pos="4747">
          <p15:clr>
            <a:srgbClr val="F26B43"/>
          </p15:clr>
        </p15:guide>
        <p15:guide id="14" pos="3885">
          <p15:clr>
            <a:srgbClr val="F26B43"/>
          </p15:clr>
        </p15:guide>
        <p15:guide id="15" pos="4316">
          <p15:clr>
            <a:srgbClr val="F26B43"/>
          </p15:clr>
        </p15:guide>
        <p15:guide id="16" pos="3364">
          <p15:clr>
            <a:srgbClr val="F26B43"/>
          </p15:clr>
        </p15:guide>
        <p15:guide id="17" pos="2933">
          <p15:clr>
            <a:srgbClr val="F26B43"/>
          </p15:clr>
        </p15:guide>
        <p15:guide id="18" pos="2502">
          <p15:clr>
            <a:srgbClr val="F26B43"/>
          </p15:clr>
        </p15:guide>
        <p15:guide id="19" pos="2071">
          <p15:clr>
            <a:srgbClr val="F26B43"/>
          </p15:clr>
        </p15:guide>
        <p15:guide id="20" pos="1640">
          <p15:clr>
            <a:srgbClr val="F26B43"/>
          </p15:clr>
        </p15:guide>
        <p15:guide id="21" pos="1209">
          <p15:clr>
            <a:srgbClr val="F26B43"/>
          </p15:clr>
        </p15:guide>
        <p15:guide id="22" pos="778">
          <p15:clr>
            <a:srgbClr val="F26B43"/>
          </p15:clr>
        </p15:guide>
        <p15:guide id="23" orient="horz" pos="368">
          <p15:clr>
            <a:srgbClr val="F26B43"/>
          </p15:clr>
        </p15:guide>
        <p15:guide id="24" orient="horz" pos="913">
          <p15:clr>
            <a:srgbClr val="F26B43"/>
          </p15:clr>
        </p15:guide>
        <p15:guide id="25" orient="horz" pos="1185">
          <p15:clr>
            <a:srgbClr val="F26B43"/>
          </p15:clr>
        </p15:guide>
        <p15:guide id="26" orient="horz" pos="1457">
          <p15:clr>
            <a:srgbClr val="F26B43"/>
          </p15:clr>
        </p15:guide>
        <p15:guide id="27" orient="horz" pos="1729">
          <p15:clr>
            <a:srgbClr val="F26B43"/>
          </p15:clr>
        </p15:guide>
        <p15:guide id="28" orient="horz" pos="2001">
          <p15:clr>
            <a:srgbClr val="F26B43"/>
          </p15:clr>
        </p15:guide>
        <p15:guide id="29" orient="horz" pos="2319">
          <p15:clr>
            <a:srgbClr val="F26B43"/>
          </p15:clr>
        </p15:guide>
        <p15:guide id="30" orient="horz" pos="2863">
          <p15:clr>
            <a:srgbClr val="F26B43"/>
          </p15:clr>
        </p15:guide>
        <p15:guide id="31" orient="horz" pos="3135">
          <p15:clr>
            <a:srgbClr val="F26B43"/>
          </p15:clr>
        </p15:guide>
        <p15:guide id="32" orient="horz" pos="3407">
          <p15:clr>
            <a:srgbClr val="F26B43"/>
          </p15:clr>
        </p15:guide>
        <p15:guide id="33" orient="horz" pos="3680">
          <p15:clr>
            <a:srgbClr val="F26B43"/>
          </p15:clr>
        </p15:guide>
        <p15:guide id="35" orient="horz" pos="2591">
          <p15:clr>
            <a:srgbClr val="F26B43"/>
          </p15:clr>
        </p15:guide>
        <p15:guide id="36" orient="horz" pos="216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3DC71E-A752-61DD-4996-3C8B63F26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DB491-69B4-5A7C-4AB1-1614DD08CB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4"/>
            <a:endParaRPr lang="en-CA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E1010EC-696D-D545-4866-5A318B97C35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0942568" y="6412912"/>
            <a:ext cx="672000" cy="252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42E02F-17C1-5808-9236-66DD1393EA0D}"/>
              </a:ext>
            </a:extLst>
          </p:cNvPr>
          <p:cNvSpPr txBox="1"/>
          <p:nvPr userDrawn="1"/>
        </p:nvSpPr>
        <p:spPr>
          <a:xfrm>
            <a:off x="4263887" y="6354246"/>
            <a:ext cx="33393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dirty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C2SIM UXV Extension – Use Cases</a:t>
            </a:r>
            <a:endParaRPr lang="en-CA" sz="1600" b="0" dirty="0">
              <a:latin typeface="Red Hat Display" panose="02010303040201060303" pitchFamily="2" charset="0"/>
              <a:ea typeface="Red Hat Display" panose="02010303040201060303" pitchFamily="2" charset="0"/>
              <a:cs typeface="Red Hat Display" panose="02010303040201060303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2E3DB0-88DA-15AC-46A1-D0477EDBE912}"/>
              </a:ext>
            </a:extLst>
          </p:cNvPr>
          <p:cNvSpPr txBox="1"/>
          <p:nvPr userDrawn="1"/>
        </p:nvSpPr>
        <p:spPr>
          <a:xfrm>
            <a:off x="838200" y="6323598"/>
            <a:ext cx="881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3614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43A35E5-31F2-402C-8CA1-4B5E4AF19C5A}" type="slidenum">
              <a:rPr lang="en-CA" sz="1600" smtClean="0"/>
              <a:pPr marL="0" marR="0" lvl="0" indent="0" algn="l" defTabSz="913614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CA" sz="1600" dirty="0"/>
          </a:p>
        </p:txBody>
      </p:sp>
    </p:spTree>
    <p:extLst>
      <p:ext uri="{BB962C8B-B14F-4D97-AF65-F5344CB8AC3E}">
        <p14:creationId xmlns:p14="http://schemas.microsoft.com/office/powerpoint/2010/main" val="1940108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0" r:id="rId1"/>
    <p:sldLayoutId id="2147484071" r:id="rId2"/>
    <p:sldLayoutId id="2147484072" r:id="rId3"/>
    <p:sldLayoutId id="2147484073" r:id="rId4"/>
    <p:sldLayoutId id="2147484074" r:id="rId5"/>
    <p:sldLayoutId id="2147484075" r:id="rId6"/>
    <p:sldLayoutId id="2147484076" r:id="rId7"/>
    <p:sldLayoutId id="2147484077" r:id="rId8"/>
    <p:sldLayoutId id="2147484078" r:id="rId9"/>
    <p:sldLayoutId id="2147484079" r:id="rId10"/>
    <p:sldLayoutId id="214748408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Red Hat Display Light" panose="02010303040201060303" pitchFamily="2" charset="0"/>
          <a:ea typeface="Red Hat Display Light" panose="02010303040201060303" pitchFamily="2" charset="0"/>
          <a:cs typeface="Red Hat Display Light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mp"/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tmp"/><Relationship Id="rId4" Type="http://schemas.openxmlformats.org/officeDocument/2006/relationships/image" Target="../media/image7.tmp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880D755-0639-D1CE-8B23-3D420E392C12}"/>
              </a:ext>
            </a:extLst>
          </p:cNvPr>
          <p:cNvGrpSpPr/>
          <p:nvPr/>
        </p:nvGrpSpPr>
        <p:grpSpPr>
          <a:xfrm>
            <a:off x="609097" y="1663311"/>
            <a:ext cx="8469671" cy="3644428"/>
            <a:chOff x="790468" y="544276"/>
            <a:chExt cx="8469671" cy="3644428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6749BA1-5E89-057E-BEBC-2AA865BFD04F}"/>
                </a:ext>
              </a:extLst>
            </p:cNvPr>
            <p:cNvSpPr txBox="1"/>
            <p:nvPr/>
          </p:nvSpPr>
          <p:spPr>
            <a:xfrm>
              <a:off x="790468" y="3543143"/>
              <a:ext cx="4068762" cy="645561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dirty="0">
                  <a:solidFill>
                    <a:schemeClr val="bg1"/>
                  </a:solidFill>
                  <a:ea typeface="Montserrat Medium" charset="0"/>
                  <a:cs typeface="Montserrat Medium" charset="0"/>
                </a:rPr>
                <a:t>Presentation to the C2SIM ASX Group</a:t>
              </a:r>
            </a:p>
            <a:p>
              <a:pPr>
                <a:lnSpc>
                  <a:spcPct val="120000"/>
                </a:lnSpc>
              </a:pPr>
              <a:r>
                <a:rPr lang="en-US" dirty="0">
                  <a:solidFill>
                    <a:schemeClr val="bg1"/>
                  </a:solidFill>
                  <a:ea typeface="Montserrat Medium" charset="0"/>
                  <a:cs typeface="Montserrat Medium" charset="0"/>
                </a:rPr>
                <a:t>Elizabeth Hosang, November 2025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83C8E09-94F3-EC16-B78D-0EC7330B352D}"/>
                </a:ext>
              </a:extLst>
            </p:cNvPr>
            <p:cNvSpPr txBox="1"/>
            <p:nvPr/>
          </p:nvSpPr>
          <p:spPr>
            <a:xfrm>
              <a:off x="860042" y="544276"/>
              <a:ext cx="8400097" cy="201978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80000"/>
                </a:lnSpc>
              </a:pPr>
              <a:r>
                <a:rPr lang="en-US" sz="5400" b="1" dirty="0">
                  <a:solidFill>
                    <a:schemeClr val="bg1"/>
                  </a:solidFill>
                  <a:ea typeface="Bebas Neue" charset="0"/>
                  <a:cs typeface="Bebas Neue" charset="0"/>
                </a:rPr>
                <a:t>ASX Extension – Use Cases and Derived Entities</a:t>
              </a:r>
            </a:p>
          </p:txBody>
        </p:sp>
      </p:grpSp>
      <p:pic>
        <p:nvPicPr>
          <p:cNvPr id="14" name="Picture 13" descr="A black and white logo&#10;&#10;Description automatically generated with low confidence">
            <a:extLst>
              <a:ext uri="{FF2B5EF4-FFF2-40B4-BE49-F238E27FC236}">
                <a16:creationId xmlns:a16="http://schemas.microsoft.com/office/drawing/2014/main" id="{076E4E16-88AC-6A50-5A4F-C0764FA74C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7942" y="6273800"/>
            <a:ext cx="976261" cy="56694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4917C6-569B-543B-D232-2D53314B63FB}"/>
              </a:ext>
            </a:extLst>
          </p:cNvPr>
          <p:cNvCxnSpPr>
            <a:cxnSpLocks/>
          </p:cNvCxnSpPr>
          <p:nvPr/>
        </p:nvCxnSpPr>
        <p:spPr>
          <a:xfrm>
            <a:off x="0" y="4452691"/>
            <a:ext cx="7535863" cy="0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731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1091DA3-6E04-49F6-BC90-86C72E43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Outline</a:t>
            </a:r>
            <a:endParaRPr lang="en-CA" dirty="0">
              <a:latin typeface="Red Hat Display Light" panose="02010303040201060303" pitchFamily="2" charset="0"/>
              <a:ea typeface="Red Hat Display Light" panose="02010303040201060303" pitchFamily="2" charset="0"/>
              <a:cs typeface="Red Hat Display Light" panose="02010303040201060303" pitchFamily="2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609E316-C619-624B-3A87-11C65B92D6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b="1" dirty="0"/>
              <a:t>C2SIM Overview</a:t>
            </a:r>
          </a:p>
          <a:p>
            <a:r>
              <a:rPr lang="en-US" sz="2000" dirty="0" err="1"/>
              <a:t>ReportBody</a:t>
            </a:r>
            <a:endParaRPr lang="en-US" sz="2000" dirty="0"/>
          </a:p>
          <a:p>
            <a:r>
              <a:rPr lang="en-US" sz="2000" dirty="0" err="1"/>
              <a:t>OrderBody</a:t>
            </a:r>
            <a:endParaRPr lang="en-US" sz="2000" dirty="0"/>
          </a:p>
          <a:p>
            <a:r>
              <a:rPr lang="en-US" sz="2000" dirty="0"/>
              <a:t>C2SIMInitializationBody</a:t>
            </a:r>
          </a:p>
        </p:txBody>
      </p:sp>
    </p:spTree>
    <p:extLst>
      <p:ext uri="{BB962C8B-B14F-4D97-AF65-F5344CB8AC3E}">
        <p14:creationId xmlns:p14="http://schemas.microsoft.com/office/powerpoint/2010/main" val="21420247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07114-DB32-1639-B829-D95DE0680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0A7C7-C82F-DA05-B77A-94E6D3A8C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C2SIM Models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9E148-75E3-050B-82D4-7501A61E9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This presentation presents the rationale for the proposed ASX extension to the C2SIM model.</a:t>
            </a:r>
          </a:p>
          <a:p>
            <a:r>
              <a:rPr lang="en-US" sz="2400" dirty="0"/>
              <a:t>The current C2SIM standard consists of the following models:</a:t>
            </a:r>
          </a:p>
          <a:p>
            <a:pPr lvl="1"/>
            <a:r>
              <a:rPr lang="en-US" sz="2000" dirty="0"/>
              <a:t>C2SIM – Core Ontology</a:t>
            </a:r>
          </a:p>
          <a:p>
            <a:pPr lvl="1"/>
            <a:r>
              <a:rPr lang="en-US" sz="2000" dirty="0"/>
              <a:t>SMX - Standard Military Extension</a:t>
            </a:r>
          </a:p>
          <a:p>
            <a:pPr lvl="1"/>
            <a:r>
              <a:rPr lang="en-US" sz="2000" dirty="0"/>
              <a:t>LOX - Land Operations Extension</a:t>
            </a:r>
          </a:p>
          <a:p>
            <a:r>
              <a:rPr lang="en-US" sz="2400" dirty="0"/>
              <a:t>The proposed extension would be labelled C2SIM_ASX.</a:t>
            </a:r>
            <a:endParaRPr lang="en-US" sz="2000" dirty="0"/>
          </a:p>
          <a:p>
            <a:r>
              <a:rPr lang="en-US" sz="2400" dirty="0"/>
              <a:t>Unless otherwise specified, types are defined in the C2SIM model.</a:t>
            </a:r>
          </a:p>
          <a:p>
            <a:pPr lvl="1"/>
            <a:r>
              <a:rPr lang="en-US" sz="2000" dirty="0"/>
              <a:t>Types defined in other models are followed by the model that defines them in brackets.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51337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3DD5C-2917-BB30-E2AB-0E47D2182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C2SIM Message Base Classes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964BD-BE85-9717-34FC-B5CF43DBD2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The base type for C2SIM messaging is the Message (C2SIM).</a:t>
            </a:r>
          </a:p>
          <a:p>
            <a:r>
              <a:rPr lang="en-US" sz="2400" dirty="0"/>
              <a:t>It has two attributes:</a:t>
            </a:r>
          </a:p>
          <a:p>
            <a:pPr lvl="1"/>
            <a:r>
              <a:rPr lang="en-US" sz="2000" dirty="0"/>
              <a:t>C2SIMHeader (C2SIM)</a:t>
            </a:r>
          </a:p>
          <a:p>
            <a:pPr lvl="1"/>
            <a:r>
              <a:rPr lang="en-US" sz="2000" dirty="0" err="1"/>
              <a:t>MessageBody</a:t>
            </a:r>
            <a:r>
              <a:rPr lang="en-US" sz="2000" dirty="0"/>
              <a:t> (C2SIM)</a:t>
            </a:r>
          </a:p>
          <a:p>
            <a:r>
              <a:rPr lang="en-US" sz="2400" dirty="0"/>
              <a:t>The C2SIMHeader is standard, so it is not dealt with further in these slides.</a:t>
            </a:r>
          </a:p>
          <a:p>
            <a:r>
              <a:rPr lang="en-US" sz="2400" dirty="0"/>
              <a:t>The </a:t>
            </a:r>
            <a:r>
              <a:rPr lang="en-US" sz="2400" dirty="0" err="1"/>
              <a:t>MessageBody</a:t>
            </a:r>
            <a:r>
              <a:rPr lang="en-US" sz="2400" dirty="0"/>
              <a:t> is the parent class for Orders, Reports, Acknowledgements and Initialization messages.</a:t>
            </a:r>
          </a:p>
          <a:p>
            <a:r>
              <a:rPr lang="en-US" sz="2400" dirty="0"/>
              <a:t>The ASX work focuses on expanding the </a:t>
            </a:r>
            <a:r>
              <a:rPr lang="en-US" sz="2400" dirty="0" err="1"/>
              <a:t>MessageBody</a:t>
            </a:r>
            <a:r>
              <a:rPr lang="en-US" sz="2400" dirty="0"/>
              <a:t> class to represent Unpiloted vehicles.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73722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44A7C-791A-CCA9-7C24-D007E8955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C2SIM Base Classes</a:t>
            </a:r>
            <a:endParaRPr lang="en-CA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71CDF1-618C-1BD1-5755-DF5497501A20}"/>
              </a:ext>
            </a:extLst>
          </p:cNvPr>
          <p:cNvGrpSpPr/>
          <p:nvPr/>
        </p:nvGrpSpPr>
        <p:grpSpPr>
          <a:xfrm>
            <a:off x="2129073" y="2061530"/>
            <a:ext cx="7933854" cy="3681153"/>
            <a:chOff x="1833688" y="1898970"/>
            <a:chExt cx="7933854" cy="3681153"/>
          </a:xfrm>
        </p:grpSpPr>
        <p:pic>
          <p:nvPicPr>
            <p:cNvPr id="4" name="Picture 3" descr="Screen Clipping">
              <a:extLst>
                <a:ext uri="{FF2B5EF4-FFF2-40B4-BE49-F238E27FC236}">
                  <a16:creationId xmlns:a16="http://schemas.microsoft.com/office/drawing/2014/main" id="{A3E6B516-EDFF-AF4F-C3E8-3755B80D05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28437" y="1898970"/>
              <a:ext cx="2780517" cy="995133"/>
            </a:xfrm>
            <a:prstGeom prst="rect">
              <a:avLst/>
            </a:prstGeom>
          </p:spPr>
        </p:pic>
        <p:pic>
          <p:nvPicPr>
            <p:cNvPr id="5" name="Picture 4" descr="Screen Clipping">
              <a:extLst>
                <a:ext uri="{FF2B5EF4-FFF2-40B4-BE49-F238E27FC236}">
                  <a16:creationId xmlns:a16="http://schemas.microsoft.com/office/drawing/2014/main" id="{42656FC4-311A-1193-F85B-0749BA1BD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33688" y="3258370"/>
              <a:ext cx="2541029" cy="2321753"/>
            </a:xfrm>
            <a:prstGeom prst="rect">
              <a:avLst/>
            </a:prstGeom>
          </p:spPr>
        </p:pic>
        <p:pic>
          <p:nvPicPr>
            <p:cNvPr id="6" name="Picture 5" descr="Screen Clipping">
              <a:extLst>
                <a:ext uri="{FF2B5EF4-FFF2-40B4-BE49-F238E27FC236}">
                  <a16:creationId xmlns:a16="http://schemas.microsoft.com/office/drawing/2014/main" id="{B9EBE090-84E1-9DBE-E067-19B6FF010F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08954" y="3396375"/>
              <a:ext cx="2458588" cy="1160231"/>
            </a:xfrm>
            <a:prstGeom prst="rect">
              <a:avLst/>
            </a:prstGeom>
          </p:spPr>
        </p:pic>
        <p:pic>
          <p:nvPicPr>
            <p:cNvPr id="7" name="Picture 6" descr="Screen Clipping">
              <a:extLst>
                <a:ext uri="{FF2B5EF4-FFF2-40B4-BE49-F238E27FC236}">
                  <a16:creationId xmlns:a16="http://schemas.microsoft.com/office/drawing/2014/main" id="{33304AF4-9184-ADA3-BDDB-69DFA6A5792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58716" y="3708101"/>
              <a:ext cx="2026096" cy="1422292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CE446B6-4924-50E0-32C6-0076127E6899}"/>
                </a:ext>
              </a:extLst>
            </p:cNvPr>
            <p:cNvCxnSpPr>
              <a:cxnSpLocks/>
              <a:endCxn id="5" idx="0"/>
            </p:cNvCxnSpPr>
            <p:nvPr/>
          </p:nvCxnSpPr>
          <p:spPr>
            <a:xfrm flipH="1">
              <a:off x="3104203" y="2261005"/>
              <a:ext cx="2063139" cy="9973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B5B954D-432B-476D-9FBE-5A30C9166DDF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>
              <a:off x="7143713" y="2483368"/>
              <a:ext cx="1394535" cy="91300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Elbow Connector 14">
              <a:extLst>
                <a:ext uri="{FF2B5EF4-FFF2-40B4-BE49-F238E27FC236}">
                  <a16:creationId xmlns:a16="http://schemas.microsoft.com/office/drawing/2014/main" id="{892CC7C2-CECD-3738-DE81-F7ECFE457663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5007482" y="2987759"/>
              <a:ext cx="939574" cy="501110"/>
            </a:xfrm>
            <a:prstGeom prst="bentConnector3">
              <a:avLst>
                <a:gd name="adj1" fmla="val 50000"/>
              </a:avLst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712C77B5-569F-7A68-09EB-4F4441263D45}"/>
              </a:ext>
            </a:extLst>
          </p:cNvPr>
          <p:cNvSpPr/>
          <p:nvPr/>
        </p:nvSpPr>
        <p:spPr>
          <a:xfrm>
            <a:off x="5222240" y="4290486"/>
            <a:ext cx="1923198" cy="261194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46D9C2B-8514-1FF5-F4D9-24B91AF995E7}"/>
              </a:ext>
            </a:extLst>
          </p:cNvPr>
          <p:cNvSpPr/>
          <p:nvPr/>
        </p:nvSpPr>
        <p:spPr>
          <a:xfrm>
            <a:off x="5222240" y="4551679"/>
            <a:ext cx="1923198" cy="222027"/>
          </a:xfrm>
          <a:prstGeom prst="rect">
            <a:avLst/>
          </a:prstGeom>
          <a:noFill/>
          <a:ln w="254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51191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1EBD0-F714-BF05-3F01-2878FC726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MessageBody</a:t>
            </a:r>
            <a:r>
              <a:rPr lang="en-US" dirty="0"/>
              <a:t> Types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625CF-859D-51CF-3B01-2433751C88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MessageBody</a:t>
            </a:r>
            <a:r>
              <a:rPr lang="en-US" dirty="0"/>
              <a:t>  has the following subclasses:</a:t>
            </a:r>
          </a:p>
          <a:p>
            <a:pPr lvl="1"/>
            <a:r>
              <a:rPr lang="en-US" dirty="0" err="1"/>
              <a:t>DomainMessageBody</a:t>
            </a:r>
            <a:endParaRPr lang="en-US" dirty="0"/>
          </a:p>
          <a:p>
            <a:pPr lvl="2"/>
            <a:r>
              <a:rPr lang="en-US" dirty="0" err="1"/>
              <a:t>ReportBody</a:t>
            </a:r>
            <a:endParaRPr lang="en-US" dirty="0"/>
          </a:p>
          <a:p>
            <a:pPr lvl="2"/>
            <a:r>
              <a:rPr lang="en-US" dirty="0" err="1"/>
              <a:t>OrderBody</a:t>
            </a:r>
            <a:endParaRPr lang="en-US" dirty="0"/>
          </a:p>
          <a:p>
            <a:pPr lvl="2"/>
            <a:r>
              <a:rPr lang="en-US" dirty="0" err="1"/>
              <a:t>RequestBody</a:t>
            </a:r>
            <a:endParaRPr lang="en-US" dirty="0"/>
          </a:p>
          <a:p>
            <a:pPr lvl="2"/>
            <a:r>
              <a:rPr lang="en-US" dirty="0" err="1"/>
              <a:t>AcknowledgementBody</a:t>
            </a:r>
            <a:endParaRPr lang="en-US" dirty="0"/>
          </a:p>
          <a:p>
            <a:pPr lvl="1"/>
            <a:r>
              <a:rPr lang="en-US" dirty="0"/>
              <a:t>C2SIMInitializationBody</a:t>
            </a:r>
          </a:p>
          <a:p>
            <a:r>
              <a:rPr lang="en-US" dirty="0"/>
              <a:t>This project is focused on </a:t>
            </a:r>
            <a:r>
              <a:rPr lang="en-US" dirty="0" err="1"/>
              <a:t>ReportBody</a:t>
            </a:r>
            <a:r>
              <a:rPr lang="en-US" dirty="0"/>
              <a:t>, </a:t>
            </a:r>
            <a:r>
              <a:rPr lang="en-US" dirty="0" err="1"/>
              <a:t>OrderBody</a:t>
            </a:r>
            <a:r>
              <a:rPr lang="en-US" dirty="0"/>
              <a:t>, and C2SIMInitializationBody, and what types are needed to issue messages related to Autonomous vehicles.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714287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A37D-4E71-4D6F-13AD-DDD79DD2F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B4EF6B4-396B-30A9-D440-F4977B9E9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Outline</a:t>
            </a:r>
            <a:endParaRPr lang="en-CA" dirty="0">
              <a:latin typeface="Red Hat Display Light" panose="02010303040201060303" pitchFamily="2" charset="0"/>
              <a:ea typeface="Red Hat Display Light" panose="02010303040201060303" pitchFamily="2" charset="0"/>
              <a:cs typeface="Red Hat Display Light" panose="02010303040201060303" pitchFamily="2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9CF1BB8-948C-3F39-E87B-2CFF4502F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C2SIM Overview</a:t>
            </a:r>
          </a:p>
          <a:p>
            <a:r>
              <a:rPr lang="en-US" sz="2000" b="1" dirty="0" err="1"/>
              <a:t>ReportBody</a:t>
            </a:r>
            <a:endParaRPr lang="en-US" sz="2000" b="1" dirty="0"/>
          </a:p>
          <a:p>
            <a:r>
              <a:rPr lang="en-US" sz="2000" dirty="0" err="1"/>
              <a:t>OrderBody</a:t>
            </a:r>
            <a:endParaRPr lang="en-US" sz="2000" dirty="0"/>
          </a:p>
          <a:p>
            <a:r>
              <a:rPr lang="en-US" sz="2000" dirty="0"/>
              <a:t>C2SIMInitializationBody</a:t>
            </a:r>
          </a:p>
        </p:txBody>
      </p:sp>
    </p:spTree>
    <p:extLst>
      <p:ext uri="{BB962C8B-B14F-4D97-AF65-F5344CB8AC3E}">
        <p14:creationId xmlns:p14="http://schemas.microsoft.com/office/powerpoint/2010/main" val="1351352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E8FCA-D790-0210-1C40-8BBB28B87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ReportBody</a:t>
            </a:r>
            <a:r>
              <a:rPr lang="en-US" dirty="0"/>
              <a:t> Class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912CC-4A4D-FFE8-4616-B3314CAFA8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Reports send Situational Awareness (SA) information from Areas of Operation to C2 units, allowing Commanders to adapt their tactics based on current conditions.</a:t>
            </a:r>
          </a:p>
          <a:p>
            <a:r>
              <a:rPr lang="en-US" dirty="0"/>
              <a:t>The </a:t>
            </a:r>
            <a:r>
              <a:rPr lang="en-US" dirty="0" err="1"/>
              <a:t>ReportBody</a:t>
            </a:r>
            <a:r>
              <a:rPr lang="en-US" dirty="0"/>
              <a:t> is a subclass of </a:t>
            </a:r>
            <a:r>
              <a:rPr lang="en-US" dirty="0" err="1"/>
              <a:t>MessageBody</a:t>
            </a:r>
            <a:r>
              <a:rPr lang="en-US" dirty="0"/>
              <a:t>, and can be used as the </a:t>
            </a:r>
            <a:r>
              <a:rPr lang="en-US" dirty="0" err="1"/>
              <a:t>MessageBody</a:t>
            </a:r>
            <a:r>
              <a:rPr lang="en-US" dirty="0"/>
              <a:t> value of Message.</a:t>
            </a:r>
          </a:p>
          <a:p>
            <a:r>
              <a:rPr lang="en-US" dirty="0"/>
              <a:t>Its main attribute is an instance of </a:t>
            </a:r>
            <a:r>
              <a:rPr lang="en-US" dirty="0" err="1"/>
              <a:t>ReportContent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544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5D79AE-336A-B116-F1BC-706EE7014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Reports Class Diagram</a:t>
            </a: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56A157-8988-819B-D1F4-981B2FB89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8239" y="1291479"/>
            <a:ext cx="7335521" cy="5201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7009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EA339-E8AA-73B9-557F-2AD43C790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ReportContent</a:t>
            </a:r>
            <a:r>
              <a:rPr lang="en-US" dirty="0"/>
              <a:t> Class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39DF6-24BA-7196-12A8-E8828BE1CE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ReportContent</a:t>
            </a:r>
            <a:r>
              <a:rPr lang="en-US" dirty="0"/>
              <a:t> (C2SIM) is a subclass of </a:t>
            </a:r>
            <a:r>
              <a:rPr lang="en-US" dirty="0" err="1"/>
              <a:t>MessageConcept</a:t>
            </a:r>
            <a:r>
              <a:rPr lang="en-US" dirty="0"/>
              <a:t>.</a:t>
            </a:r>
          </a:p>
          <a:p>
            <a:r>
              <a:rPr lang="en-US" dirty="0" err="1"/>
              <a:t>ReportContent</a:t>
            </a:r>
            <a:r>
              <a:rPr lang="en-US" dirty="0"/>
              <a:t> has the following subclasses:</a:t>
            </a:r>
          </a:p>
          <a:p>
            <a:pPr lvl="1"/>
            <a:r>
              <a:rPr lang="en-US" dirty="0" err="1"/>
              <a:t>ObservationReportContent</a:t>
            </a:r>
            <a:r>
              <a:rPr lang="en-US" dirty="0"/>
              <a:t> (SMX)</a:t>
            </a:r>
          </a:p>
          <a:p>
            <a:pPr lvl="1"/>
            <a:r>
              <a:rPr lang="en-US" dirty="0" err="1"/>
              <a:t>PositionReportContent</a:t>
            </a:r>
            <a:r>
              <a:rPr lang="en-US" dirty="0"/>
              <a:t> (SMX)</a:t>
            </a:r>
          </a:p>
          <a:p>
            <a:pPr lvl="1"/>
            <a:r>
              <a:rPr lang="en-US" dirty="0" err="1"/>
              <a:t>TaskStatus</a:t>
            </a:r>
            <a:r>
              <a:rPr lang="en-US" dirty="0"/>
              <a:t> (C2SIM)</a:t>
            </a:r>
          </a:p>
          <a:p>
            <a:pPr lvl="1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238212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11C9-3753-F648-5ADE-CA912A3F9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ObservationReportContent</a:t>
            </a:r>
            <a:r>
              <a:rPr lang="en-US" dirty="0"/>
              <a:t> &amp; Observation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11A0E-0659-B43C-FD5D-A7E4293AA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Observation (SMX) and its subclasses are defined in the SMX model.</a:t>
            </a:r>
          </a:p>
          <a:p>
            <a:r>
              <a:rPr lang="en-US" dirty="0" err="1"/>
              <a:t>ObservationReportContent</a:t>
            </a:r>
            <a:r>
              <a:rPr lang="en-US" dirty="0"/>
              <a:t> (SMX) has an attribute of </a:t>
            </a:r>
            <a:r>
              <a:rPr lang="en-US" dirty="0" err="1"/>
              <a:t>hasObservation</a:t>
            </a:r>
            <a:r>
              <a:rPr lang="en-US" dirty="0"/>
              <a:t> of type Observation.</a:t>
            </a:r>
          </a:p>
          <a:p>
            <a:r>
              <a:rPr lang="en-US" dirty="0"/>
              <a:t>Observation has subclasses for different types of observations:</a:t>
            </a:r>
          </a:p>
          <a:p>
            <a:pPr lvl="1"/>
            <a:r>
              <a:rPr lang="en-US" dirty="0" err="1"/>
              <a:t>ActivityObservation</a:t>
            </a:r>
            <a:endParaRPr lang="en-US" dirty="0"/>
          </a:p>
          <a:p>
            <a:pPr lvl="1"/>
            <a:r>
              <a:rPr lang="en-US" dirty="0" err="1"/>
              <a:t>HealthObservation</a:t>
            </a:r>
            <a:endParaRPr lang="en-US" dirty="0"/>
          </a:p>
          <a:p>
            <a:pPr lvl="1"/>
            <a:r>
              <a:rPr lang="en-US" dirty="0" err="1"/>
              <a:t>LocationObservation</a:t>
            </a:r>
            <a:endParaRPr lang="en-US" dirty="0"/>
          </a:p>
          <a:p>
            <a:pPr lvl="1"/>
            <a:r>
              <a:rPr lang="en-US" dirty="0" err="1"/>
              <a:t>NameObservation</a:t>
            </a:r>
            <a:endParaRPr lang="en-US" dirty="0"/>
          </a:p>
          <a:p>
            <a:pPr lvl="1"/>
            <a:r>
              <a:rPr lang="en-US" dirty="0" err="1"/>
              <a:t>ResourceObservation</a:t>
            </a:r>
            <a:endParaRPr lang="en-US" dirty="0"/>
          </a:p>
          <a:p>
            <a:pPr lvl="1"/>
            <a:r>
              <a:rPr lang="en-US" dirty="0" err="1"/>
              <a:t>SubjectTypeObservation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374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F31F8-5953-46FB-3CD8-A7C0B0239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 Types</a:t>
            </a:r>
            <a:endParaRPr lang="en-CA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075E65-2097-5FF9-E682-F1F4E6721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177" y="1690688"/>
            <a:ext cx="9589646" cy="4611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9969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7DD85-B710-2D63-64B2-F9CB792E0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 Message Contents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864DB-519F-F0AE-45D6-CB7942BB9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ReportBody</a:t>
            </a:r>
            <a:r>
              <a:rPr lang="en-US" dirty="0"/>
              <a:t> (C2SIM) can have one or more </a:t>
            </a:r>
            <a:r>
              <a:rPr lang="en-US" dirty="0" err="1"/>
              <a:t>ReportContent</a:t>
            </a:r>
            <a:r>
              <a:rPr lang="en-US" dirty="0"/>
              <a:t> (C2SIM) instances.</a:t>
            </a:r>
          </a:p>
          <a:p>
            <a:r>
              <a:rPr lang="en-US" dirty="0"/>
              <a:t>Therefore, a single message can contain multiple </a:t>
            </a:r>
            <a:r>
              <a:rPr lang="en-US" dirty="0" err="1"/>
              <a:t>ObservationReportContent</a:t>
            </a:r>
            <a:r>
              <a:rPr lang="en-US" dirty="0"/>
              <a:t> (SMX) instances.</a:t>
            </a:r>
          </a:p>
          <a:p>
            <a:r>
              <a:rPr lang="en-US" dirty="0"/>
              <a:t>Alternately, a message may contain one </a:t>
            </a:r>
            <a:r>
              <a:rPr lang="en-US" dirty="0" err="1"/>
              <a:t>ObservationReportContent</a:t>
            </a:r>
            <a:r>
              <a:rPr lang="en-US" dirty="0"/>
              <a:t> instance with multiple Observation subclass instances.</a:t>
            </a:r>
          </a:p>
          <a:p>
            <a:r>
              <a:rPr lang="en-US" dirty="0"/>
              <a:t>For example, a message reporting on observed hostile forces could contain an </a:t>
            </a:r>
            <a:r>
              <a:rPr lang="en-US" dirty="0" err="1"/>
              <a:t>ActivityReport</a:t>
            </a:r>
            <a:r>
              <a:rPr lang="en-US" dirty="0"/>
              <a:t> and a </a:t>
            </a:r>
            <a:r>
              <a:rPr lang="en-US" dirty="0" err="1"/>
              <a:t>LocationReport</a:t>
            </a:r>
            <a:r>
              <a:rPr lang="en-US" dirty="0"/>
              <a:t>.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80102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15CC8-8357-11AE-052F-4A8E3E03D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Video recording of riot detected by AI </a:t>
            </a:r>
            <a:r>
              <a:rPr lang="en-US"/>
              <a:t>analysis on-board UAV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BDE01-295B-3FEC-9EE2-26735133B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26135"/>
          </a:xfrm>
        </p:spPr>
        <p:txBody>
          <a:bodyPr/>
          <a:lstStyle/>
          <a:p>
            <a:r>
              <a:rPr lang="en-US" dirty="0"/>
              <a:t>Report needs to include the following information.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52B023F-C968-7E7E-E0CC-6AA2CE8CFF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5451224"/>
              </p:ext>
            </p:extLst>
          </p:nvPr>
        </p:nvGraphicFramePr>
        <p:xfrm>
          <a:off x="1717040" y="2786697"/>
          <a:ext cx="8128000" cy="1483360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20348478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6927821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Information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ReportContent</a:t>
                      </a:r>
                      <a:r>
                        <a:rPr lang="en-US" dirty="0"/>
                        <a:t> subclass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5429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Riot in progress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ActivityObservation</a:t>
                      </a:r>
                      <a:r>
                        <a:rPr lang="en-US" dirty="0"/>
                        <a:t> (SMX)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95290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Location of riot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LocationObservation</a:t>
                      </a:r>
                      <a:r>
                        <a:rPr lang="en-US" dirty="0"/>
                        <a:t> (SMX)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0058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Reference to video </a:t>
                      </a:r>
                      <a:endParaRPr lang="en-CA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MediaObservation</a:t>
                      </a:r>
                      <a:r>
                        <a:rPr lang="en-US" dirty="0"/>
                        <a:t> (ASX)</a:t>
                      </a:r>
                      <a:endParaRPr lang="en-CA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9994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46702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1091DA3-6E04-49F6-BC90-86C72E43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Outline</a:t>
            </a:r>
            <a:endParaRPr lang="en-CA" dirty="0">
              <a:latin typeface="Red Hat Display Light" panose="02010303040201060303" pitchFamily="2" charset="0"/>
              <a:ea typeface="Red Hat Display Light" panose="02010303040201060303" pitchFamily="2" charset="0"/>
              <a:cs typeface="Red Hat Display Light" panose="02010303040201060303" pitchFamily="2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609E316-C619-624B-3A87-11C65B92D6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C2SIM Overview</a:t>
            </a:r>
          </a:p>
          <a:p>
            <a:r>
              <a:rPr lang="en-US" sz="2000" dirty="0" err="1"/>
              <a:t>ReportBody</a:t>
            </a:r>
            <a:endParaRPr lang="en-US" sz="2000" dirty="0"/>
          </a:p>
          <a:p>
            <a:r>
              <a:rPr lang="en-US" sz="2000" b="1" dirty="0" err="1"/>
              <a:t>OrderBody</a:t>
            </a:r>
            <a:endParaRPr lang="en-US" sz="2000" b="1" dirty="0"/>
          </a:p>
          <a:p>
            <a:r>
              <a:rPr lang="en-US" sz="2000" dirty="0"/>
              <a:t>C2SIMInitializationBody</a:t>
            </a:r>
          </a:p>
          <a:p>
            <a:endParaRPr lang="en-CA" sz="2000" dirty="0"/>
          </a:p>
        </p:txBody>
      </p:sp>
    </p:spTree>
    <p:extLst>
      <p:ext uri="{BB962C8B-B14F-4D97-AF65-F5344CB8AC3E}">
        <p14:creationId xmlns:p14="http://schemas.microsoft.com/office/powerpoint/2010/main" val="28192482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D0EA6-7C8B-E9CD-7ECD-0CBDF5A1B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OrderBody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08A74-92C7-458D-7849-A767CA979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82885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62B11-8499-1D1B-915E-382102EB7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084753-6A86-533F-5952-8E5ABE2DF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Outline</a:t>
            </a:r>
            <a:endParaRPr lang="en-CA" dirty="0">
              <a:latin typeface="Red Hat Display Light" panose="02010303040201060303" pitchFamily="2" charset="0"/>
              <a:ea typeface="Red Hat Display Light" panose="02010303040201060303" pitchFamily="2" charset="0"/>
              <a:cs typeface="Red Hat Display Light" panose="02010303040201060303" pitchFamily="2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AECCF61-A5FF-229C-252E-28518E1ACD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C2SIM Overview</a:t>
            </a:r>
          </a:p>
          <a:p>
            <a:r>
              <a:rPr lang="en-US" sz="2000" dirty="0" err="1"/>
              <a:t>ReportBody</a:t>
            </a:r>
            <a:endParaRPr lang="en-US" sz="2000" dirty="0"/>
          </a:p>
          <a:p>
            <a:r>
              <a:rPr lang="en-US" sz="2000" dirty="0" err="1"/>
              <a:t>OrderBody</a:t>
            </a:r>
            <a:endParaRPr lang="en-US" sz="2000" dirty="0"/>
          </a:p>
          <a:p>
            <a:r>
              <a:rPr lang="en-US" sz="2000" b="1" dirty="0"/>
              <a:t>C2SIMInitializationBody</a:t>
            </a:r>
          </a:p>
          <a:p>
            <a:endParaRPr lang="en-CA" sz="2000" dirty="0"/>
          </a:p>
        </p:txBody>
      </p:sp>
    </p:spTree>
    <p:extLst>
      <p:ext uri="{BB962C8B-B14F-4D97-AF65-F5344CB8AC3E}">
        <p14:creationId xmlns:p14="http://schemas.microsoft.com/office/powerpoint/2010/main" val="16204388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C42B7-9AFF-D5DB-FA04-D8F40850A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C2SIMInitializationBody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9689A-90DA-8930-443D-0854A3761C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9909971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C1CE6-10CC-076C-8224-77EF53866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Terminology – as used in this doc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98902E-D327-7910-96C1-AAB4C4B0D7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 – Single platform, whether Autonomous or Piloted</a:t>
            </a:r>
          </a:p>
          <a:p>
            <a:r>
              <a:rPr lang="en-US" dirty="0"/>
              <a:t>Swarm – One or more Units working together </a:t>
            </a:r>
            <a:r>
              <a:rPr lang="en-US"/>
              <a:t>to achieve a common mission.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17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83C8E09-94F3-EC16-B78D-0EC7330B352D}"/>
              </a:ext>
            </a:extLst>
          </p:cNvPr>
          <p:cNvSpPr txBox="1"/>
          <p:nvPr/>
        </p:nvSpPr>
        <p:spPr>
          <a:xfrm>
            <a:off x="579279" y="2438563"/>
            <a:ext cx="8400097" cy="8435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sz="6600" b="1">
                <a:solidFill>
                  <a:schemeClr val="bg1"/>
                </a:solidFill>
                <a:ea typeface="Bebas Neue" charset="0"/>
                <a:cs typeface="Bebas Neue" charset="0"/>
              </a:rPr>
              <a:t>Thank you!</a:t>
            </a:r>
          </a:p>
        </p:txBody>
      </p:sp>
      <p:pic>
        <p:nvPicPr>
          <p:cNvPr id="14" name="Picture 13" descr="A black and white logo&#10;&#10;Description automatically generated with low confidence">
            <a:extLst>
              <a:ext uri="{FF2B5EF4-FFF2-40B4-BE49-F238E27FC236}">
                <a16:creationId xmlns:a16="http://schemas.microsoft.com/office/drawing/2014/main" id="{076E4E16-88AC-6A50-5A4F-C0764FA74C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7942" y="6273800"/>
            <a:ext cx="976261" cy="56694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4917C6-569B-543B-D232-2D53314B63FB}"/>
              </a:ext>
            </a:extLst>
          </p:cNvPr>
          <p:cNvCxnSpPr>
            <a:cxnSpLocks/>
          </p:cNvCxnSpPr>
          <p:nvPr/>
        </p:nvCxnSpPr>
        <p:spPr>
          <a:xfrm>
            <a:off x="0" y="3428960"/>
            <a:ext cx="7535863" cy="0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7328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0A0FCD5-9692-CF49-F1C6-06DE2609F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Acronyms (to be </a:t>
            </a:r>
            <a:r>
              <a:rPr lang="en-US"/>
              <a:t>alphabetized later)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262AD-2AA7-4181-367D-A9814B9204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47500" lnSpcReduction="20000"/>
          </a:bodyPr>
          <a:lstStyle/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 err="1"/>
              <a:t>AuR</a:t>
            </a:r>
            <a:r>
              <a:rPr lang="en-US" sz="2900" dirty="0"/>
              <a:t> – Autonomous Robots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ALFUS – Autonomy Levels for Unmanned Systems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CORA – Core Ontology for Robotics and Automation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CORAX – CORA Extension. Aspects of reality necessary for modelling, but not explicitly covered by SUMO.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DOLCE – Descriptive Ontology for Linguistic and Cognitive Engineering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DUL – DOLCE ultra-light.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ORA – Ontology for Robotics and Automation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POS – Position and Orientation ontology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R&amp;A – Robotics and Automation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dirty="0"/>
              <a:t>SUMO – Suggested Upper Merged Ontology</a:t>
            </a:r>
          </a:p>
          <a:p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92C782-9654-E799-800C-07421CC5DB4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900" dirty="0"/>
              <a:t>UAV – Unpiloted Aerial Vehicle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900" dirty="0"/>
              <a:t>USV – Unpiloted Surface Vehicle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900" dirty="0"/>
              <a:t>UUV – Unpiloted Underwater Vehicle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900" dirty="0"/>
              <a:t>UXV – Unpiloted Aerial/Surface/Underwater Vehicle</a:t>
            </a:r>
          </a:p>
          <a:p>
            <a:pPr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2900" dirty="0"/>
              <a:t>AOE – Area of Interest</a:t>
            </a:r>
            <a:endParaRPr lang="en-CA" sz="2900" dirty="0"/>
          </a:p>
          <a:p>
            <a:r>
              <a:rPr lang="en-CA" dirty="0"/>
              <a:t>ASX – Autonomous System Extension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651763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0A0FCD5-9692-CF49-F1C6-06DE2609F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Acronyms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262AD-2AA7-4181-367D-A9814B9204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r>
              <a:rPr lang="en-CA" sz="1600" dirty="0"/>
              <a:t>ALFUS - Autonomy Levels for Unmanned Systems</a:t>
            </a:r>
          </a:p>
          <a:p>
            <a:r>
              <a:rPr lang="en-CA" sz="1600" dirty="0"/>
              <a:t>AOE - Area of Interest</a:t>
            </a:r>
          </a:p>
          <a:p>
            <a:r>
              <a:rPr lang="en-CA" sz="1600" dirty="0"/>
              <a:t>ASX - Autonomous System Extension</a:t>
            </a:r>
          </a:p>
          <a:p>
            <a:r>
              <a:rPr lang="en-CA" sz="1600" dirty="0" err="1"/>
              <a:t>AuR</a:t>
            </a:r>
            <a:r>
              <a:rPr lang="en-CA" sz="1600" dirty="0"/>
              <a:t> - Autonomous Robots</a:t>
            </a:r>
          </a:p>
          <a:p>
            <a:r>
              <a:rPr lang="en-CA" sz="1600" dirty="0"/>
              <a:t>CORA - Core Ontology for Robotics and Automation</a:t>
            </a:r>
          </a:p>
          <a:p>
            <a:r>
              <a:rPr lang="en-CA" sz="1600" dirty="0"/>
              <a:t>CORAX," CORA Extension. Aspects of reality necessary for modelling - but not explicitly covered by SUMO.",</a:t>
            </a:r>
          </a:p>
          <a:p>
            <a:r>
              <a:rPr lang="en-CA" sz="1600" dirty="0"/>
              <a:t>DOLCE - Descriptive Ontology for Linguistic and Cognitive Engineering</a:t>
            </a:r>
          </a:p>
          <a:p>
            <a:r>
              <a:rPr lang="en-CA" sz="1600" dirty="0"/>
              <a:t>DUL - DOLCE ultra-light</a:t>
            </a:r>
          </a:p>
          <a:p>
            <a:r>
              <a:rPr lang="en-CA" sz="1600" dirty="0"/>
              <a:t>ORA - Ontology for Robotics and Automation</a:t>
            </a:r>
          </a:p>
          <a:p>
            <a:r>
              <a:rPr lang="en-CA" sz="1600" dirty="0"/>
              <a:t>POS - Position and Orientation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92C782-9654-E799-800C-07421CC5DB4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CA" sz="1600" dirty="0"/>
              <a:t>R&amp;A - Robotics and Automation,</a:t>
            </a:r>
          </a:p>
          <a:p>
            <a:r>
              <a:rPr lang="en-CA" sz="1600" dirty="0"/>
              <a:t>SUMO - Suggested Upper Merged Ontology,</a:t>
            </a:r>
          </a:p>
          <a:p>
            <a:r>
              <a:rPr lang="en-CA" sz="1600" dirty="0"/>
              <a:t>UAV - Unpiloted Aerial Vehicle,</a:t>
            </a:r>
          </a:p>
          <a:p>
            <a:r>
              <a:rPr lang="en-CA" sz="1600" dirty="0"/>
              <a:t>USV - Unpiloted Surface Vehicle,</a:t>
            </a:r>
          </a:p>
          <a:p>
            <a:r>
              <a:rPr lang="en-CA" sz="1600" dirty="0"/>
              <a:t>UUV - Unpiloted Underwater Vehicle,</a:t>
            </a:r>
          </a:p>
          <a:p>
            <a:r>
              <a:rPr lang="en-CA" sz="1600" dirty="0"/>
              <a:t>UXV - Unpiloted Aerial/Surface/Underwater Vehicle </a:t>
            </a:r>
          </a:p>
        </p:txBody>
      </p:sp>
    </p:spTree>
    <p:extLst>
      <p:ext uri="{BB962C8B-B14F-4D97-AF65-F5344CB8AC3E}">
        <p14:creationId xmlns:p14="http://schemas.microsoft.com/office/powerpoint/2010/main" val="34279422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B3E9F-CD83-09E8-48EA-E1784A354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High-Level Generic Use Cases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9F950-0EB9-8DCE-37BB-05B43A24E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Each scenario can be broken down into distinct stages: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Deployment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Maintenance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Coordination – in case of hierarchy change, loss of key nodes, i.e. changing of roles in hierarchy.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Resupply – manage swarm members: replace depleted delivery entities, rotate out entities that need to be recharged/refueled</a:t>
            </a:r>
          </a:p>
          <a:p>
            <a:pPr>
              <a:lnSpc>
                <a:spcPct val="120000"/>
              </a:lnSpc>
            </a:pPr>
            <a:r>
              <a:rPr lang="en-US" dirty="0"/>
              <a:t>Types of tasks: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Surveillance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Delivery – emergency supplies, e.g. food/water, medical supplies</a:t>
            </a:r>
          </a:p>
          <a:p>
            <a:pPr lvl="2">
              <a:lnSpc>
                <a:spcPct val="120000"/>
              </a:lnSpc>
            </a:pPr>
            <a:r>
              <a:rPr lang="en-US" dirty="0"/>
              <a:t>Deployed with swarm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Communications – radio repeater, communication between humans (video/voice relay back to Command Center)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Protection (armed)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36444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CE084-B4F9-7B58-BEE6-B7688D16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 Activities (1/2)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77E29-AC7A-9215-4D23-6119FDCE8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Deploy swarm from base</a:t>
            </a:r>
          </a:p>
          <a:p>
            <a:r>
              <a:rPr lang="en-US" dirty="0"/>
              <a:t>Travel to destination</a:t>
            </a:r>
          </a:p>
          <a:p>
            <a:r>
              <a:rPr lang="en-CA" dirty="0"/>
              <a:t>Perform specific tasks</a:t>
            </a:r>
          </a:p>
          <a:p>
            <a:pPr lvl="1"/>
            <a:r>
              <a:rPr lang="en-CA" dirty="0"/>
              <a:t>Intelligence Gathering</a:t>
            </a:r>
          </a:p>
          <a:p>
            <a:pPr lvl="2"/>
            <a:r>
              <a:rPr lang="en-CA" dirty="0"/>
              <a:t>Locate Survivors, objects, resources, </a:t>
            </a:r>
          </a:p>
          <a:p>
            <a:pPr lvl="2"/>
            <a:r>
              <a:rPr lang="en-CA" dirty="0"/>
              <a:t>Identify hazards</a:t>
            </a:r>
          </a:p>
          <a:p>
            <a:pPr lvl="1"/>
            <a:r>
              <a:rPr lang="en-CA" dirty="0"/>
              <a:t>Respond to situation</a:t>
            </a:r>
          </a:p>
          <a:p>
            <a:pPr lvl="2"/>
            <a:r>
              <a:rPr lang="en-CA" dirty="0"/>
              <a:t>Report survivors</a:t>
            </a:r>
          </a:p>
          <a:p>
            <a:pPr lvl="2"/>
            <a:r>
              <a:rPr lang="en-CA" dirty="0"/>
              <a:t>Deploy medical assistance</a:t>
            </a:r>
          </a:p>
          <a:p>
            <a:pPr lvl="2"/>
            <a:r>
              <a:rPr lang="en-CA" dirty="0"/>
              <a:t>Protect from danger</a:t>
            </a:r>
          </a:p>
          <a:p>
            <a:pPr lvl="2"/>
            <a:r>
              <a:rPr lang="en-CA" dirty="0"/>
              <a:t>Extract survivors</a:t>
            </a:r>
          </a:p>
          <a:p>
            <a:pPr lvl="2"/>
            <a:r>
              <a:rPr lang="en-CA" dirty="0"/>
              <a:t>Recover assets / Materiel</a:t>
            </a:r>
          </a:p>
        </p:txBody>
      </p:sp>
    </p:spTree>
    <p:extLst>
      <p:ext uri="{BB962C8B-B14F-4D97-AF65-F5344CB8AC3E}">
        <p14:creationId xmlns:p14="http://schemas.microsoft.com/office/powerpoint/2010/main" val="22702855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CE084-B4F9-7B58-BEE6-B7688D16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 Activities (2/2)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77E29-AC7A-9215-4D23-6119FDCE8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Perform specific tasks (cont’d)</a:t>
            </a:r>
          </a:p>
          <a:p>
            <a:pPr lvl="1"/>
            <a:r>
              <a:rPr lang="en-CA" dirty="0"/>
              <a:t>Decisions Required</a:t>
            </a:r>
          </a:p>
          <a:p>
            <a:pPr lvl="2"/>
            <a:r>
              <a:rPr lang="en-CA" dirty="0"/>
              <a:t>Deployment of specialized units in response to observed data, e.g. deploy medical kits to victims </a:t>
            </a:r>
          </a:p>
          <a:p>
            <a:pPr lvl="2"/>
            <a:r>
              <a:rPr lang="en-CA" dirty="0"/>
              <a:t>Collection of intelligence information</a:t>
            </a:r>
          </a:p>
          <a:p>
            <a:pPr lvl="3"/>
            <a:r>
              <a:rPr lang="en-CA" dirty="0"/>
              <a:t>Prioritize reporting data back to Command Center, e.g. CBRN or other munitions detected.</a:t>
            </a:r>
          </a:p>
          <a:p>
            <a:pPr lvl="2"/>
            <a:r>
              <a:rPr lang="en-CA" dirty="0"/>
              <a:t>Direction of specific sensor types depending on what is found, e.g. CBRN detectors, EW survey sensors, video systems.</a:t>
            </a:r>
          </a:p>
          <a:p>
            <a:pPr lvl="2"/>
            <a:r>
              <a:rPr lang="en-CA" dirty="0"/>
              <a:t>Communications: </a:t>
            </a:r>
          </a:p>
          <a:p>
            <a:pPr lvl="3"/>
            <a:r>
              <a:rPr lang="en-CA" dirty="0"/>
              <a:t>Relay signals if distance to Command Center is too far from surveillance drones (radio repeaters)</a:t>
            </a:r>
          </a:p>
          <a:p>
            <a:pPr lvl="3"/>
            <a:r>
              <a:rPr lang="en-CA" dirty="0"/>
              <a:t>Create communications between victims and Command Center, e.g. medical responders directing survivors to treat with supplied first aid kits</a:t>
            </a:r>
          </a:p>
          <a:p>
            <a:pPr lvl="3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567426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GABARIT CAE 16/9 JUIN 2022 PAR PREZEXPERT" val="N3sKuFEn"/>
  <p:tag name="ARTICULATE_SLIDE_COUNT" val="6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Default Layout 1">
  <a:themeElements>
    <a:clrScheme name="CAE">
      <a:dk1>
        <a:srgbClr val="000000"/>
      </a:dk1>
      <a:lt1>
        <a:srgbClr val="FFFFFF"/>
      </a:lt1>
      <a:dk2>
        <a:srgbClr val="06103D"/>
      </a:dk2>
      <a:lt2>
        <a:srgbClr val="E3E3E3"/>
      </a:lt2>
      <a:accent1>
        <a:srgbClr val="06103D"/>
      </a:accent1>
      <a:accent2>
        <a:srgbClr val="2969F2"/>
      </a:accent2>
      <a:accent3>
        <a:srgbClr val="777777"/>
      </a:accent3>
      <a:accent4>
        <a:srgbClr val="ADADAD"/>
      </a:accent4>
      <a:accent5>
        <a:srgbClr val="E3E3E3"/>
      </a:accent5>
      <a:accent6>
        <a:srgbClr val="B4F62A"/>
      </a:accent6>
      <a:hlink>
        <a:srgbClr val="06103D"/>
      </a:hlink>
      <a:folHlink>
        <a:srgbClr val="777777"/>
      </a:folHlink>
    </a:clrScheme>
    <a:fontScheme name="RedHat">
      <a:majorFont>
        <a:latin typeface="Red Hat Display Light"/>
        <a:ea typeface="Helvetica"/>
        <a:cs typeface="Helvetica"/>
      </a:majorFont>
      <a:minorFont>
        <a:latin typeface="Red Hat Display"/>
        <a:ea typeface="Avenir Roman"/>
        <a:cs typeface="Avenir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</a:spPr>
      <a:bodyPr lIns="144000" tIns="72000" rIns="144000" bIns="72000" rtlCol="0" anchor="ctr"/>
      <a:lstStyle>
        <a:defPPr algn="ctr">
          <a:spcBef>
            <a:spcPts val="800"/>
          </a:spcBef>
          <a:defRPr sz="1600" b="1" dirty="0" smtClean="0">
            <a:solidFill>
              <a:schemeClr val="bg1"/>
            </a:solidFill>
            <a:latin typeface="+mj-lt"/>
          </a:defRPr>
        </a:defPPr>
      </a:lst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sz="1800" dirty="0" err="1" smtClean="0">
            <a:effectLst/>
            <a:ea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custClrLst>
    <a:custClr name="Yellow">
      <a:srgbClr val="F59B40"/>
    </a:custClr>
    <a:custClr name="Orange">
      <a:srgbClr val="F55C38"/>
    </a:custClr>
    <a:custClr name="Teal">
      <a:srgbClr val="1ED4B2"/>
    </a:custClr>
    <a:custClr name="Turqoise">
      <a:srgbClr val="31C6DE"/>
    </a:custClr>
    <a:custClr name="Indigo">
      <a:srgbClr val="4C41BB"/>
    </a:custClr>
    <a:custClr name="Pink">
      <a:srgbClr val="E23E90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Dashboard - Red">
      <a:srgbClr val="FF0000"/>
    </a:custClr>
    <a:custClr name="Dashboard - Yellow">
      <a:srgbClr val="FFFF00"/>
    </a:custClr>
    <a:custClr name="Dashboard - Green">
      <a:srgbClr val="00B050"/>
    </a:custClr>
  </a:custClrLst>
  <a:extLst>
    <a:ext uri="{05A4C25C-085E-4340-85A3-A5531E510DB2}">
      <thm15:themeFamily xmlns:thm15="http://schemas.microsoft.com/office/thememl/2012/main" name="CAE 16_9 ENG NEW" id="{38154DC4-D6D4-4853-AA96-12D2C0765396}" vid="{70359D05-C866-44FC-A42D-8188BDF82D04}"/>
    </a:ext>
  </a:extLst>
</a:theme>
</file>

<file path=ppt/theme/theme2.xml><?xml version="1.0" encoding="utf-8"?>
<a:theme xmlns:a="http://schemas.openxmlformats.org/drawingml/2006/main" name="Default Layout 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CAE">
      <a:dk1>
        <a:srgbClr val="000000"/>
      </a:dk1>
      <a:lt1>
        <a:srgbClr val="FFFFFF"/>
      </a:lt1>
      <a:dk2>
        <a:srgbClr val="06103D"/>
      </a:dk2>
      <a:lt2>
        <a:srgbClr val="E3E3E3"/>
      </a:lt2>
      <a:accent1>
        <a:srgbClr val="06103D"/>
      </a:accent1>
      <a:accent2>
        <a:srgbClr val="2969F2"/>
      </a:accent2>
      <a:accent3>
        <a:srgbClr val="777777"/>
      </a:accent3>
      <a:accent4>
        <a:srgbClr val="ADADAD"/>
      </a:accent4>
      <a:accent5>
        <a:srgbClr val="E3E3E3"/>
      </a:accent5>
      <a:accent6>
        <a:srgbClr val="B4F62A"/>
      </a:accent6>
      <a:hlink>
        <a:srgbClr val="06103D"/>
      </a:hlink>
      <a:folHlink>
        <a:srgbClr val="77777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AE">
      <a:dk1>
        <a:srgbClr val="000000"/>
      </a:dk1>
      <a:lt1>
        <a:srgbClr val="FFFFFF"/>
      </a:lt1>
      <a:dk2>
        <a:srgbClr val="06103D"/>
      </a:dk2>
      <a:lt2>
        <a:srgbClr val="E3E3E3"/>
      </a:lt2>
      <a:accent1>
        <a:srgbClr val="06103D"/>
      </a:accent1>
      <a:accent2>
        <a:srgbClr val="2969F2"/>
      </a:accent2>
      <a:accent3>
        <a:srgbClr val="777777"/>
      </a:accent3>
      <a:accent4>
        <a:srgbClr val="ADADAD"/>
      </a:accent4>
      <a:accent5>
        <a:srgbClr val="E3E3E3"/>
      </a:accent5>
      <a:accent6>
        <a:srgbClr val="B4F62A"/>
      </a:accent6>
      <a:hlink>
        <a:srgbClr val="06103D"/>
      </a:hlink>
      <a:folHlink>
        <a:srgbClr val="77777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7EE6BE8E9D62A489E89088165552537" ma:contentTypeVersion="23" ma:contentTypeDescription="Create a new document." ma:contentTypeScope="" ma:versionID="6e83425ab1c525ba8fce5c619b58b1dc">
  <xsd:schema xmlns:xsd="http://www.w3.org/2001/XMLSchema" xmlns:xs="http://www.w3.org/2001/XMLSchema" xmlns:p="http://schemas.microsoft.com/office/2006/metadata/properties" xmlns:ns2="9de35825-77e6-4d9d-bbc7-7a2b5e5c6d68" xmlns:ns3="12cd23af-3e52-4056-a2c9-5961a2704e29" xmlns:ns4="716d1e58-2f47-4028-a3d3-4ae2fbcdb48c" targetNamespace="http://schemas.microsoft.com/office/2006/metadata/properties" ma:root="true" ma:fieldsID="23aa16b45e4256d0f85adf32c85bedd2" ns2:_="" ns3:_="" ns4:_="">
    <xsd:import namespace="9de35825-77e6-4d9d-bbc7-7a2b5e5c6d68"/>
    <xsd:import namespace="12cd23af-3e52-4056-a2c9-5961a2704e29"/>
    <xsd:import namespace="716d1e58-2f47-4028-a3d3-4ae2fbcdb48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TaxCatchAll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4:SharedWithUsers" minOccurs="0"/>
                <xsd:element ref="ns4:SharedWithDetails" minOccurs="0"/>
                <xsd:element ref="ns2:lcf76f155ced4ddcb4097134ff3c332f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e35825-77e6-4d9d-bbc7-7a2b5e5c6d6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2dac91e-569b-4c3a-829b-3856784e6b5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d23af-3e52-4056-a2c9-5961a2704e2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b2d30fd-74c4-4107-a3e6-a9ccb0e97e32}" ma:internalName="TaxCatchAll" ma:showField="CatchAllData" ma:web="716d1e58-2f47-4028-a3d3-4ae2fbcdb48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6d1e58-2f47-4028-a3d3-4ae2fbcdb48c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16d1e58-2f47-4028-a3d3-4ae2fbcdb48c">
      <UserInfo>
        <DisplayName>SharingLinks.3e3d083d-97f8-426a-ad2b-91c3f471e3c9.OrganizationEdit.06e789e9-29fd-41f8-9fa1-705ae9007a95</DisplayName>
        <AccountId>24</AccountId>
        <AccountType/>
      </UserInfo>
      <UserInfo>
        <DisplayName>SharingLinks.f39469b9-5b0e-416a-ba7b-bcaccd1af0d5.OrganizationEdit.e01e0804-14a8-468e-9836-48909cdb4ae1</DisplayName>
        <AccountId>36</AccountId>
        <AccountType/>
      </UserInfo>
      <UserInfo>
        <DisplayName>Sylvia Mutter</DisplayName>
        <AccountId>43</AccountId>
        <AccountType/>
      </UserInfo>
      <UserInfo>
        <DisplayName>Aline Massouh</DisplayName>
        <AccountId>9031</AccountId>
        <AccountType/>
      </UserInfo>
    </SharedWithUsers>
    <lcf76f155ced4ddcb4097134ff3c332f xmlns="9de35825-77e6-4d9d-bbc7-7a2b5e5c6d68">
      <Terms xmlns="http://schemas.microsoft.com/office/infopath/2007/PartnerControls"/>
    </lcf76f155ced4ddcb4097134ff3c332f>
    <TaxCatchAll xmlns="12cd23af-3e52-4056-a2c9-5961a2704e29" xsi:nil="true"/>
    <MediaLengthInSeconds xmlns="9de35825-77e6-4d9d-bbc7-7a2b5e5c6d68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BF9799-0721-4C37-841B-72253AFD53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de35825-77e6-4d9d-bbc7-7a2b5e5c6d68"/>
    <ds:schemaRef ds:uri="12cd23af-3e52-4056-a2c9-5961a2704e29"/>
    <ds:schemaRef ds:uri="716d1e58-2f47-4028-a3d3-4ae2fbcdb48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891A0FF-7CF6-4FC6-83D5-1298EC075798}">
  <ds:schemaRefs>
    <ds:schemaRef ds:uri="12cd23af-3e52-4056-a2c9-5961a2704e29"/>
    <ds:schemaRef ds:uri="716d1e58-2f47-4028-a3d3-4ae2fbcdb48c"/>
    <ds:schemaRef ds:uri="9de35825-77e6-4d9d-bbc7-7a2b5e5c6d6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E37F82A6-C5BB-4E86-A9B2-E9D69C07338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6754</TotalTime>
  <Words>1034</Words>
  <Application>Microsoft Office PowerPoint</Application>
  <PresentationFormat>Widescreen</PresentationFormat>
  <Paragraphs>165</Paragraphs>
  <Slides>25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25</vt:i4>
      </vt:variant>
    </vt:vector>
  </HeadingPairs>
  <TitlesOfParts>
    <vt:vector size="34" baseType="lpstr">
      <vt:lpstr>Arial</vt:lpstr>
      <vt:lpstr>Bebas Neue</vt:lpstr>
      <vt:lpstr>Calibri</vt:lpstr>
      <vt:lpstr>Montserrat Medium</vt:lpstr>
      <vt:lpstr>Red Hat Display</vt:lpstr>
      <vt:lpstr>Red Hat Display Light</vt:lpstr>
      <vt:lpstr>Wingdings</vt:lpstr>
      <vt:lpstr>Default Layout 1</vt:lpstr>
      <vt:lpstr>Default Layout 2</vt:lpstr>
      <vt:lpstr>PowerPoint Presentation</vt:lpstr>
      <vt:lpstr>Outline</vt:lpstr>
      <vt:lpstr>C2SIM Models</vt:lpstr>
      <vt:lpstr>C2SIM Message Base Classes</vt:lpstr>
      <vt:lpstr>C2SIM Base Classes</vt:lpstr>
      <vt:lpstr>MessageBody Types</vt:lpstr>
      <vt:lpstr>Outline</vt:lpstr>
      <vt:lpstr>ReportBody Class</vt:lpstr>
      <vt:lpstr>Reports Class Diagram</vt:lpstr>
      <vt:lpstr>ReportContent Class</vt:lpstr>
      <vt:lpstr>ObservationReportContent &amp; Observation</vt:lpstr>
      <vt:lpstr>Observation Types</vt:lpstr>
      <vt:lpstr>Observation Message Contents</vt:lpstr>
      <vt:lpstr>Example: Video recording of riot detected by AI analysis on-board UAV</vt:lpstr>
      <vt:lpstr>Outline</vt:lpstr>
      <vt:lpstr>OrderBody</vt:lpstr>
      <vt:lpstr>Outline</vt:lpstr>
      <vt:lpstr>C2SIMInitializationBody</vt:lpstr>
      <vt:lpstr>Terminology – as used in this doc</vt:lpstr>
      <vt:lpstr>PowerPoint Presentation</vt:lpstr>
      <vt:lpstr>Acronyms (to be alphabetized later)</vt:lpstr>
      <vt:lpstr>Acronyms</vt:lpstr>
      <vt:lpstr>High-Level Generic Use Cases</vt:lpstr>
      <vt:lpstr>Use Case Activities (1/2)</vt:lpstr>
      <vt:lpstr>Use Case Activities (2/2)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Aline Massouh</dc:creator>
  <cp:lastModifiedBy>Elizabeth Hosang</cp:lastModifiedBy>
  <cp:revision>306</cp:revision>
  <dcterms:created xsi:type="dcterms:W3CDTF">2022-04-04T19:15:56Z</dcterms:created>
  <dcterms:modified xsi:type="dcterms:W3CDTF">2025-11-03T23:57:19Z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0x01010027EE6BE8E9D62A489E89088165552537</vt:lpwstr>
  </property>
  <property fmtid="{D5CDD505-2E9C-101B-9397-08002B2CF9AE}" pid="3" name="MediaServiceImageTags">
    <vt:lpwstr/>
  </property>
  <property fmtid="{D5CDD505-2E9C-101B-9397-08002B2CF9AE}" pid="4" name="NXPowerLiteLastOptimized">
    <vt:lpwstr>8881486</vt:lpwstr>
  </property>
  <property fmtid="{D5CDD505-2E9C-101B-9397-08002B2CF9AE}" pid="5" name="NXPowerLiteSettings">
    <vt:lpwstr>C980073804F000</vt:lpwstr>
  </property>
  <property fmtid="{D5CDD505-2E9C-101B-9397-08002B2CF9AE}" pid="6" name="NXPowerLiteVersion">
    <vt:lpwstr>D8.0.11</vt:lpwstr>
  </property>
  <property fmtid="{D5CDD505-2E9C-101B-9397-08002B2CF9AE}" pid="7" name="ArticulateGUID">
    <vt:lpwstr>3E637D0B-B1D6-41F1-8258-826E0EE99FA7</vt:lpwstr>
  </property>
  <property fmtid="{D5CDD505-2E9C-101B-9397-08002B2CF9AE}" pid="8" name="ArticulatePath">
    <vt:lpwstr>EN-Marc Parent-2022_v1b</vt:lpwstr>
  </property>
  <property fmtid="{D5CDD505-2E9C-101B-9397-08002B2CF9AE}" pid="9" name="Order">
    <vt:lpwstr>133200.000000000</vt:lpwstr>
  </property>
  <property fmtid="{D5CDD505-2E9C-101B-9397-08002B2CF9AE}" pid="10" name="xd_ProgID">
    <vt:lpwstr/>
  </property>
  <property fmtid="{D5CDD505-2E9C-101B-9397-08002B2CF9AE}" pid="11" name="_SourceUrl">
    <vt:lpwstr/>
  </property>
  <property fmtid="{D5CDD505-2E9C-101B-9397-08002B2CF9AE}" pid="12" name="_SharedFileIndex">
    <vt:lpwstr/>
  </property>
  <property fmtid="{D5CDD505-2E9C-101B-9397-08002B2CF9AE}" pid="13" name="ComplianceAssetId">
    <vt:lpwstr/>
  </property>
  <property fmtid="{D5CDD505-2E9C-101B-9397-08002B2CF9AE}" pid="14" name="TemplateUrl">
    <vt:lpwstr/>
  </property>
  <property fmtid="{D5CDD505-2E9C-101B-9397-08002B2CF9AE}" pid="15" name="_ExtendedDescription">
    <vt:lpwstr/>
  </property>
  <property fmtid="{D5CDD505-2E9C-101B-9397-08002B2CF9AE}" pid="16" name="xd_Signature">
    <vt:lpwstr/>
  </property>
  <property fmtid="{D5CDD505-2E9C-101B-9397-08002B2CF9AE}" pid="17" name="Person">
    <vt:lpwstr>13;#Sarah Bibeau</vt:lpwstr>
  </property>
  <property fmtid="{D5CDD505-2E9C-101B-9397-08002B2CF9AE}" pid="18" name="TriggerFlowInfo">
    <vt:lpwstr/>
  </property>
</Properties>
</file>