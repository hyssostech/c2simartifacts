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this is: for each scenario, we tried to write the actual messages it needs, using C2SIM plus the proposed ASX elements. Where a message would not build cleanly, that is a concrete item to define. The review builds on the proposed extension and Elizabeth's sample-message work; everything in it is a proposal - nothing has been applied to the model or the workbooks.</a:t>
            </a:r>
          </a:p>
          <a:p>
            <a:r>
              <a:t>Time plan for a 30-minute slot: opening (slides 1-2) ~3 min; method and deliverables (3-5) ~5 min; where the instantiation stands (6-7) ~4 min; the structural block (8-12) ~7 min; findings by domain (13-19) ~6 min; v0.0.3 and the decision register (20-24) ~4 min; close (25-26) ~1 min. Slides 27-29 are the reading guide - point at them, do not present them.</a:t>
            </a:r>
          </a:p>
          <a:p>
            <a:r>
              <a:t>If the slot is 20 minutes: slides 1-2, 5, 8-12, the decisions grouping (21), and next steps (26); everything else is handout material.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one-slide version of the talk. If discussion takes over later, this slide plus the decision register (slides 21-23) is the minimum to land.</a:t>
            </a:r>
          </a:p>
          <a:p>
            <a:r>
              <a:t>Grounding for the numbers: the counts are the coverage rows in log sec 6 (C1-C8). The re-adopt items were verified against the RDF, not recalled: WhoMeasuredType is in C2SIM's BML lineage; LOX carries 446 TaskActionCode verbs; ROE, routes, resources, and a neutral hostility value (smx#NEUTRL) exist in the base standard.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budget: slides 3-5, about 5 minutes.</a:t>
            </a:r>
          </a:p>
          <a:p>
            <a:r>
              <a:t>The method in one sentence: write the messages each scenario actually needs; where an element is not yet defined enough to instantiate cleanly, that marks a concrete thing to specify next - not a defect. The model is early (v0.0.x) and the message layer is still being built; instantiation is how those instances get built and how the to-define list surfaces.</a:t>
            </a:r>
          </a:p>
          <a:p>
            <a:r>
              <a:t>Scope note: the sample-message workbooks were converted to a diff-able .xml format so instantiations can be reviewed in git; the original .xlsx are untouched.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coordinated sessions plus an independent check: document mining hunts primary mission documents; scenario extraction distills each into a standardized record with the locked v2.2 prompt; ontology application walks each scenario into concrete messages against the proposed elements. The verification pass then re-checked every RDF-grounded claim, the workbook fidelity, and the citations, with corrections logged (issues log change log, 2026-07-12).</a:t>
            </a:r>
          </a:p>
          <a:p>
            <a:r>
              <a:t>The stages iterate: the walk writes the sourcing brief (Documents-Needed), mining answers it (Documents-Found), extraction feeds the walk. Nothing rests on an LLM's memory - every claim is grounded in the RDF, the workbooks, or a named source, and was independently re-verified.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deliverables: ~29 new message instantiations in diff-able workbooks; a 12-record sourced scenario corpus; a findings log distilled into 22 decisions; a finding-by-finding reconciliation with v0.0.3; and the prior-art discoveries (BML WhoMeasuredType first among them). All proposal-only.</a:t>
            </a:r>
          </a:p>
          <a:p>
            <a:r>
              <a:t>This slide frames the rest of the talk: each later section shows where one of these deliverables came from.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budget: slides 6-7, about 4 minutes.</a:t>
            </a:r>
          </a:p>
          <a:p>
            <a:r>
              <a:t>The baseline was 4 worked instances (2 Reports, 2 Orders, 0 Initialization) - Elizabeth's sample-message workbooks. This review drafted ~29 more, to ~33: Initialization 0 -&gt; 6, Orders 2 -&gt; 14, Reports 2 -&gt; 13. The breadth - not any single message - is what surfaced the to-define items.</a:t>
            </a:r>
          </a:p>
          <a:p>
            <a:r>
              <a:t>CASEVAC, the one contributed (human-authored) scenario, had no messages; it is now walked end to end: Init -&gt; tasking Order -&gt; robot-to-robot hand-off -&gt; status / threat / explainable Reports.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groups: named + contributed scenarios instantiated end to end; capability stress-tests (non-video sensors, swarm, task/effect); missions sourced from real documents by the parallel sourcing effort (Cooperative MCM, SubT, sustainment, plus nine documented missions that closed the validation holes); and a redundancy screen that still yielded one new finding (N1).</a:t>
            </a:r>
          </a:p>
          <a:p>
            <a:r>
              <a:t>Provenance, stated precisely: the MUTT-derived scenarios are LLM-generated; CASEVAC is human-authored; the sourced missions come from real papers - two carry fidelity caveats (EW and the robotic breach), noted in their extraction records.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budget: slides 8-12, about 7 minutes - the core of the talk.</a:t>
            </a:r>
          </a:p>
          <a:p>
            <a:r>
              <a:t>Why several findings look like drift rather than gaps: the OWL model (last updated January) and the spreadsheets (updated June) evolved separately, so autonomy and sensors are each currently described three different ways. Reconciling the two tracks is one of the first decisions. Worth establishing early - it explains a lot of the later slides.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three foundational decisions, all entity-typing: P1 - a UAV/UGV is typed two incompatible ways (ASX Robot tree vs SMX Platform tree); P2 - a sensor has no agreed representation (class vs enum vs equipment); P7 - a swarm is not yet taskable as modeled.</a:t>
            </a:r>
          </a:p>
          <a:p>
            <a:r>
              <a:t>The point to land: because all three are typing decisions, Initialization - not Reports - is where the model has to be settled first. The next two slides take P1 and P7 one at a time.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proposed Robot class tree runs parallel to the existing SMX Platform tree, both under ActorEntity - two incompatible types for the same real drone. Type it as Robot and it loses the Platform machinery; type it as Aircraft or Vehicle and the ASX classes go unused.</a:t>
            </a:r>
          </a:p>
          <a:p>
            <a:r>
              <a:t>v0.0.3 declares both trees, so the choice is now concretely in the model to settle. Decision Q-A proposes autonomy as a role/facet on the existing Platform subtree.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swarm classes derive from the device/artifact side (PhysicalEntity), but orders are addressed to - and reports come from - an ActorEntity. The fix is already in the base standard: derive the collective from CollectiveEntity. Membership and command relations already exist (C2SIM hasSubordinate, SMX hasCommandRelation), so the residual swarm work is small.</a:t>
            </a:r>
          </a:p>
          <a:p>
            <a:r>
              <a:t>Note the current state: v0.0.3 dropped the Swarm class, and CollecticeRoboticSystem (the typo is in the model - O1) is still under PhysicalEntity. Decision Q-B.</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concrete reconciliation list: three autonomy vocabularies, three sensor models, and the attribute layer (Payload, Mobility, VehicleType, ...) that exists in the spreadsheets but not yet in the OWL.</a:t>
            </a:r>
          </a:p>
          <a:p>
            <a:r>
              <a:t>Why so much is still to define: the v0.0.1 baseline is 15 classes, 1 object property, 0 datatype properties - a taxonomy of things; the layer that says what you actually send had not been built yet. v0.0.3 begins it (datatype properties for the Video Detection Report). Most gaps are simply not-yet-built - which is why writing messages surfaces them. Decisions Q-C / Q-D: pick one normative sensor model and one autonomy vocabulary, express the rest as derived.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budget: slides 13-19, about 6 minutes - one beat per domain; each slide's Dig deeper line names the walk doc and log section with the full detail.</a:t>
            </a:r>
          </a:p>
          <a:p>
            <a:r>
              <a:t>M-series: small instantiation-level items - inline entity definition for observed entities (M1), media format vs sensor modality (M5), a UUIDBase/TimeInstant copy-paste slip (M7), and two typos still in v0.0.3 (CollecticeRoboticSystem, Extrension). All cheapest to fix before messages are built on them.</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coverage map: what was still to instantiate, and what this review drafted for each row. Initialization had 0 of 3 named scenarios instantiated - now drafted. Non-video sensors show the media-based report model does not generalize (Y1/Y5). The task/effect gap is mainly payload/effector/weapon typing - the verbs already exist. The redundancy pass confirmed ~80% overlap but still yielded N1 (an area as the subject of a task/report).</a:t>
            </a:r>
          </a:p>
          <a:p>
            <a:r>
              <a:t>Each row on this slide resolves to a C-row in log sec 6, which names the walk doc and the workbook tabs behind it.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flagship contributed scenario, walked end to end. Two gaps have no element at all: X1 - no content type for one robot to hand a verified safe route to another (envelope addressing exists; the content does not); X2 - systems can report WHAT (TaskStatus) but not WHY a route changed or a mission failed. Decisions Q-G / Q-H.</a:t>
            </a:r>
          </a:p>
          <a:p>
            <a:r>
              <a:t>Also checked, and not gaps: Route, phased planning (PlanBody/PlanPhase), and position reporting already exist in the base standard.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W1: the standard can express WHAT effect and WHICH ROE, but not WHO authorized an engagement, nor whether a FullAuto system may take a lethal action without a human in or on the loop. AuthorizationHeader was checked: it is message-sender authentication, not command authorization of fires - so who-approved-the-engagement is part of the gap.</a:t>
            </a:r>
          </a:p>
          <a:p>
            <a:r>
              <a:t>Also W2 (weapon/munition not typed) and W3 (no battle-damage / effect-achieved report - TaskStatus says the task ran, not that the target was destroyed). Decision Q-K: engagement authority as a function of autonomy level.</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counterweight slide of the domain block: LOX already carries 446 task verbs (ENGAGE, BREACH, RESUPL, RESCUE, ...), plus effects, targets, resources, and ROE - all verified in the RDF. The task/effect work is not invent-verbs.</a:t>
            </a:r>
          </a:p>
          <a:p>
            <a:r>
              <a:t>The real gap is one pattern: nothing typed for what a platform carries or wields - cargo (L1), manipulator (E2), weapon (W2) are the same missing piece. Decision Q-L. Small residuals: area as task subject (N1/Q-M), area-coverage goal (G2), a general tow/salvage verb, a decoy role.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parallel sourcing effort grounded this review's gaps in real missions and added its own findings (the G-series). Best contribution: one generic Detection Report (confidence + error bound + false positive) that subsumes the video / CBRN / EW / GPR / naval-mine reports - it resolves Y1 and folds into Q-I / Q-Q.</a:t>
            </a:r>
          </a:p>
          <a:p>
            <a:r>
              <a:t>New gaps from fresh domains: area-coverage goal, denied-comms mode + relay entity, decoy role, maritime cross-cueing with a shared track, environment conditions, formation geometry. Several re-use existing verbs (search verbs, lox#COMREL) - the gap is the surrounding structure, not the vocabulary.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validation holes are now evidenced: explainability (DroneResponse), CBRN, EW geolocation, and persistence (MDARS) are each grounded in a documented mission rather than asserted.</a:t>
            </a:r>
          </a:p>
          <a:p>
            <a:r>
              <a:t>The headline discovery is prior art: WhoMeasuredType, in C2SIM's own BML lineage, already defines the measurement report this review flagged as missing - value, unit, phenomenon, sensor, time, place. Re-adopt rather than invent (Q-Q).</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budget: slides 20-24, about 4 minutes; the decision slides are presented as a grouping, not read row by row.</a:t>
            </a:r>
          </a:p>
          <a:p>
            <a:r>
              <a:t>v0.0.3 moves the model: first datatype properties, the Video Detection Report folded into the OWL, an AutonomyLevelCode model. It also brings P1 to a head by declaring both trees - the group still picks one.</a:t>
            </a:r>
          </a:p>
          <a:p>
            <a:r>
              <a:t>Coordination notes worth a deliberate decision: the branch adds owl:imports smx/lox to base C2SIM.rdf (a circular import C2SIM &lt;-&gt; smx), and AutonomyLevelCode is not yet wired as the range of hasAutonomousRoleCode. The full finding-by-finding reconciliation is log sec 9.</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ask, part 1 - structure: Q-A UAV/robot typing, Q-B a taskable swarm, Q-C one sensor model, Q-D one autonomy vocabulary. These four settle the shape of the model and unblock Initialization.</a:t>
            </a:r>
          </a:p>
          <a:p>
            <a:r>
              <a:t>The full text of all 22 decisions, each with what it resolves, is log sec 7 - present the grouping and point at the log rather than reading the register out.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2 - new content types, mostly report and order payloads: inline entity definition, media identity, robot-to-robot coordination, rationale reports, media-independent sensor readings, swarm residuals, engagement authority, payload/effector/weapon typing, area as subject.</a:t>
            </a:r>
          </a:p>
          <a:p>
            <a:r>
              <a:t>Each of these traces back to a walk finding on an earlier slide - the CASEVAC pair (Q-G, Q-H) and the sensor pair (Q-I with Q-Q) carry the most scenario evidence.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3 - decisions raised by the sourced scenarios: exploration goals, denied-comms relay, cross-cueing, the generic detection report, locomotion subtypes, decoy/deception, environment conditions, formation geometry, capability self-report.</a:t>
            </a:r>
          </a:p>
          <a:p>
            <a:r>
              <a:t>Several of these re-adopt existing vocabulary (search verbs, lox#COMREL, BML WhoHoldingType) rather than invent - the decision is where to hang the structure, not whether the words exist.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budget: slides 25-26, about 1 minute - the close.</a:t>
            </a:r>
          </a:p>
          <a:p>
            <a:r>
              <a:t>The same decisions, grouped by commitment level: safe corrections (typos, the UUIDBase slip) are unambiguous; structural decisions need the group; content types need design. Nothing has been applied to the model or the workbooks - all items are proposals pending buy-in.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recommended order: settle Q-A / Q-B first (they unblock Initialization), complete the Initialization instantiations, add the two CASEVAC content types, reconcile the two tracks and fix the typos, and optionally adopt the diff-able workbooks so message edits can be reviewed in git.</a:t>
            </a:r>
          </a:p>
          <a:p>
            <a:r>
              <a:t>Where the ball is: sourcing is essentially complete - every gap this review raised is grounded in a real mission (one nice-to-have left: a dedicated autonomous-CASEVAC mission). The remaining work - the attribute layer, the reconciliation, the 22 decisions - is modeling work; more scenarios will not fill it.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Reading paths by time budget. The 5-minute path (Group-Briefing.md) is the default pointer for anyone who missed the meeting; the half-day path is for reviewers who want to challenge the evidence.</a:t>
            </a:r>
          </a:p>
          <a:p>
            <a:r>
              <a:t>Every ID on these slides resolves to exactly one log row - the decoder ring on the next slide maps each family.</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ID family, what it names, and where it resolves. An unfamiliar ID in any document is a pointer, not jargon - each one lands on a definition, its evidence, and its current status.</a:t>
            </a:r>
          </a:p>
          <a:p>
            <a:r>
              <a:t>This slide plus the next one are the handout scaffolding: leave them with the group.</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topic-to-doc map. Everything is on branch asx-diffable-spreadsheets: review docs in Subgroups/ASX/InstantiationReview, workbooks in Subgroups/ASX/Proposed Extension Working Materials. The .md files render directly on GitHub - switch branch and browse; no tooling needed.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148840"/>
            <a:ext cx="12191695" cy="2286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331720"/>
            <a:ext cx="10698480" cy="1280160"/>
          </a:xfrm>
          <a:prstGeom prst="rect">
            <a:avLst/>
          </a:prstGeom>
          <a:noFill/>
        </p:spPr>
        <p:txBody>
          <a:bodyPr wrap="square">
            <a:spAutoFit/>
          </a:bodyPr>
          <a:lstStyle/>
          <a:p>
            <a:r>
              <a:rPr sz="3400" b="1" i="0">
                <a:solidFill>
                  <a:srgbClr val="FFFFFF"/>
                </a:solidFill>
                <a:latin typeface="Calibri"/>
              </a:rPr>
              <a:t>ASX Extension: Findings from Scenario Instantiation</a:t>
            </a:r>
          </a:p>
        </p:txBody>
      </p:sp>
      <p:sp>
        <p:nvSpPr>
          <p:cNvPr id="4" name="TextBox 3"/>
          <p:cNvSpPr txBox="1"/>
          <p:nvPr/>
        </p:nvSpPr>
        <p:spPr>
          <a:xfrm>
            <a:off x="731520" y="3429000"/>
            <a:ext cx="10698480" cy="640080"/>
          </a:xfrm>
          <a:prstGeom prst="rect">
            <a:avLst/>
          </a:prstGeom>
          <a:noFill/>
        </p:spPr>
        <p:txBody>
          <a:bodyPr wrap="square">
            <a:spAutoFit/>
          </a:bodyPr>
          <a:lstStyle/>
          <a:p>
            <a:r>
              <a:rPr sz="1700" b="0" i="0">
                <a:solidFill>
                  <a:srgbClr val="CFE0EA"/>
                </a:solidFill>
                <a:latin typeface="Calibri"/>
              </a:rPr>
              <a:t>Testing the proposed ontology elements by walking scenarios into real messages</a:t>
            </a:r>
          </a:p>
        </p:txBody>
      </p:sp>
      <p:sp>
        <p:nvSpPr>
          <p:cNvPr id="5" name="TextBox 4"/>
          <p:cNvSpPr txBox="1"/>
          <p:nvPr/>
        </p:nvSpPr>
        <p:spPr>
          <a:xfrm>
            <a:off x="731520" y="4709160"/>
            <a:ext cx="10698480" cy="457200"/>
          </a:xfrm>
          <a:prstGeom prst="rect">
            <a:avLst/>
          </a:prstGeom>
          <a:noFill/>
        </p:spPr>
        <p:txBody>
          <a:bodyPr wrap="square">
            <a:spAutoFit/>
          </a:bodyPr>
          <a:lstStyle/>
          <a:p>
            <a:r>
              <a:rPr sz="1300" b="0" i="0">
                <a:solidFill>
                  <a:srgbClr val="666666"/>
                </a:solidFill>
                <a:latin typeface="Calibri"/>
              </a:rPr>
              <a:t>C2SIM ASX Sub-group    -    Hyssos    -    July 2026</a:t>
            </a:r>
          </a:p>
        </p:txBody>
      </p:sp>
      <p:sp>
        <p:nvSpPr>
          <p:cNvPr id="6" name="TextBox 5"/>
          <p:cNvSpPr txBox="1"/>
          <p:nvPr/>
        </p:nvSpPr>
        <p:spPr>
          <a:xfrm>
            <a:off x="731520" y="5257800"/>
            <a:ext cx="10698480" cy="457200"/>
          </a:xfrm>
          <a:prstGeom prst="rect">
            <a:avLst/>
          </a:prstGeom>
          <a:noFill/>
        </p:spPr>
        <p:txBody>
          <a:bodyPr wrap="square">
            <a:spAutoFit/>
          </a:bodyPr>
          <a:lstStyle/>
          <a:p>
            <a:r>
              <a:rPr sz="1150" b="0" i="1">
                <a:solidFill>
                  <a:srgbClr val="666666"/>
                </a:solidFill>
                <a:latin typeface="Calibri"/>
              </a:rPr>
              <a:t>Reading this outside the meeting: every slide carries speaker notes with the talk track; the last three slides are the reading guide.</a:t>
            </a:r>
          </a:p>
        </p:txBody>
      </p:sp>
      <p:sp>
        <p:nvSpPr>
          <p:cNvPr id="7" name="Rectangle 6"/>
          <p:cNvSpPr/>
          <p:nvPr/>
        </p:nvSpPr>
        <p:spPr>
          <a:xfrm>
            <a:off x="731520" y="2148840"/>
            <a:ext cx="2194560" cy="63500"/>
          </a:xfrm>
          <a:prstGeom prst="rect">
            <a:avLst/>
          </a:prstGeom>
          <a:solidFill>
            <a:srgbClr val="2E8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1170432"/>
            <a:ext cx="2011680" cy="38100"/>
          </a:xfrm>
          <a:prstGeom prst="rect">
            <a:avLst/>
          </a:prstGeom>
          <a:solidFill>
            <a:srgbClr val="2E8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11155680" cy="822960"/>
          </a:xfrm>
          <a:prstGeom prst="rect">
            <a:avLst/>
          </a:prstGeom>
          <a:noFill/>
        </p:spPr>
        <p:txBody>
          <a:bodyPr wrap="square">
            <a:spAutoFit/>
          </a:bodyPr>
          <a:lstStyle/>
          <a:p>
            <a:r>
              <a:rPr sz="3000" b="1" i="0">
                <a:solidFill>
                  <a:srgbClr val="1F3A5F"/>
                </a:solidFill>
                <a:latin typeface="Calibri"/>
              </a:rPr>
              <a:t>The whole review in one slide</a:t>
            </a:r>
          </a:p>
        </p:txBody>
      </p:sp>
      <p:sp>
        <p:nvSpPr>
          <p:cNvPr id="4" name="TextBox 3"/>
          <p:cNvSpPr txBox="1"/>
          <p:nvPr/>
        </p:nvSpPr>
        <p:spPr>
          <a:xfrm>
            <a:off x="548640" y="914400"/>
            <a:ext cx="10972800" cy="320040"/>
          </a:xfrm>
          <a:prstGeom prst="rect">
            <a:avLst/>
          </a:prstGeom>
          <a:noFill/>
        </p:spPr>
        <p:txBody>
          <a:bodyPr wrap="square">
            <a:spAutoFit/>
          </a:bodyPr>
          <a:lstStyle/>
          <a:p>
            <a:r>
              <a:rPr sz="1300" b="0" i="1">
                <a:solidFill>
                  <a:srgbClr val="2E869A"/>
                </a:solidFill>
                <a:latin typeface="Calibri"/>
              </a:rPr>
              <a:t>The 90-second version - everything after this is detail</a:t>
            </a:r>
          </a:p>
        </p:txBody>
      </p:sp>
      <p:sp>
        <p:nvSpPr>
          <p:cNvPr id="5" name="TextBox 4"/>
          <p:cNvSpPr txBox="1"/>
          <p:nvPr/>
        </p:nvSpPr>
        <p:spPr>
          <a:xfrm>
            <a:off x="640080" y="1600200"/>
            <a:ext cx="10972800" cy="4754880"/>
          </a:xfrm>
          <a:prstGeom prst="rect">
            <a:avLst/>
          </a:prstGeom>
          <a:noFill/>
        </p:spPr>
        <p:txBody>
          <a:bodyPr wrap="square">
            <a:spAutoFit/>
          </a:bodyPr>
          <a:lstStyle/>
          <a:p>
            <a:pPr>
              <a:spcBef>
                <a:spcPts val="200"/>
              </a:spcBef>
              <a:spcAft>
                <a:spcPts val="1200"/>
              </a:spcAft>
            </a:pPr>
            <a:r>
              <a:rPr sz="1450" b="1" i="0">
                <a:solidFill>
                  <a:srgbClr val="1F3A5F"/>
                </a:solidFill>
                <a:latin typeface="Calibri"/>
              </a:rPr>
              <a:t>•  What was done:  </a:t>
            </a:r>
            <a:r>
              <a:rPr sz="1450" b="0" i="0">
                <a:solidFill>
                  <a:srgbClr val="333333"/>
                </a:solidFill>
                <a:latin typeface="Calibri"/>
              </a:rPr>
              <a:t>walked 20+ scenarios into ~29 new worked messages (4 -&gt; ~33) using C2SIM + the proposed ASX elements, in diff-able workbooks - Initialization 0 -&gt; 6, Orders 2 -&gt; 14, Reports 2 -&gt; 13.</a:t>
            </a:r>
          </a:p>
          <a:p>
            <a:pPr>
              <a:spcBef>
                <a:spcPts val="200"/>
              </a:spcBef>
              <a:spcAft>
                <a:spcPts val="1200"/>
              </a:spcAft>
            </a:pPr>
            <a:r>
              <a:rPr sz="1450" b="1" i="0">
                <a:solidFill>
                  <a:srgbClr val="1F3A5F"/>
                </a:solidFill>
                <a:latin typeface="Calibri"/>
              </a:rPr>
              <a:t>•  What it surfaced:  </a:t>
            </a:r>
            <a:r>
              <a:rPr sz="1450" b="0" i="0">
                <a:solidFill>
                  <a:srgbClr val="333333"/>
                </a:solidFill>
                <a:latin typeface="Calibri"/>
              </a:rPr>
              <a:t>three structural typing decisions come first - UAV/robot typing (P1), sensor representation (P2), a taskable swarm (P7) - and behind them an attribute layer still to be built (v0.0.1 had 0 datatype properties; v0.0.3 starts it).</a:t>
            </a:r>
          </a:p>
          <a:p>
            <a:pPr>
              <a:spcBef>
                <a:spcPts val="200"/>
              </a:spcBef>
              <a:spcAft>
                <a:spcPts val="1200"/>
              </a:spcAft>
            </a:pPr>
            <a:r>
              <a:rPr sz="1450" b="1" i="0">
                <a:solidFill>
                  <a:srgbClr val="2E7D32"/>
                </a:solidFill>
                <a:latin typeface="Calibri"/>
              </a:rPr>
              <a:t>•  The good news:  </a:t>
            </a:r>
            <a:r>
              <a:rPr sz="1450" b="0" i="0">
                <a:solidFill>
                  <a:srgbClr val="333333"/>
                </a:solidFill>
                <a:latin typeface="Calibri"/>
              </a:rPr>
              <a:t>much of what is missing is re-adopt, not invent - BML WhoMeasuredType for measurements, 446 LOX task verbs, ROE / routes / resources already in the base standard.</a:t>
            </a:r>
          </a:p>
          <a:p>
            <a:pPr>
              <a:spcBef>
                <a:spcPts val="200"/>
              </a:spcBef>
              <a:spcAft>
                <a:spcPts val="1200"/>
              </a:spcAft>
            </a:pPr>
            <a:r>
              <a:rPr sz="1450" b="1" i="0">
                <a:solidFill>
                  <a:srgbClr val="2E869A"/>
                </a:solidFill>
                <a:latin typeface="Calibri"/>
              </a:rPr>
              <a:t>•  The ask:  </a:t>
            </a:r>
            <a:r>
              <a:rPr sz="1450" b="0" i="0">
                <a:solidFill>
                  <a:srgbClr val="333333"/>
                </a:solidFill>
                <a:latin typeface="Calibri"/>
              </a:rPr>
              <a:t>22 concrete decisions (Q-A..Q-V, log sec 7) - settle the four structural ones (Q-A..Q-D) first; they unblock Initialization.</a:t>
            </a:r>
          </a:p>
          <a:p>
            <a:pPr>
              <a:spcBef>
                <a:spcPts val="200"/>
              </a:spcBef>
              <a:spcAft>
                <a:spcPts val="1200"/>
              </a:spcAft>
            </a:pPr>
            <a:r>
              <a:rPr sz="1450" b="1" i="0">
                <a:solidFill>
                  <a:srgbClr val="C87F0A"/>
                </a:solidFill>
                <a:latin typeface="Calibri"/>
              </a:rPr>
              <a:t>•  Status:  </a:t>
            </a:r>
            <a:r>
              <a:rPr sz="1450" b="0" i="0">
                <a:solidFill>
                  <a:srgbClr val="333333"/>
                </a:solidFill>
                <a:latin typeface="Calibri"/>
              </a:rPr>
              <a:t>everything is a proposal - nothing applied to the OWL or the .xlsx; every RDF-grounded claim was independently re-verified.</a:t>
            </a:r>
          </a:p>
        </p:txBody>
      </p:sp>
      <p:sp>
        <p:nvSpPr>
          <p:cNvPr id="6" name="TextBox 5"/>
          <p:cNvSpPr txBox="1"/>
          <p:nvPr/>
        </p:nvSpPr>
        <p:spPr>
          <a:xfrm>
            <a:off x="502920" y="6126480"/>
            <a:ext cx="11155680" cy="274320"/>
          </a:xfrm>
          <a:prstGeom prst="rect">
            <a:avLst/>
          </a:prstGeom>
          <a:noFill/>
        </p:spPr>
        <p:txBody>
          <a:bodyPr wrap="square">
            <a:spAutoFit/>
          </a:bodyPr>
          <a:lstStyle/>
          <a:p>
            <a:r>
              <a:rPr sz="1000" b="1" i="1">
                <a:solidFill>
                  <a:srgbClr val="2E869A"/>
                </a:solidFill>
                <a:latin typeface="Calibri"/>
              </a:rPr>
              <a:t>Dig deeper:  </a:t>
            </a:r>
            <a:r>
              <a:rPr sz="1000" b="0" i="1">
                <a:solidFill>
                  <a:srgbClr val="666666"/>
                </a:solidFill>
                <a:latin typeface="Calibri"/>
              </a:rPr>
              <a:t>Group-Briefing.md is the one-page prose version of this slide</a:t>
            </a:r>
          </a:p>
        </p:txBody>
      </p:sp>
      <p:sp>
        <p:nvSpPr>
          <p:cNvPr id="7" name="TextBox 6"/>
          <p:cNvSpPr txBox="1"/>
          <p:nvPr/>
        </p:nvSpPr>
        <p:spPr>
          <a:xfrm>
            <a:off x="502920" y="6419088"/>
            <a:ext cx="11155680" cy="320040"/>
          </a:xfrm>
          <a:prstGeom prst="rect">
            <a:avLst/>
          </a:prstGeom>
          <a:noFill/>
        </p:spPr>
        <p:txBody>
          <a:bodyPr wrap="square">
            <a:spAutoFit/>
          </a:bodyPr>
          <a:lstStyle/>
          <a:p>
            <a:r>
              <a:rPr sz="900" b="0" i="0">
                <a:solidFill>
                  <a:srgbClr val="666666"/>
                </a:solidFill>
                <a:latin typeface="Calibri"/>
              </a:rPr>
              <a:t>C2SIM ASX Sub-group   |   Hyssos   |   July 2026</a:t>
            </a:r>
          </a:p>
        </p:txBody>
      </p:sp>
      <p:sp>
        <p:nvSpPr>
          <p:cNvPr id="8" name="TextBox 7"/>
          <p:cNvSpPr txBox="1"/>
          <p:nvPr/>
        </p:nvSpPr>
        <p:spPr>
          <a:xfrm>
            <a:off x="11338560" y="6419088"/>
            <a:ext cx="640080" cy="320040"/>
          </a:xfrm>
          <a:prstGeom prst="rect">
            <a:avLst/>
          </a:prstGeom>
          <a:noFill/>
        </p:spPr>
        <p:txBody>
          <a:bodyPr wrap="square">
            <a:spAutoFit/>
          </a:bodyPr>
          <a:lstStyle/>
          <a:p>
            <a:pPr algn="r"/>
            <a:r>
              <a:rPr sz="9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1170432"/>
            <a:ext cx="2011680" cy="38100"/>
          </a:xfrm>
          <a:prstGeom prst="rect">
            <a:avLst/>
          </a:prstGeom>
          <a:solidFill>
            <a:srgbClr val="2E8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11155680" cy="822960"/>
          </a:xfrm>
          <a:prstGeom prst="rect">
            <a:avLst/>
          </a:prstGeom>
          <a:noFill/>
        </p:spPr>
        <p:txBody>
          <a:bodyPr wrap="square">
            <a:spAutoFit/>
          </a:bodyPr>
          <a:lstStyle/>
          <a:p>
            <a:r>
              <a:rPr sz="3000" b="1" i="0">
                <a:solidFill>
                  <a:srgbClr val="1F3A5F"/>
                </a:solidFill>
                <a:latin typeface="Calibri"/>
              </a:rPr>
              <a:t>The method</a:t>
            </a:r>
          </a:p>
        </p:txBody>
      </p:sp>
      <p:sp>
        <p:nvSpPr>
          <p:cNvPr id="4" name="TextBox 3"/>
          <p:cNvSpPr txBox="1"/>
          <p:nvPr/>
        </p:nvSpPr>
        <p:spPr>
          <a:xfrm>
            <a:off x="548640" y="914400"/>
            <a:ext cx="10972800" cy="320040"/>
          </a:xfrm>
          <a:prstGeom prst="rect">
            <a:avLst/>
          </a:prstGeom>
          <a:noFill/>
        </p:spPr>
        <p:txBody>
          <a:bodyPr wrap="square">
            <a:spAutoFit/>
          </a:bodyPr>
          <a:lstStyle/>
          <a:p>
            <a:r>
              <a:rPr sz="1300" b="0" i="1">
                <a:solidFill>
                  <a:srgbClr val="2E869A"/>
                </a:solidFill>
                <a:latin typeface="Calibri"/>
              </a:rPr>
              <a:t>Building on the sample-message work</a:t>
            </a:r>
          </a:p>
        </p:txBody>
      </p:sp>
      <p:sp>
        <p:nvSpPr>
          <p:cNvPr id="5" name="TextBox 4"/>
          <p:cNvSpPr txBox="1"/>
          <p:nvPr/>
        </p:nvSpPr>
        <p:spPr>
          <a:xfrm>
            <a:off x="640080" y="1554480"/>
            <a:ext cx="10972800" cy="4754880"/>
          </a:xfrm>
          <a:prstGeom prst="rect">
            <a:avLst/>
          </a:prstGeom>
          <a:noFill/>
        </p:spPr>
        <p:txBody>
          <a:bodyPr wrap="square">
            <a:spAutoFit/>
          </a:bodyPr>
          <a:lstStyle/>
          <a:p>
            <a:pPr>
              <a:spcBef>
                <a:spcPts val="200"/>
              </a:spcBef>
              <a:spcAft>
                <a:spcPts val="1300"/>
              </a:spcAft>
            </a:pPr>
            <a:r>
              <a:rPr sz="1700" b="0" i="0">
                <a:solidFill>
                  <a:srgbClr val="333333"/>
                </a:solidFill>
                <a:latin typeface="Calibri"/>
              </a:rPr>
              <a:t>•  Walk each scenario and instantiate real Initialization / Order / Report messages using C2SIM + the proposed ASX elements.</a:t>
            </a:r>
          </a:p>
          <a:p>
            <a:pPr>
              <a:spcBef>
                <a:spcPts val="200"/>
              </a:spcBef>
              <a:spcAft>
                <a:spcPts val="1300"/>
              </a:spcAft>
            </a:pPr>
            <a:r>
              <a:rPr sz="1700" b="0" i="0">
                <a:solidFill>
                  <a:srgbClr val="333333"/>
                </a:solidFill>
                <a:latin typeface="Calibri"/>
              </a:rPr>
              <a:t>•  The ASX model is an early work-in-progress (v0.0.x) and the message instances are still being put in place - instantiation is how we build those instances and surface what is still to be defined.</a:t>
            </a:r>
          </a:p>
          <a:p>
            <a:pPr>
              <a:spcBef>
                <a:spcPts val="200"/>
              </a:spcBef>
              <a:spcAft>
                <a:spcPts val="1300"/>
              </a:spcAft>
            </a:pPr>
            <a:r>
              <a:rPr sz="1700" b="0" i="0">
                <a:solidFill>
                  <a:srgbClr val="333333"/>
                </a:solidFill>
                <a:latin typeface="Calibri"/>
              </a:rPr>
              <a:t>•  Where a proposed element is not yet defined enough to instantiate cleanly, that marks a concrete thing to specify next - not a defect.</a:t>
            </a:r>
          </a:p>
          <a:p>
            <a:pPr>
              <a:spcBef>
                <a:spcPts val="200"/>
              </a:spcBef>
              <a:spcAft>
                <a:spcPts val="1300"/>
              </a:spcAft>
            </a:pPr>
            <a:r>
              <a:rPr sz="1700" b="0" i="0">
                <a:solidFill>
                  <a:srgbClr val="333333"/>
                </a:solidFill>
                <a:latin typeface="Calibri"/>
              </a:rPr>
              <a:t>•  Everything here is decisions and to-define items for the group; the approach is working.</a:t>
            </a:r>
          </a:p>
        </p:txBody>
      </p:sp>
      <p:sp>
        <p:nvSpPr>
          <p:cNvPr id="6" name="TextBox 5"/>
          <p:cNvSpPr txBox="1"/>
          <p:nvPr/>
        </p:nvSpPr>
        <p:spPr>
          <a:xfrm>
            <a:off x="502920" y="6419088"/>
            <a:ext cx="11155680" cy="320040"/>
          </a:xfrm>
          <a:prstGeom prst="rect">
            <a:avLst/>
          </a:prstGeom>
          <a:noFill/>
        </p:spPr>
        <p:txBody>
          <a:bodyPr wrap="square">
            <a:spAutoFit/>
          </a:bodyPr>
          <a:lstStyle/>
          <a:p>
            <a:r>
              <a:rPr sz="900" b="0" i="0">
                <a:solidFill>
                  <a:srgbClr val="666666"/>
                </a:solidFill>
                <a:latin typeface="Calibri"/>
              </a:rPr>
              <a:t>C2SIM ASX Sub-group   |   Hyssos   |   July 2026</a:t>
            </a:r>
          </a:p>
        </p:txBody>
      </p:sp>
      <p:sp>
        <p:nvSpPr>
          <p:cNvPr id="7" name="TextBox 6"/>
          <p:cNvSpPr txBox="1"/>
          <p:nvPr/>
        </p:nvSpPr>
        <p:spPr>
          <a:xfrm>
            <a:off x="11338560" y="6419088"/>
            <a:ext cx="640080" cy="320040"/>
          </a:xfrm>
          <a:prstGeom prst="rect">
            <a:avLst/>
          </a:prstGeom>
          <a:noFill/>
        </p:spPr>
        <p:txBody>
          <a:bodyPr wrap="square">
            <a:spAutoFit/>
          </a:bodyPr>
          <a:lstStyle/>
          <a:p>
            <a:pPr algn="r"/>
            <a:r>
              <a:rPr sz="9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1170432"/>
            <a:ext cx="2011680" cy="38100"/>
          </a:xfrm>
          <a:prstGeom prst="rect">
            <a:avLst/>
          </a:prstGeom>
          <a:solidFill>
            <a:srgbClr val="2E8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11155680" cy="822960"/>
          </a:xfrm>
          <a:prstGeom prst="rect">
            <a:avLst/>
          </a:prstGeom>
          <a:noFill/>
        </p:spPr>
        <p:txBody>
          <a:bodyPr wrap="square">
            <a:spAutoFit/>
          </a:bodyPr>
          <a:lstStyle/>
          <a:p>
            <a:r>
              <a:rPr sz="3000" b="1" i="0">
                <a:solidFill>
                  <a:srgbClr val="1F3A5F"/>
                </a:solidFill>
                <a:latin typeface="Calibri"/>
              </a:rPr>
              <a:t>How this was produced: three sessions + a verification pass</a:t>
            </a:r>
          </a:p>
        </p:txBody>
      </p:sp>
      <p:sp>
        <p:nvSpPr>
          <p:cNvPr id="4" name="TextBox 3"/>
          <p:cNvSpPr txBox="1"/>
          <p:nvPr/>
        </p:nvSpPr>
        <p:spPr>
          <a:xfrm>
            <a:off x="548640" y="914400"/>
            <a:ext cx="10972800" cy="320040"/>
          </a:xfrm>
          <a:prstGeom prst="rect">
            <a:avLst/>
          </a:prstGeom>
          <a:noFill/>
        </p:spPr>
        <p:txBody>
          <a:bodyPr wrap="square">
            <a:spAutoFit/>
          </a:bodyPr>
          <a:lstStyle/>
          <a:p>
            <a:r>
              <a:rPr sz="1300" b="0" i="1">
                <a:solidFill>
                  <a:srgbClr val="2E869A"/>
                </a:solidFill>
                <a:latin typeface="Calibri"/>
              </a:rPr>
              <a:t>LLM-assisted, human-directed - each stage grounded in the artifacts, not memory</a:t>
            </a:r>
          </a:p>
        </p:txBody>
      </p:sp>
      <p:sp>
        <p:nvSpPr>
          <p:cNvPr id="5" name="Rounded Rectangle 4"/>
          <p:cNvSpPr/>
          <p:nvPr/>
        </p:nvSpPr>
        <p:spPr>
          <a:xfrm>
            <a:off x="640080" y="1737360"/>
            <a:ext cx="3383280" cy="1554480"/>
          </a:xfrm>
          <a:prstGeom prst="round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50" b="1" i="0">
                <a:solidFill>
                  <a:srgbClr val="FFFFFF"/>
                </a:solidFill>
                <a:latin typeface="Calibri"/>
              </a:rPr>
              <a:t>1  -  Document mining
Hunt primary mission documents (theses, tech reports, AARs) for missing domains + validation holes</a:t>
            </a:r>
          </a:p>
        </p:txBody>
      </p:sp>
      <p:sp>
        <p:nvSpPr>
          <p:cNvPr id="6" name="Rounded Rectangle 5"/>
          <p:cNvSpPr/>
          <p:nvPr/>
        </p:nvSpPr>
        <p:spPr>
          <a:xfrm>
            <a:off x="4389120" y="1737360"/>
            <a:ext cx="3383280" cy="1554480"/>
          </a:xfrm>
          <a:prstGeom prst="round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50" b="1" i="0">
                <a:solidFill>
                  <a:srgbClr val="FFFFFF"/>
                </a:solidFill>
                <a:latin typeface="Calibri"/>
              </a:rPr>
              <a:t>2  -  Scenario extraction
A locked v2.2 prompt distills each document into a standardized scenario record (12 records)</a:t>
            </a:r>
          </a:p>
        </p:txBody>
      </p:sp>
      <p:sp>
        <p:nvSpPr>
          <p:cNvPr id="7" name="Rounded Rectangle 6"/>
          <p:cNvSpPr/>
          <p:nvPr/>
        </p:nvSpPr>
        <p:spPr>
          <a:xfrm>
            <a:off x="8138160" y="1737360"/>
            <a:ext cx="3383280" cy="1554480"/>
          </a:xfrm>
          <a:prstGeom prst="round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50" b="1" i="0">
                <a:solidFill>
                  <a:srgbClr val="FFFFFF"/>
                </a:solidFill>
                <a:latin typeface="Calibri"/>
              </a:rPr>
              <a:t>3  -  Ontology application
Walk each scenario into concrete Init / Order / Report messages using the proposed ASX elements</a:t>
            </a:r>
          </a:p>
        </p:txBody>
      </p:sp>
      <p:cxnSp>
        <p:nvCxnSpPr>
          <p:cNvPr id="8" name="Connector 7"/>
          <p:cNvCxnSpPr/>
          <p:nvPr/>
        </p:nvCxnSpPr>
        <p:spPr>
          <a:xfrm>
            <a:off x="4023360" y="2514600"/>
            <a:ext cx="365760" cy="0"/>
          </a:xfrm>
          <a:prstGeom prst="line">
            <a:avLst/>
          </a:prstGeom>
          <a:ln w="19050">
            <a:solidFill>
              <a:srgbClr val="2E869A"/>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7772400" y="2514600"/>
            <a:ext cx="365760" cy="0"/>
          </a:xfrm>
          <a:prstGeom prst="line">
            <a:avLst/>
          </a:prstGeom>
          <a:ln w="19050">
            <a:solidFill>
              <a:srgbClr val="2E869A"/>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40080" y="3611880"/>
            <a:ext cx="10881360" cy="96012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latin typeface="Calibri"/>
              </a:rPr>
              <a:t>4  -  Independent verification pass: every RDF-grounded claim re-checked against C2SIM / SMX / LOX and v0.0.3; workbooks re-compared cell-for-cell; citations traced; deck regenerated. Corrections logged (issues log, 2026-07-12).</a:t>
            </a:r>
          </a:p>
        </p:txBody>
      </p:sp>
      <p:sp>
        <p:nvSpPr>
          <p:cNvPr id="11" name="TextBox 10"/>
          <p:cNvSpPr txBox="1"/>
          <p:nvPr/>
        </p:nvSpPr>
        <p:spPr>
          <a:xfrm>
            <a:off x="640080" y="4800600"/>
            <a:ext cx="10972800" cy="1554480"/>
          </a:xfrm>
          <a:prstGeom prst="rect">
            <a:avLst/>
          </a:prstGeom>
          <a:noFill/>
        </p:spPr>
        <p:txBody>
          <a:bodyPr wrap="square">
            <a:spAutoFit/>
          </a:bodyPr>
          <a:lstStyle/>
          <a:p>
            <a:pPr>
              <a:spcBef>
                <a:spcPts val="200"/>
              </a:spcBef>
              <a:spcAft>
                <a:spcPts val="700"/>
              </a:spcAft>
            </a:pPr>
            <a:r>
              <a:rPr sz="1300" b="0" i="0">
                <a:solidFill>
                  <a:srgbClr val="333333"/>
                </a:solidFill>
                <a:latin typeface="Calibri"/>
              </a:rPr>
              <a:t>•  The loop iterates: the ontology walk (3) writes the sourcing brief (Documents-Needed), mining (1) answers it (Documents-Found), extraction (2) turns the finds into records, and the walk integrates them - until every raised gap is grounded in a real mission.</a:t>
            </a:r>
          </a:p>
          <a:p>
            <a:pPr>
              <a:spcBef>
                <a:spcPts val="200"/>
              </a:spcBef>
              <a:spcAft>
                <a:spcPts val="700"/>
              </a:spcAft>
            </a:pPr>
            <a:r>
              <a:rPr sz="1300" b="0" i="0">
                <a:solidFill>
                  <a:srgbClr val="666666"/>
                </a:solidFill>
                <a:latin typeface="Calibri"/>
              </a:rPr>
              <a:t>•  Artifacts per stage: References corpus + Documents-Needed/Found (1); PromptV2 + V2Extractions (2); the .xml workbooks, walk docs, and issues log (3).</a:t>
            </a:r>
          </a:p>
        </p:txBody>
      </p:sp>
      <p:sp>
        <p:nvSpPr>
          <p:cNvPr id="12" name="TextBox 11"/>
          <p:cNvSpPr txBox="1"/>
          <p:nvPr/>
        </p:nvSpPr>
        <p:spPr>
          <a:xfrm>
            <a:off x="502920" y="6126480"/>
            <a:ext cx="11155680" cy="274320"/>
          </a:xfrm>
          <a:prstGeom prst="rect">
            <a:avLst/>
          </a:prstGeom>
          <a:noFill/>
        </p:spPr>
        <p:txBody>
          <a:bodyPr wrap="square">
            <a:spAutoFit/>
          </a:bodyPr>
          <a:lstStyle/>
          <a:p>
            <a:r>
              <a:rPr sz="1000" b="1" i="1">
                <a:solidFill>
                  <a:srgbClr val="2E869A"/>
                </a:solidFill>
                <a:latin typeface="Calibri"/>
              </a:rPr>
              <a:t>Dig deeper:  </a:t>
            </a:r>
            <a:r>
              <a:rPr sz="1000" b="0" i="1">
                <a:solidFill>
                  <a:srgbClr val="666666"/>
                </a:solidFill>
                <a:latin typeface="Calibri"/>
              </a:rPr>
              <a:t>Documents-Needed/Found.md (mining)  -  PromptV2.md + V2-HeadToHead.md (extraction)  -  the walk docs (application)  -  log change-log 2026-07-12 (verification)</a:t>
            </a:r>
          </a:p>
        </p:txBody>
      </p:sp>
      <p:sp>
        <p:nvSpPr>
          <p:cNvPr id="13" name="TextBox 12"/>
          <p:cNvSpPr txBox="1"/>
          <p:nvPr/>
        </p:nvSpPr>
        <p:spPr>
          <a:xfrm>
            <a:off x="502920" y="6419088"/>
            <a:ext cx="11155680" cy="320040"/>
          </a:xfrm>
          <a:prstGeom prst="rect">
            <a:avLst/>
          </a:prstGeom>
          <a:noFill/>
        </p:spPr>
        <p:txBody>
          <a:bodyPr wrap="square">
            <a:spAutoFit/>
          </a:bodyPr>
          <a:lstStyle/>
          <a:p>
            <a:r>
              <a:rPr sz="900" b="0" i="0">
                <a:solidFill>
                  <a:srgbClr val="666666"/>
                </a:solidFill>
                <a:latin typeface="Calibri"/>
              </a:rPr>
              <a:t>C2SIM ASX Sub-group   |   Hyssos   |   July 2026</a:t>
            </a:r>
          </a:p>
        </p:txBody>
      </p:sp>
      <p:sp>
        <p:nvSpPr>
          <p:cNvPr id="14" name="TextBox 13"/>
          <p:cNvSpPr txBox="1"/>
          <p:nvPr/>
        </p:nvSpPr>
        <p:spPr>
          <a:xfrm>
            <a:off x="11338560" y="6419088"/>
            <a:ext cx="640080" cy="320040"/>
          </a:xfrm>
          <a:prstGeom prst="rect">
            <a:avLst/>
          </a:prstGeom>
          <a:noFill/>
        </p:spPr>
        <p:txBody>
          <a:bodyPr wrap="square">
            <a:spAutoFit/>
          </a:bodyPr>
          <a:lstStyle/>
          <a:p>
            <a:pPr algn="r"/>
            <a:r>
              <a:rPr sz="9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1170432"/>
            <a:ext cx="2011680" cy="38100"/>
          </a:xfrm>
          <a:prstGeom prst="rect">
            <a:avLst/>
          </a:prstGeom>
          <a:solidFill>
            <a:srgbClr val="2E8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11155680" cy="822960"/>
          </a:xfrm>
          <a:prstGeom prst="rect">
            <a:avLst/>
          </a:prstGeom>
          <a:noFill/>
        </p:spPr>
        <p:txBody>
          <a:bodyPr wrap="square">
            <a:spAutoFit/>
          </a:bodyPr>
          <a:lstStyle/>
          <a:p>
            <a:r>
              <a:rPr sz="3000" b="1" i="0">
                <a:solidFill>
                  <a:srgbClr val="1F3A5F"/>
                </a:solidFill>
                <a:latin typeface="Calibri"/>
              </a:rPr>
              <a:t>What this review contributes</a:t>
            </a:r>
          </a:p>
        </p:txBody>
      </p:sp>
      <p:sp>
        <p:nvSpPr>
          <p:cNvPr id="4" name="TextBox 3"/>
          <p:cNvSpPr txBox="1"/>
          <p:nvPr/>
        </p:nvSpPr>
        <p:spPr>
          <a:xfrm>
            <a:off x="548640" y="914400"/>
            <a:ext cx="10972800" cy="320040"/>
          </a:xfrm>
          <a:prstGeom prst="rect">
            <a:avLst/>
          </a:prstGeom>
          <a:noFill/>
        </p:spPr>
        <p:txBody>
          <a:bodyPr wrap="square">
            <a:spAutoFit/>
          </a:bodyPr>
          <a:lstStyle/>
          <a:p>
            <a:r>
              <a:rPr sz="1300" b="0" i="1">
                <a:solidFill>
                  <a:srgbClr val="2E869A"/>
                </a:solidFill>
                <a:latin typeface="Calibri"/>
              </a:rPr>
              <a:t>Five deliverables - all proposals, nothing applied to the OWL or the .xlsx</a:t>
            </a:r>
          </a:p>
        </p:txBody>
      </p:sp>
      <p:sp>
        <p:nvSpPr>
          <p:cNvPr id="5" name="TextBox 4"/>
          <p:cNvSpPr txBox="1"/>
          <p:nvPr/>
        </p:nvSpPr>
        <p:spPr>
          <a:xfrm>
            <a:off x="640080" y="1554480"/>
            <a:ext cx="10972800" cy="4754880"/>
          </a:xfrm>
          <a:prstGeom prst="rect">
            <a:avLst/>
          </a:prstGeom>
          <a:noFill/>
        </p:spPr>
        <p:txBody>
          <a:bodyPr wrap="square">
            <a:spAutoFit/>
          </a:bodyPr>
          <a:lstStyle/>
          <a:p>
            <a:pPr>
              <a:spcBef>
                <a:spcPts val="200"/>
              </a:spcBef>
              <a:spcAft>
                <a:spcPts val="1200"/>
              </a:spcAft>
            </a:pPr>
            <a:r>
              <a:rPr sz="1450" b="1" i="0">
                <a:solidFill>
                  <a:srgbClr val="1F3A5F"/>
                </a:solidFill>
                <a:latin typeface="Calibri"/>
              </a:rPr>
              <a:t>•  1  Message instantiations:  </a:t>
            </a:r>
            <a:r>
              <a:rPr sz="1450" b="0" i="0">
                <a:solidFill>
                  <a:srgbClr val="333333"/>
                </a:solidFill>
                <a:latin typeface="Calibri"/>
              </a:rPr>
              <a:t>~29 new worked messages (4 -&gt; ~33; Initialization 0 -&gt; 6) in diff-able .xml workbooks - one tab per message, with open items flagged [!]/[Q] in the Notes column, keyed to log IDs.</a:t>
            </a:r>
          </a:p>
          <a:p>
            <a:pPr>
              <a:spcBef>
                <a:spcPts val="200"/>
              </a:spcBef>
              <a:spcAft>
                <a:spcPts val="1200"/>
              </a:spcAft>
            </a:pPr>
            <a:r>
              <a:rPr sz="1450" b="1" i="0">
                <a:solidFill>
                  <a:srgbClr val="1F3A5F"/>
                </a:solidFill>
                <a:latin typeface="Calibri"/>
              </a:rPr>
              <a:t>•  2  Sourced scenario corpus:  </a:t>
            </a:r>
            <a:r>
              <a:rPr sz="1450" b="0" i="0">
                <a:solidFill>
                  <a:srgbClr val="333333"/>
                </a:solidFill>
                <a:latin typeface="Calibri"/>
              </a:rPr>
              <a:t>12 standardized extraction records from real missions (subterranean, maritime MCM, sustainment, explainability, CBRN, EW, persistence, counter-UAS, MUM-T, SAR, formation, breach) + the source PDFs - every gap this review raised is grounded in a documented mission.</a:t>
            </a:r>
          </a:p>
          <a:p>
            <a:pPr>
              <a:spcBef>
                <a:spcPts val="200"/>
              </a:spcBef>
              <a:spcAft>
                <a:spcPts val="1200"/>
              </a:spcAft>
            </a:pPr>
            <a:r>
              <a:rPr sz="1450" b="1" i="0">
                <a:solidFill>
                  <a:srgbClr val="1F3A5F"/>
                </a:solidFill>
                <a:latin typeface="Calibri"/>
              </a:rPr>
              <a:t>•  3  Findings -&gt; decisions:  </a:t>
            </a:r>
            <a:r>
              <a:rPr sz="1450" b="0" i="0">
                <a:solidFill>
                  <a:srgbClr val="333333"/>
                </a:solidFill>
                <a:latin typeface="Calibri"/>
              </a:rPr>
              <a:t>a consolidated issues log (severity / status / RDF-verified evidence per finding) distilled into 22 concrete decisions for the group (Q-A..Q-V).</a:t>
            </a:r>
          </a:p>
          <a:p>
            <a:pPr>
              <a:spcBef>
                <a:spcPts val="200"/>
              </a:spcBef>
              <a:spcAft>
                <a:spcPts val="1200"/>
              </a:spcAft>
            </a:pPr>
            <a:r>
              <a:rPr sz="1450" b="1" i="0">
                <a:solidFill>
                  <a:srgbClr val="1F3A5F"/>
                </a:solidFill>
                <a:latin typeface="Calibri"/>
              </a:rPr>
              <a:t>•  4  v0.0.3 reconciliation:  </a:t>
            </a:r>
            <a:r>
              <a:rPr sz="1450" b="0" i="0">
                <a:solidFill>
                  <a:srgbClr val="333333"/>
                </a:solidFill>
                <a:latin typeface="Calibri"/>
              </a:rPr>
              <a:t>how each finding moves against Michael's update - what it adopts, what it makes concrete, what remains - plus coordination notes (two ASX files, import layering).</a:t>
            </a:r>
          </a:p>
          <a:p>
            <a:pPr>
              <a:spcBef>
                <a:spcPts val="200"/>
              </a:spcBef>
              <a:spcAft>
                <a:spcPts val="1200"/>
              </a:spcAft>
            </a:pPr>
            <a:r>
              <a:rPr sz="1450" b="1" i="0">
                <a:solidFill>
                  <a:srgbClr val="1F3A5F"/>
                </a:solidFill>
                <a:latin typeface="Calibri"/>
              </a:rPr>
              <a:t>•  5  Prior art to re-adopt:  </a:t>
            </a:r>
            <a:r>
              <a:rPr sz="1450" b="0" i="0">
                <a:solidFill>
                  <a:srgbClr val="333333"/>
                </a:solidFill>
                <a:latin typeface="Calibri"/>
              </a:rPr>
              <a:t>the measurement report exists in C2SIM's own BML lineage (WhoMeasuredType); ROE, routes, resources, membership/command, maritime vessels, and 446 task verbs already exist in the base standard - several decisions are re-adopt, not invent.</a:t>
            </a:r>
          </a:p>
        </p:txBody>
      </p:sp>
      <p:sp>
        <p:nvSpPr>
          <p:cNvPr id="6" name="TextBox 5"/>
          <p:cNvSpPr txBox="1"/>
          <p:nvPr/>
        </p:nvSpPr>
        <p:spPr>
          <a:xfrm>
            <a:off x="502920" y="6126480"/>
            <a:ext cx="11155680" cy="274320"/>
          </a:xfrm>
          <a:prstGeom prst="rect">
            <a:avLst/>
          </a:prstGeom>
          <a:noFill/>
        </p:spPr>
        <p:txBody>
          <a:bodyPr wrap="square">
            <a:spAutoFit/>
          </a:bodyPr>
          <a:lstStyle/>
          <a:p>
            <a:r>
              <a:rPr sz="1000" b="1" i="1">
                <a:solidFill>
                  <a:srgbClr val="2E869A"/>
                </a:solidFill>
                <a:latin typeface="Calibri"/>
              </a:rPr>
              <a:t>Dig deeper:  </a:t>
            </a:r>
            <a:r>
              <a:rPr sz="1000" b="0" i="1">
                <a:solidFill>
                  <a:srgbClr val="666666"/>
                </a:solidFill>
                <a:latin typeface="Calibri"/>
              </a:rPr>
              <a:t>the full artifact map is on the final three slides ('How to use this material' / decoder ring / 'Where to dig deeper')</a:t>
            </a:r>
          </a:p>
        </p:txBody>
      </p:sp>
      <p:sp>
        <p:nvSpPr>
          <p:cNvPr id="7" name="TextBox 6"/>
          <p:cNvSpPr txBox="1"/>
          <p:nvPr/>
        </p:nvSpPr>
        <p:spPr>
          <a:xfrm>
            <a:off x="502920" y="6419088"/>
            <a:ext cx="11155680" cy="320040"/>
          </a:xfrm>
          <a:prstGeom prst="rect">
            <a:avLst/>
          </a:prstGeom>
          <a:noFill/>
        </p:spPr>
        <p:txBody>
          <a:bodyPr wrap="square">
            <a:spAutoFit/>
          </a:bodyPr>
          <a:lstStyle/>
          <a:p>
            <a:r>
              <a:rPr sz="900" b="0" i="0">
                <a:solidFill>
                  <a:srgbClr val="666666"/>
                </a:solidFill>
                <a:latin typeface="Calibri"/>
              </a:rPr>
              <a:t>C2SIM ASX Sub-group   |   Hyssos   |   July 2026</a:t>
            </a:r>
          </a:p>
        </p:txBody>
      </p:sp>
      <p:sp>
        <p:nvSpPr>
          <p:cNvPr id="8" name="TextBox 7"/>
          <p:cNvSpPr txBox="1"/>
          <p:nvPr/>
        </p:nvSpPr>
        <p:spPr>
          <a:xfrm>
            <a:off x="11338560" y="6419088"/>
            <a:ext cx="640080" cy="320040"/>
          </a:xfrm>
          <a:prstGeom prst="rect">
            <a:avLst/>
          </a:prstGeom>
          <a:noFill/>
        </p:spPr>
        <p:txBody>
          <a:bodyPr wrap="square">
            <a:spAutoFit/>
          </a:bodyPr>
          <a:lstStyle/>
          <a:p>
            <a:pPr algn="r"/>
            <a:r>
              <a:rPr sz="9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1170432"/>
            <a:ext cx="2011680" cy="38100"/>
          </a:xfrm>
          <a:prstGeom prst="rect">
            <a:avLst/>
          </a:prstGeom>
          <a:solidFill>
            <a:srgbClr val="2E8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11155680" cy="822960"/>
          </a:xfrm>
          <a:prstGeom prst="rect">
            <a:avLst/>
          </a:prstGeom>
          <a:noFill/>
        </p:spPr>
        <p:txBody>
          <a:bodyPr wrap="square">
            <a:spAutoFit/>
          </a:bodyPr>
          <a:lstStyle/>
          <a:p>
            <a:r>
              <a:rPr sz="3000" b="1" i="0">
                <a:solidFill>
                  <a:srgbClr val="1F3A5F"/>
                </a:solidFill>
                <a:latin typeface="Calibri"/>
              </a:rPr>
              <a:t>Where the instantiation stands</a:t>
            </a:r>
          </a:p>
        </p:txBody>
      </p:sp>
      <p:sp>
        <p:nvSpPr>
          <p:cNvPr id="4" name="TextBox 3"/>
          <p:cNvSpPr txBox="1"/>
          <p:nvPr/>
        </p:nvSpPr>
        <p:spPr>
          <a:xfrm>
            <a:off x="548640" y="914400"/>
            <a:ext cx="10972800" cy="320040"/>
          </a:xfrm>
          <a:prstGeom prst="rect">
            <a:avLst/>
          </a:prstGeom>
          <a:noFill/>
        </p:spPr>
        <p:txBody>
          <a:bodyPr wrap="square">
            <a:spAutoFit/>
          </a:bodyPr>
          <a:lstStyle/>
          <a:p>
            <a:r>
              <a:rPr sz="1300" b="0" i="1">
                <a:solidFill>
                  <a:srgbClr val="2E869A"/>
                </a:solidFill>
                <a:latin typeface="Calibri"/>
              </a:rPr>
              <a:t>From 4 worked messages to ~33 - this review is the bulk of that</a:t>
            </a:r>
          </a:p>
        </p:txBody>
      </p:sp>
      <p:sp>
        <p:nvSpPr>
          <p:cNvPr id="5" name="TextBox 4"/>
          <p:cNvSpPr txBox="1"/>
          <p:nvPr/>
        </p:nvSpPr>
        <p:spPr>
          <a:xfrm>
            <a:off x="640080" y="1600200"/>
            <a:ext cx="10972800" cy="4754880"/>
          </a:xfrm>
          <a:prstGeom prst="rect">
            <a:avLst/>
          </a:prstGeom>
          <a:noFill/>
        </p:spPr>
        <p:txBody>
          <a:bodyPr wrap="square">
            <a:spAutoFit/>
          </a:bodyPr>
          <a:lstStyle/>
          <a:p>
            <a:pPr>
              <a:spcBef>
                <a:spcPts val="200"/>
              </a:spcBef>
              <a:spcAft>
                <a:spcPts val="900"/>
              </a:spcAft>
            </a:pPr>
            <a:r>
              <a:rPr sz="1500" b="1" i="0">
                <a:solidFill>
                  <a:srgbClr val="333333"/>
                </a:solidFill>
                <a:latin typeface="Calibri"/>
              </a:rPr>
              <a:t>•  Start: 4 worked instances (2 Reports, 2 Orders, 0 Initialization) - Elizabeth's baseline. This review drafted ~29 more, to ~33 across Init / Order / Report (on the branch, pending group review).</a:t>
            </a:r>
          </a:p>
          <a:p>
            <a:pPr lvl="1">
              <a:spcBef>
                <a:spcPts val="200"/>
              </a:spcBef>
              <a:spcAft>
                <a:spcPts val="900"/>
              </a:spcAft>
            </a:pPr>
            <a:r>
              <a:rPr sz="1500" b="0" i="0">
                <a:solidFill>
                  <a:srgbClr val="333333"/>
                </a:solidFill>
                <a:latin typeface="Calibri"/>
              </a:rPr>
              <a:t>–  Initialization   0 -&gt; 6   (the 3 named scenarios + CASEVAC / MCM / SubT) - was the least-developed; now seeded.</a:t>
            </a:r>
          </a:p>
          <a:p>
            <a:pPr lvl="1">
              <a:spcBef>
                <a:spcPts val="200"/>
              </a:spcBef>
              <a:spcAft>
                <a:spcPts val="900"/>
              </a:spcAft>
            </a:pPr>
            <a:r>
              <a:rPr sz="1500" b="0" i="0">
                <a:solidFill>
                  <a:srgbClr val="333333"/>
                </a:solidFill>
                <a:latin typeface="Calibri"/>
              </a:rPr>
              <a:t>–  Orders   2 -&gt; 14   (CASEVAC, swarm, fire support, logistics / engineering / rescue, route clearance, MCM, explore, resupply, MUM-T).</a:t>
            </a:r>
          </a:p>
          <a:p>
            <a:pPr lvl="1">
              <a:spcBef>
                <a:spcPts val="200"/>
              </a:spcBef>
              <a:spcAft>
                <a:spcPts val="900"/>
              </a:spcAft>
            </a:pPr>
            <a:r>
              <a:rPr sz="1500" b="0" i="0">
                <a:solidFill>
                  <a:srgbClr val="333333"/>
                </a:solidFill>
                <a:latin typeface="Calibri"/>
              </a:rPr>
              <a:t>–  Reports   2 -&gt; 13   (swarm, CASEVAC status / explainable, CBRN / EW / GPR, BDA, delivery, naval mine, generic detection, hazard area).</a:t>
            </a:r>
          </a:p>
          <a:p>
            <a:pPr>
              <a:spcBef>
                <a:spcPts val="200"/>
              </a:spcBef>
              <a:spcAft>
                <a:spcPts val="900"/>
              </a:spcAft>
            </a:pPr>
            <a:r>
              <a:rPr sz="1500" b="1" i="0">
                <a:solidFill>
                  <a:srgbClr val="333333"/>
                </a:solidFill>
                <a:latin typeface="Calibri"/>
              </a:rPr>
              <a:t>•  CASEVAC - the one contributed scenario - had no messages; now walked end-to-end (Init + Orders + Reports).</a:t>
            </a:r>
          </a:p>
          <a:p>
            <a:pPr lvl="1">
              <a:spcBef>
                <a:spcPts val="200"/>
              </a:spcBef>
              <a:spcAft>
                <a:spcPts val="900"/>
              </a:spcAft>
            </a:pPr>
            <a:r>
              <a:rPr sz="1500" b="0" i="0">
                <a:solidFill>
                  <a:srgbClr val="333333"/>
                </a:solidFill>
                <a:latin typeface="Calibri"/>
              </a:rPr>
              <a:t>–  The breadth is the point: each new instance exercises a proposed element and surfaces what is still to define.</a:t>
            </a:r>
          </a:p>
        </p:txBody>
      </p:sp>
      <p:sp>
        <p:nvSpPr>
          <p:cNvPr id="6" name="TextBox 5"/>
          <p:cNvSpPr txBox="1"/>
          <p:nvPr/>
        </p:nvSpPr>
        <p:spPr>
          <a:xfrm>
            <a:off x="502920" y="6126480"/>
            <a:ext cx="11155680" cy="274320"/>
          </a:xfrm>
          <a:prstGeom prst="rect">
            <a:avLst/>
          </a:prstGeom>
          <a:noFill/>
        </p:spPr>
        <p:txBody>
          <a:bodyPr wrap="square">
            <a:spAutoFit/>
          </a:bodyPr>
          <a:lstStyle/>
          <a:p>
            <a:r>
              <a:rPr sz="1000" b="1" i="1">
                <a:solidFill>
                  <a:srgbClr val="2E869A"/>
                </a:solidFill>
                <a:latin typeface="Calibri"/>
              </a:rPr>
              <a:t>Dig deeper:  </a:t>
            </a:r>
            <a:r>
              <a:rPr sz="1000" b="0" i="1">
                <a:solidFill>
                  <a:srgbClr val="666666"/>
                </a:solidFill>
                <a:latin typeface="Calibri"/>
              </a:rPr>
              <a:t>Message-Instantiation-Coverage.md (the pre-walk baseline)  -  log sec 6 rows C1-C8 (current state)  -  the three ASX Sample *.xml workbooks (the messages themselves)</a:t>
            </a:r>
          </a:p>
        </p:txBody>
      </p:sp>
      <p:sp>
        <p:nvSpPr>
          <p:cNvPr id="7" name="TextBox 6"/>
          <p:cNvSpPr txBox="1"/>
          <p:nvPr/>
        </p:nvSpPr>
        <p:spPr>
          <a:xfrm>
            <a:off x="502920" y="6419088"/>
            <a:ext cx="11155680" cy="320040"/>
          </a:xfrm>
          <a:prstGeom prst="rect">
            <a:avLst/>
          </a:prstGeom>
          <a:noFill/>
        </p:spPr>
        <p:txBody>
          <a:bodyPr wrap="square">
            <a:spAutoFit/>
          </a:bodyPr>
          <a:lstStyle/>
          <a:p>
            <a:r>
              <a:rPr sz="900" b="0" i="0">
                <a:solidFill>
                  <a:srgbClr val="666666"/>
                </a:solidFill>
                <a:latin typeface="Calibri"/>
              </a:rPr>
              <a:t>C2SIM ASX Sub-group   |   Hyssos   |   July 2026</a:t>
            </a:r>
          </a:p>
        </p:txBody>
      </p:sp>
      <p:sp>
        <p:nvSpPr>
          <p:cNvPr id="8" name="TextBox 7"/>
          <p:cNvSpPr txBox="1"/>
          <p:nvPr/>
        </p:nvSpPr>
        <p:spPr>
          <a:xfrm>
            <a:off x="11338560" y="6419088"/>
            <a:ext cx="640080" cy="320040"/>
          </a:xfrm>
          <a:prstGeom prst="rect">
            <a:avLst/>
          </a:prstGeom>
          <a:noFill/>
        </p:spPr>
        <p:txBody>
          <a:bodyPr wrap="square">
            <a:spAutoFit/>
          </a:bodyPr>
          <a:lstStyle/>
          <a:p>
            <a:pPr algn="r"/>
            <a:r>
              <a:rPr sz="9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1170432"/>
            <a:ext cx="2011680" cy="38100"/>
          </a:xfrm>
          <a:prstGeom prst="rect">
            <a:avLst/>
          </a:prstGeom>
          <a:solidFill>
            <a:srgbClr val="2E8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11155680" cy="822960"/>
          </a:xfrm>
          <a:prstGeom prst="rect">
            <a:avLst/>
          </a:prstGeom>
          <a:noFill/>
        </p:spPr>
        <p:txBody>
          <a:bodyPr wrap="square">
            <a:spAutoFit/>
          </a:bodyPr>
          <a:lstStyle/>
          <a:p>
            <a:r>
              <a:rPr sz="3000" b="1" i="0">
                <a:solidFill>
                  <a:srgbClr val="1F3A5F"/>
                </a:solidFill>
                <a:latin typeface="Calibri"/>
              </a:rPr>
              <a:t>Scenarios analyzed</a:t>
            </a:r>
          </a:p>
        </p:txBody>
      </p:sp>
      <p:sp>
        <p:nvSpPr>
          <p:cNvPr id="4" name="TextBox 3"/>
          <p:cNvSpPr txBox="1"/>
          <p:nvPr/>
        </p:nvSpPr>
        <p:spPr>
          <a:xfrm>
            <a:off x="548640" y="914400"/>
            <a:ext cx="10972800" cy="320040"/>
          </a:xfrm>
          <a:prstGeom prst="rect">
            <a:avLst/>
          </a:prstGeom>
          <a:noFill/>
        </p:spPr>
        <p:txBody>
          <a:bodyPr wrap="square">
            <a:spAutoFit/>
          </a:bodyPr>
          <a:lstStyle/>
          <a:p>
            <a:r>
              <a:rPr sz="1300" b="0" i="1">
                <a:solidFill>
                  <a:srgbClr val="2E869A"/>
                </a:solidFill>
                <a:latin typeface="Calibri"/>
              </a:rPr>
              <a:t>20+ scenarios walked into ~33 message instances - Init / Order / Report</a:t>
            </a:r>
          </a:p>
        </p:txBody>
      </p:sp>
      <p:sp>
        <p:nvSpPr>
          <p:cNvPr id="5" name="TextBox 4"/>
          <p:cNvSpPr txBox="1"/>
          <p:nvPr/>
        </p:nvSpPr>
        <p:spPr>
          <a:xfrm>
            <a:off x="640080" y="1554480"/>
            <a:ext cx="10972800" cy="4754880"/>
          </a:xfrm>
          <a:prstGeom prst="rect">
            <a:avLst/>
          </a:prstGeom>
          <a:noFill/>
        </p:spPr>
        <p:txBody>
          <a:bodyPr wrap="square">
            <a:spAutoFit/>
          </a:bodyPr>
          <a:lstStyle/>
          <a:p>
            <a:pPr>
              <a:spcBef>
                <a:spcPts val="200"/>
              </a:spcBef>
              <a:spcAft>
                <a:spcPts val="700"/>
              </a:spcAft>
            </a:pPr>
            <a:r>
              <a:rPr sz="1300" b="1" i="0">
                <a:solidFill>
                  <a:srgbClr val="333333"/>
                </a:solidFill>
                <a:latin typeface="Calibri"/>
              </a:rPr>
              <a:t>•  Named + contributed - instantiated end-to-end:</a:t>
            </a:r>
          </a:p>
          <a:p>
            <a:pPr lvl="1">
              <a:spcBef>
                <a:spcPts val="200"/>
              </a:spcBef>
              <a:spcAft>
                <a:spcPts val="700"/>
              </a:spcAft>
            </a:pPr>
            <a:r>
              <a:rPr sz="1300" b="0" i="0">
                <a:solidFill>
                  <a:srgbClr val="333333"/>
                </a:solidFill>
                <a:latin typeface="Calibri"/>
              </a:rPr>
              <a:t>–  the 3 named Init scenarios (UAV video, UAV patrol, swarm) + CASEVAC, the one human-authored contributed scenario - walked Init -&gt; tasking Order -&gt; robot-to-robot hand-off -&gt; status/threat + explainable Reports.</a:t>
            </a:r>
          </a:p>
          <a:p>
            <a:pPr>
              <a:spcBef>
                <a:spcPts val="200"/>
              </a:spcBef>
              <a:spcAft>
                <a:spcPts val="700"/>
              </a:spcAft>
            </a:pPr>
            <a:r>
              <a:rPr sz="1300" b="1" i="0">
                <a:solidFill>
                  <a:srgbClr val="333333"/>
                </a:solidFill>
                <a:latin typeface="Calibri"/>
              </a:rPr>
              <a:t>•  Capability stress-tests - instantiated:</a:t>
            </a:r>
          </a:p>
          <a:p>
            <a:pPr lvl="1">
              <a:spcBef>
                <a:spcPts val="200"/>
              </a:spcBef>
              <a:spcAft>
                <a:spcPts val="700"/>
              </a:spcAft>
            </a:pPr>
            <a:r>
              <a:rPr sz="1300" b="0" i="0">
                <a:solidFill>
                  <a:srgbClr val="333333"/>
                </a:solidFill>
                <a:latin typeface="Calibri"/>
              </a:rPr>
              <a:t>–  non-video sensing (CBRN, EW emitter, GPR mine); swarm detect + coordinate; the task/effect axis (fire support + BDA, logistics delivery, engineering, USV rescue, route clearance).</a:t>
            </a:r>
          </a:p>
          <a:p>
            <a:pPr>
              <a:spcBef>
                <a:spcPts val="200"/>
              </a:spcBef>
              <a:spcAft>
                <a:spcPts val="700"/>
              </a:spcAft>
            </a:pPr>
            <a:r>
              <a:rPr sz="1300" b="1" i="0">
                <a:solidFill>
                  <a:srgbClr val="333333"/>
                </a:solidFill>
                <a:latin typeface="Calibri"/>
              </a:rPr>
              <a:t>•  Newly sourced from real missions, then analyzed:</a:t>
            </a:r>
          </a:p>
          <a:p>
            <a:pPr lvl="1">
              <a:spcBef>
                <a:spcPts val="200"/>
              </a:spcBef>
              <a:spcAft>
                <a:spcPts val="700"/>
              </a:spcAft>
            </a:pPr>
            <a:r>
              <a:rPr sz="1300" b="0" i="0">
                <a:solidFill>
                  <a:srgbClr val="333333"/>
                </a:solidFill>
                <a:latin typeface="Calibri"/>
              </a:rPr>
              <a:t>–  Cooperative MCM (maritime), Subterranean SubT, contested sustainment - plus nine documented missions that grounded the validation holes: explainability (DroneResponse), CBRN (UGV), EW geolocation, persistence (MDARS), counter-UAS, human-machine teaming (MUM-T), SAR, formation, robotic breach.</a:t>
            </a:r>
          </a:p>
          <a:p>
            <a:pPr>
              <a:spcBef>
                <a:spcPts val="200"/>
              </a:spcBef>
              <a:spcAft>
                <a:spcPts val="700"/>
              </a:spcAft>
            </a:pPr>
            <a:r>
              <a:rPr sz="1300" b="1" i="0">
                <a:solidFill>
                  <a:srgbClr val="333333"/>
                </a:solidFill>
                <a:latin typeface="Calibri"/>
              </a:rPr>
              <a:t>•  Screened for redundancy:</a:t>
            </a:r>
          </a:p>
          <a:p>
            <a:pPr lvl="1">
              <a:spcBef>
                <a:spcPts val="200"/>
              </a:spcBef>
              <a:spcAft>
                <a:spcPts val="700"/>
              </a:spcAft>
            </a:pPr>
            <a:r>
              <a:rPr sz="1300" b="0" i="0">
                <a:solidFill>
                  <a:srgbClr val="333333"/>
                </a:solidFill>
                <a:latin typeface="Calibri"/>
              </a:rPr>
              <a:t>–  route-clearance / companion / urban - confirmed ~80% redundant, but still yielded N1 (an area as the subject of a task/report).</a:t>
            </a:r>
          </a:p>
        </p:txBody>
      </p:sp>
      <p:sp>
        <p:nvSpPr>
          <p:cNvPr id="6" name="TextBox 5"/>
          <p:cNvSpPr txBox="1"/>
          <p:nvPr/>
        </p:nvSpPr>
        <p:spPr>
          <a:xfrm>
            <a:off x="502920" y="6126480"/>
            <a:ext cx="11155680" cy="274320"/>
          </a:xfrm>
          <a:prstGeom prst="rect">
            <a:avLst/>
          </a:prstGeom>
          <a:noFill/>
        </p:spPr>
        <p:txBody>
          <a:bodyPr wrap="square">
            <a:spAutoFit/>
          </a:bodyPr>
          <a:lstStyle/>
          <a:p>
            <a:r>
              <a:rPr sz="1000" b="1" i="1">
                <a:solidFill>
                  <a:srgbClr val="2E869A"/>
                </a:solidFill>
                <a:latin typeface="Calibri"/>
              </a:rPr>
              <a:t>Dig deeper:  </a:t>
            </a:r>
            <a:r>
              <a:rPr sz="1000" b="0" i="1">
                <a:solidFill>
                  <a:srgbClr val="666666"/>
                </a:solidFill>
                <a:latin typeface="Calibri"/>
              </a:rPr>
              <a:t>one walk doc per scenario family (see final slide)  -  the 12 sourced records: LLMExperiments/PaperSummaries/V2Extractions/</a:t>
            </a:r>
          </a:p>
        </p:txBody>
      </p:sp>
      <p:sp>
        <p:nvSpPr>
          <p:cNvPr id="7" name="TextBox 6"/>
          <p:cNvSpPr txBox="1"/>
          <p:nvPr/>
        </p:nvSpPr>
        <p:spPr>
          <a:xfrm>
            <a:off x="502920" y="6419088"/>
            <a:ext cx="11155680" cy="320040"/>
          </a:xfrm>
          <a:prstGeom prst="rect">
            <a:avLst/>
          </a:prstGeom>
          <a:noFill/>
        </p:spPr>
        <p:txBody>
          <a:bodyPr wrap="square">
            <a:spAutoFit/>
          </a:bodyPr>
          <a:lstStyle/>
          <a:p>
            <a:r>
              <a:rPr sz="900" b="0" i="0">
                <a:solidFill>
                  <a:srgbClr val="666666"/>
                </a:solidFill>
                <a:latin typeface="Calibri"/>
              </a:rPr>
              <a:t>C2SIM ASX Sub-group   |   Hyssos   |   July 2026</a:t>
            </a:r>
          </a:p>
        </p:txBody>
      </p:sp>
      <p:sp>
        <p:nvSpPr>
          <p:cNvPr id="8" name="TextBox 7"/>
          <p:cNvSpPr txBox="1"/>
          <p:nvPr/>
        </p:nvSpPr>
        <p:spPr>
          <a:xfrm>
            <a:off x="11338560" y="6419088"/>
            <a:ext cx="640080" cy="320040"/>
          </a:xfrm>
          <a:prstGeom prst="rect">
            <a:avLst/>
          </a:prstGeom>
          <a:noFill/>
        </p:spPr>
        <p:txBody>
          <a:bodyPr wrap="square">
            <a:spAutoFit/>
          </a:bodyPr>
          <a:lstStyle/>
          <a:p>
            <a:pPr algn="r"/>
            <a:r>
              <a:rPr sz="9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1170432"/>
            <a:ext cx="2011680" cy="38100"/>
          </a:xfrm>
          <a:prstGeom prst="rect">
            <a:avLst/>
          </a:prstGeom>
          <a:solidFill>
            <a:srgbClr val="2E8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11155680" cy="822960"/>
          </a:xfrm>
          <a:prstGeom prst="rect">
            <a:avLst/>
          </a:prstGeom>
          <a:noFill/>
        </p:spPr>
        <p:txBody>
          <a:bodyPr wrap="square">
            <a:spAutoFit/>
          </a:bodyPr>
          <a:lstStyle/>
          <a:p>
            <a:r>
              <a:rPr sz="3000" b="1" i="0">
                <a:solidFill>
                  <a:srgbClr val="1F3A5F"/>
                </a:solidFill>
                <a:latin typeface="Calibri"/>
              </a:rPr>
              <a:t>The OWL and the spreadsheets are at different stages</a:t>
            </a:r>
          </a:p>
        </p:txBody>
      </p:sp>
      <p:sp>
        <p:nvSpPr>
          <p:cNvPr id="4" name="Rounded Rectangle 3"/>
          <p:cNvSpPr/>
          <p:nvPr/>
        </p:nvSpPr>
        <p:spPr>
          <a:xfrm>
            <a:off x="731520" y="1737360"/>
            <a:ext cx="5029200" cy="1371600"/>
          </a:xfrm>
          <a:prstGeom prst="round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i="0">
                <a:solidFill>
                  <a:srgbClr val="FFFFFF"/>
                </a:solidFill>
                <a:latin typeface="Calibri"/>
              </a:rPr>
              <a:t>OWL model  (CSIM_ASX.rdf)
last updated  Jan 2026</a:t>
            </a:r>
          </a:p>
        </p:txBody>
      </p:sp>
      <p:sp>
        <p:nvSpPr>
          <p:cNvPr id="5" name="Rounded Rectangle 4"/>
          <p:cNvSpPr/>
          <p:nvPr/>
        </p:nvSpPr>
        <p:spPr>
          <a:xfrm>
            <a:off x="6400800" y="1737360"/>
            <a:ext cx="5029200" cy="1371600"/>
          </a:xfrm>
          <a:prstGeom prst="roundRect">
            <a:avLst/>
          </a:prstGeom>
          <a:solidFill>
            <a:srgbClr val="2E869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i="0">
                <a:solidFill>
                  <a:srgbClr val="FFFFFF"/>
                </a:solidFill>
                <a:latin typeface="Calibri"/>
              </a:rPr>
              <a:t>Spreadsheets  (Concept Mapping,
sample messages)  updated  Jun 2026</a:t>
            </a:r>
          </a:p>
        </p:txBody>
      </p:sp>
      <p:cxnSp>
        <p:nvCxnSpPr>
          <p:cNvPr id="6" name="Connector 5"/>
          <p:cNvCxnSpPr/>
          <p:nvPr/>
        </p:nvCxnSpPr>
        <p:spPr>
          <a:xfrm>
            <a:off x="5760720" y="2423160"/>
            <a:ext cx="640080" cy="0"/>
          </a:xfrm>
          <a:prstGeom prst="line">
            <a:avLst/>
          </a:prstGeom>
          <a:ln w="19050">
            <a:solidFill>
              <a:srgbClr val="C87F0A"/>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40080" y="3474720"/>
            <a:ext cx="10972800" cy="2880360"/>
          </a:xfrm>
          <a:prstGeom prst="rect">
            <a:avLst/>
          </a:prstGeom>
          <a:noFill/>
        </p:spPr>
        <p:txBody>
          <a:bodyPr wrap="square">
            <a:spAutoFit/>
          </a:bodyPr>
          <a:lstStyle/>
          <a:p>
            <a:pPr>
              <a:spcBef>
                <a:spcPts val="200"/>
              </a:spcBef>
              <a:spcAft>
                <a:spcPts val="1000"/>
              </a:spcAft>
            </a:pPr>
            <a:r>
              <a:rPr sz="1600" b="1" i="0">
                <a:solidFill>
                  <a:srgbClr val="C87F0A"/>
                </a:solidFill>
                <a:latin typeface="Calibri"/>
              </a:rPr>
              <a:t>•  Where things stand:  </a:t>
            </a:r>
            <a:r>
              <a:rPr sz="1600" b="0" i="0">
                <a:solidFill>
                  <a:srgbClr val="333333"/>
                </a:solidFill>
                <a:latin typeface="Calibri"/>
              </a:rPr>
              <a:t>the OWL has not yet caught up to ~5 months of attribute work in the spreadsheets - expected for a v0.0.x model that is still being built.</a:t>
            </a:r>
          </a:p>
          <a:p>
            <a:pPr lvl="1">
              <a:spcBef>
                <a:spcPts val="200"/>
              </a:spcBef>
              <a:spcAft>
                <a:spcPts val="1000"/>
              </a:spcAft>
            </a:pPr>
            <a:r>
              <a:rPr sz="1600" b="0" i="0">
                <a:solidFill>
                  <a:srgbClr val="333333"/>
                </a:solidFill>
                <a:latin typeface="Calibri"/>
              </a:rPr>
              <a:t>–  Autonomy is currently described three different ways across the two tracks - to reconcile.</a:t>
            </a:r>
          </a:p>
          <a:p>
            <a:pPr lvl="1">
              <a:spcBef>
                <a:spcPts val="200"/>
              </a:spcBef>
              <a:spcAft>
                <a:spcPts val="1000"/>
              </a:spcAft>
            </a:pPr>
            <a:r>
              <a:rPr sz="1600" b="0" i="0">
                <a:solidFill>
                  <a:srgbClr val="333333"/>
                </a:solidFill>
                <a:latin typeface="Calibri"/>
              </a:rPr>
              <a:t>–  Sensors are described three different ways - to reconcile.</a:t>
            </a:r>
          </a:p>
          <a:p>
            <a:pPr lvl="1">
              <a:spcBef>
                <a:spcPts val="200"/>
              </a:spcBef>
              <a:spcAft>
                <a:spcPts val="1000"/>
              </a:spcAft>
            </a:pPr>
            <a:r>
              <a:rPr sz="1600" b="0" i="0">
                <a:solidFill>
                  <a:srgbClr val="333333"/>
                </a:solidFill>
                <a:latin typeface="Calibri"/>
              </a:rPr>
              <a:t>–  The attribute layer (Payload, Mobility, VehicleType, ...) is in the spreadsheets, not yet in the OWL.</a:t>
            </a:r>
          </a:p>
        </p:txBody>
      </p:sp>
      <p:sp>
        <p:nvSpPr>
          <p:cNvPr id="8" name="TextBox 7"/>
          <p:cNvSpPr txBox="1"/>
          <p:nvPr/>
        </p:nvSpPr>
        <p:spPr>
          <a:xfrm>
            <a:off x="502920" y="6126480"/>
            <a:ext cx="11155680" cy="274320"/>
          </a:xfrm>
          <a:prstGeom prst="rect">
            <a:avLst/>
          </a:prstGeom>
          <a:noFill/>
        </p:spPr>
        <p:txBody>
          <a:bodyPr wrap="square">
            <a:spAutoFit/>
          </a:bodyPr>
          <a:lstStyle/>
          <a:p>
            <a:r>
              <a:rPr sz="1000" b="1" i="1">
                <a:solidFill>
                  <a:srgbClr val="2E869A"/>
                </a:solidFill>
                <a:latin typeface="Calibri"/>
              </a:rPr>
              <a:t>Dig deeper:  </a:t>
            </a:r>
            <a:r>
              <a:rPr sz="1000" b="0" i="1">
                <a:solidFill>
                  <a:srgbClr val="666666"/>
                </a:solidFill>
                <a:latin typeface="Calibri"/>
              </a:rPr>
              <a:t>log sec 1-2 (S2, D1-D5)</a:t>
            </a:r>
          </a:p>
        </p:txBody>
      </p:sp>
      <p:sp>
        <p:nvSpPr>
          <p:cNvPr id="9" name="TextBox 8"/>
          <p:cNvSpPr txBox="1"/>
          <p:nvPr/>
        </p:nvSpPr>
        <p:spPr>
          <a:xfrm>
            <a:off x="502920" y="6419088"/>
            <a:ext cx="11155680" cy="320040"/>
          </a:xfrm>
          <a:prstGeom prst="rect">
            <a:avLst/>
          </a:prstGeom>
          <a:noFill/>
        </p:spPr>
        <p:txBody>
          <a:bodyPr wrap="square">
            <a:spAutoFit/>
          </a:bodyPr>
          <a:lstStyle/>
          <a:p>
            <a:r>
              <a:rPr sz="900" b="0" i="0">
                <a:solidFill>
                  <a:srgbClr val="666666"/>
                </a:solidFill>
                <a:latin typeface="Calibri"/>
              </a:rPr>
              <a:t>C2SIM ASX Sub-group   |   Hyssos   |   July 2026</a:t>
            </a:r>
          </a:p>
        </p:txBody>
      </p:sp>
      <p:sp>
        <p:nvSpPr>
          <p:cNvPr id="10" name="TextBox 9"/>
          <p:cNvSpPr txBox="1"/>
          <p:nvPr/>
        </p:nvSpPr>
        <p:spPr>
          <a:xfrm>
            <a:off x="11338560" y="6419088"/>
            <a:ext cx="640080" cy="320040"/>
          </a:xfrm>
          <a:prstGeom prst="rect">
            <a:avLst/>
          </a:prstGeom>
          <a:noFill/>
        </p:spPr>
        <p:txBody>
          <a:bodyPr wrap="square">
            <a:spAutoFit/>
          </a:bodyPr>
          <a:lstStyle/>
          <a:p>
            <a:pPr algn="r"/>
            <a:r>
              <a:rPr sz="9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1170432"/>
            <a:ext cx="2011680" cy="38100"/>
          </a:xfrm>
          <a:prstGeom prst="rect">
            <a:avLst/>
          </a:prstGeom>
          <a:solidFill>
            <a:srgbClr val="2E8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11155680" cy="822960"/>
          </a:xfrm>
          <a:prstGeom prst="rect">
            <a:avLst/>
          </a:prstGeom>
          <a:noFill/>
        </p:spPr>
        <p:txBody>
          <a:bodyPr wrap="square">
            <a:spAutoFit/>
          </a:bodyPr>
          <a:lstStyle/>
          <a:p>
            <a:r>
              <a:rPr sz="3000" b="1" i="0">
                <a:solidFill>
                  <a:srgbClr val="1F3A5F"/>
                </a:solidFill>
                <a:latin typeface="Calibri"/>
              </a:rPr>
              <a:t>First to settle: three structural typing decisions</a:t>
            </a:r>
          </a:p>
        </p:txBody>
      </p:sp>
      <p:sp>
        <p:nvSpPr>
          <p:cNvPr id="4" name="Rounded Rectangle 3"/>
          <p:cNvSpPr/>
          <p:nvPr/>
        </p:nvSpPr>
        <p:spPr>
          <a:xfrm>
            <a:off x="731520" y="1828800"/>
            <a:ext cx="3474720" cy="2011680"/>
          </a:xfrm>
          <a:prstGeom prst="roundRect">
            <a:avLst/>
          </a:prstGeom>
          <a:solidFill>
            <a:srgbClr val="C87F0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i="0">
                <a:solidFill>
                  <a:srgbClr val="FFFFFF"/>
                </a:solidFill>
                <a:latin typeface="Calibri"/>
              </a:rPr>
              <a:t>P1
UAV typing: Robot
tree vs SMX Platform</a:t>
            </a:r>
          </a:p>
        </p:txBody>
      </p:sp>
      <p:sp>
        <p:nvSpPr>
          <p:cNvPr id="5" name="Rounded Rectangle 4"/>
          <p:cNvSpPr/>
          <p:nvPr/>
        </p:nvSpPr>
        <p:spPr>
          <a:xfrm>
            <a:off x="4434840" y="1828800"/>
            <a:ext cx="3474720" cy="2011680"/>
          </a:xfrm>
          <a:prstGeom prst="roundRect">
            <a:avLst/>
          </a:prstGeom>
          <a:solidFill>
            <a:srgbClr val="C87F0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i="0">
                <a:solidFill>
                  <a:srgbClr val="FFFFFF"/>
                </a:solidFill>
                <a:latin typeface="Calibri"/>
              </a:rPr>
              <a:t>P2
Sensor: one
representation to pick</a:t>
            </a:r>
          </a:p>
        </p:txBody>
      </p:sp>
      <p:sp>
        <p:nvSpPr>
          <p:cNvPr id="6" name="Rounded Rectangle 5"/>
          <p:cNvSpPr/>
          <p:nvPr/>
        </p:nvSpPr>
        <p:spPr>
          <a:xfrm>
            <a:off x="8138160" y="1828800"/>
            <a:ext cx="3337560" cy="2011680"/>
          </a:xfrm>
          <a:prstGeom prst="roundRect">
            <a:avLst/>
          </a:prstGeom>
          <a:solidFill>
            <a:srgbClr val="C87F0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i="0">
                <a:solidFill>
                  <a:srgbClr val="FFFFFF"/>
                </a:solidFill>
                <a:latin typeface="Calibri"/>
              </a:rPr>
              <a:t>P7
Swarm: make it
taskable (ActorEntity)</a:t>
            </a:r>
          </a:p>
        </p:txBody>
      </p:sp>
      <p:sp>
        <p:nvSpPr>
          <p:cNvPr id="7" name="TextBox 6"/>
          <p:cNvSpPr txBox="1"/>
          <p:nvPr/>
        </p:nvSpPr>
        <p:spPr>
          <a:xfrm>
            <a:off x="640080" y="4297680"/>
            <a:ext cx="10972800" cy="2057400"/>
          </a:xfrm>
          <a:prstGeom prst="rect">
            <a:avLst/>
          </a:prstGeom>
          <a:noFill/>
        </p:spPr>
        <p:txBody>
          <a:bodyPr wrap="square">
            <a:spAutoFit/>
          </a:bodyPr>
          <a:lstStyle/>
          <a:p>
            <a:pPr>
              <a:spcBef>
                <a:spcPts val="200"/>
              </a:spcBef>
              <a:spcAft>
                <a:spcPts val="600"/>
              </a:spcAft>
            </a:pPr>
            <a:r>
              <a:rPr sz="1700" b="1" i="0">
                <a:solidFill>
                  <a:srgbClr val="333333"/>
                </a:solidFill>
                <a:latin typeface="Calibri"/>
              </a:rPr>
              <a:t>•  P1 and P7 are entity-typing (what a drone / a swarm IS); P2 is how a sensor is represented. All three are structural choices not yet settled - so Initialization, not Reports, is where the model gets exercised and pinned down first.</a:t>
            </a:r>
          </a:p>
        </p:txBody>
      </p:sp>
      <p:sp>
        <p:nvSpPr>
          <p:cNvPr id="8" name="TextBox 7"/>
          <p:cNvSpPr txBox="1"/>
          <p:nvPr/>
        </p:nvSpPr>
        <p:spPr>
          <a:xfrm>
            <a:off x="502920" y="6126480"/>
            <a:ext cx="11155680" cy="274320"/>
          </a:xfrm>
          <a:prstGeom prst="rect">
            <a:avLst/>
          </a:prstGeom>
          <a:noFill/>
        </p:spPr>
        <p:txBody>
          <a:bodyPr wrap="square">
            <a:spAutoFit/>
          </a:bodyPr>
          <a:lstStyle/>
          <a:p>
            <a:r>
              <a:rPr sz="1000" b="1" i="1">
                <a:solidFill>
                  <a:srgbClr val="2E869A"/>
                </a:solidFill>
                <a:latin typeface="Calibri"/>
              </a:rPr>
              <a:t>Dig deeper:  </a:t>
            </a:r>
            <a:r>
              <a:rPr sz="1000" b="0" i="1">
                <a:solidFill>
                  <a:srgbClr val="666666"/>
                </a:solidFill>
                <a:latin typeface="Calibri"/>
              </a:rPr>
              <a:t>Initialization-Walk.md  -  log sec 5 (P-series)</a:t>
            </a:r>
          </a:p>
        </p:txBody>
      </p:sp>
      <p:sp>
        <p:nvSpPr>
          <p:cNvPr id="9" name="TextBox 8"/>
          <p:cNvSpPr txBox="1"/>
          <p:nvPr/>
        </p:nvSpPr>
        <p:spPr>
          <a:xfrm>
            <a:off x="502920" y="6419088"/>
            <a:ext cx="11155680" cy="320040"/>
          </a:xfrm>
          <a:prstGeom prst="rect">
            <a:avLst/>
          </a:prstGeom>
          <a:noFill/>
        </p:spPr>
        <p:txBody>
          <a:bodyPr wrap="square">
            <a:spAutoFit/>
          </a:bodyPr>
          <a:lstStyle/>
          <a:p>
            <a:r>
              <a:rPr sz="900" b="0" i="0">
                <a:solidFill>
                  <a:srgbClr val="666666"/>
                </a:solidFill>
                <a:latin typeface="Calibri"/>
              </a:rPr>
              <a:t>C2SIM ASX Sub-group   |   Hyssos   |   July 2026</a:t>
            </a:r>
          </a:p>
        </p:txBody>
      </p:sp>
      <p:sp>
        <p:nvSpPr>
          <p:cNvPr id="10" name="TextBox 9"/>
          <p:cNvSpPr txBox="1"/>
          <p:nvPr/>
        </p:nvSpPr>
        <p:spPr>
          <a:xfrm>
            <a:off x="11338560" y="6419088"/>
            <a:ext cx="640080" cy="320040"/>
          </a:xfrm>
          <a:prstGeom prst="rect">
            <a:avLst/>
          </a:prstGeom>
          <a:noFill/>
        </p:spPr>
        <p:txBody>
          <a:bodyPr wrap="square">
            <a:spAutoFit/>
          </a:bodyPr>
          <a:lstStyle/>
          <a:p>
            <a:pPr algn="r"/>
            <a:r>
              <a:rPr sz="9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1170432"/>
            <a:ext cx="2011680" cy="38100"/>
          </a:xfrm>
          <a:prstGeom prst="rect">
            <a:avLst/>
          </a:prstGeom>
          <a:solidFill>
            <a:srgbClr val="2E8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11155680" cy="822960"/>
          </a:xfrm>
          <a:prstGeom prst="rect">
            <a:avLst/>
          </a:prstGeom>
          <a:noFill/>
        </p:spPr>
        <p:txBody>
          <a:bodyPr wrap="square">
            <a:spAutoFit/>
          </a:bodyPr>
          <a:lstStyle/>
          <a:p>
            <a:r>
              <a:rPr sz="3000" b="1" i="0">
                <a:solidFill>
                  <a:srgbClr val="1F3A5F"/>
                </a:solidFill>
                <a:latin typeface="Calibri"/>
              </a:rPr>
              <a:t>P1  -  A UAV is typed twice</a:t>
            </a:r>
          </a:p>
        </p:txBody>
      </p:sp>
      <p:sp>
        <p:nvSpPr>
          <p:cNvPr id="4" name="TextBox 3"/>
          <p:cNvSpPr txBox="1"/>
          <p:nvPr/>
        </p:nvSpPr>
        <p:spPr>
          <a:xfrm>
            <a:off x="548640" y="914400"/>
            <a:ext cx="10972800" cy="320040"/>
          </a:xfrm>
          <a:prstGeom prst="rect">
            <a:avLst/>
          </a:prstGeom>
          <a:noFill/>
        </p:spPr>
        <p:txBody>
          <a:bodyPr wrap="square">
            <a:spAutoFit/>
          </a:bodyPr>
          <a:lstStyle/>
          <a:p>
            <a:r>
              <a:rPr sz="1300" b="0" i="1">
                <a:solidFill>
                  <a:srgbClr val="2E869A"/>
                </a:solidFill>
                <a:latin typeface="Calibri"/>
              </a:rPr>
              <a:t>Entity-typing decision</a:t>
            </a:r>
          </a:p>
        </p:txBody>
      </p:sp>
      <p:sp>
        <p:nvSpPr>
          <p:cNvPr id="5" name="Rounded Rectangle 4"/>
          <p:cNvSpPr/>
          <p:nvPr/>
        </p:nvSpPr>
        <p:spPr>
          <a:xfrm>
            <a:off x="4754880" y="1554480"/>
            <a:ext cx="2743200" cy="685800"/>
          </a:xfrm>
          <a:prstGeom prst="round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i="0">
                <a:solidFill>
                  <a:srgbClr val="FFFFFF"/>
                </a:solidFill>
                <a:latin typeface="Calibri"/>
              </a:rPr>
              <a:t>ActorEntity</a:t>
            </a:r>
          </a:p>
        </p:txBody>
      </p:sp>
      <p:sp>
        <p:nvSpPr>
          <p:cNvPr id="6" name="Rounded Rectangle 5"/>
          <p:cNvSpPr/>
          <p:nvPr/>
        </p:nvSpPr>
        <p:spPr>
          <a:xfrm>
            <a:off x="2194560" y="2743200"/>
            <a:ext cx="2743200" cy="685800"/>
          </a:xfrm>
          <a:prstGeom prst="roundRect">
            <a:avLst/>
          </a:prstGeom>
          <a:solidFill>
            <a:srgbClr val="2E869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latin typeface="Calibri"/>
              </a:rPr>
              <a:t>Platform  (SMX)</a:t>
            </a:r>
          </a:p>
        </p:txBody>
      </p:sp>
      <p:sp>
        <p:nvSpPr>
          <p:cNvPr id="7" name="Rounded Rectangle 6"/>
          <p:cNvSpPr/>
          <p:nvPr/>
        </p:nvSpPr>
        <p:spPr>
          <a:xfrm>
            <a:off x="2194560" y="3840480"/>
            <a:ext cx="2743200" cy="685800"/>
          </a:xfrm>
          <a:prstGeom prst="roundRect">
            <a:avLst/>
          </a:prstGeom>
          <a:solidFill>
            <a:srgbClr val="2E869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latin typeface="Calibri"/>
              </a:rPr>
              <a:t>Aircraft  (SMX)</a:t>
            </a:r>
          </a:p>
        </p:txBody>
      </p:sp>
      <p:sp>
        <p:nvSpPr>
          <p:cNvPr id="8" name="Rounded Rectangle 7"/>
          <p:cNvSpPr/>
          <p:nvPr/>
        </p:nvSpPr>
        <p:spPr>
          <a:xfrm>
            <a:off x="7315200" y="2743200"/>
            <a:ext cx="2743200" cy="685800"/>
          </a:xfrm>
          <a:prstGeom prst="roundRect">
            <a:avLst/>
          </a:prstGeom>
          <a:solidFill>
            <a:srgbClr val="C87F0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latin typeface="Calibri"/>
              </a:rPr>
              <a:t>Robot  (ASX)</a:t>
            </a:r>
          </a:p>
        </p:txBody>
      </p:sp>
      <p:sp>
        <p:nvSpPr>
          <p:cNvPr id="9" name="Rounded Rectangle 8"/>
          <p:cNvSpPr/>
          <p:nvPr/>
        </p:nvSpPr>
        <p:spPr>
          <a:xfrm>
            <a:off x="7315200" y="3840480"/>
            <a:ext cx="2743200" cy="685800"/>
          </a:xfrm>
          <a:prstGeom prst="roundRect">
            <a:avLst/>
          </a:prstGeom>
          <a:solidFill>
            <a:srgbClr val="C87F0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latin typeface="Calibri"/>
              </a:rPr>
              <a:t>UAV  (ASX)</a:t>
            </a:r>
          </a:p>
        </p:txBody>
      </p:sp>
      <p:cxnSp>
        <p:nvCxnSpPr>
          <p:cNvPr id="10" name="Connector 9"/>
          <p:cNvCxnSpPr/>
          <p:nvPr/>
        </p:nvCxnSpPr>
        <p:spPr>
          <a:xfrm flipH="1">
            <a:off x="3566160" y="2240280"/>
            <a:ext cx="2103120" cy="502920"/>
          </a:xfrm>
          <a:prstGeom prst="line">
            <a:avLst/>
          </a:prstGeom>
          <a:ln w="190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3566160" y="3429000"/>
            <a:ext cx="0" cy="411480"/>
          </a:xfrm>
          <a:prstGeom prst="line">
            <a:avLst/>
          </a:prstGeom>
          <a:ln w="190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6583680" y="2240280"/>
            <a:ext cx="2103120" cy="502920"/>
          </a:xfrm>
          <a:prstGeom prst="line">
            <a:avLst/>
          </a:prstGeom>
          <a:ln w="190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8686800" y="3429000"/>
            <a:ext cx="0" cy="411480"/>
          </a:xfrm>
          <a:prstGeom prst="line">
            <a:avLst/>
          </a:prstGeom>
          <a:ln w="19050">
            <a:solidFill>
              <a:srgbClr val="1F3A5F"/>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40080" y="4434840"/>
            <a:ext cx="10972800" cy="1920240"/>
          </a:xfrm>
          <a:prstGeom prst="rect">
            <a:avLst/>
          </a:prstGeom>
          <a:noFill/>
        </p:spPr>
        <p:txBody>
          <a:bodyPr wrap="square">
            <a:spAutoFit/>
          </a:bodyPr>
          <a:lstStyle/>
          <a:p>
            <a:pPr>
              <a:spcBef>
                <a:spcPts val="200"/>
              </a:spcBef>
              <a:spcAft>
                <a:spcPts val="500"/>
              </a:spcAft>
            </a:pPr>
            <a:r>
              <a:rPr sz="1300" b="0" i="0">
                <a:solidFill>
                  <a:srgbClr val="333333"/>
                </a:solidFill>
                <a:latin typeface="Calibri"/>
              </a:rPr>
              <a:t>•  Two parallel sibling trees under ActorEntity model the same real drone.</a:t>
            </a:r>
          </a:p>
          <a:p>
            <a:pPr lvl="1">
              <a:spcBef>
                <a:spcPts val="200"/>
              </a:spcBef>
              <a:spcAft>
                <a:spcPts val="500"/>
              </a:spcAft>
            </a:pPr>
            <a:r>
              <a:rPr sz="1300" b="0" i="0">
                <a:solidFill>
                  <a:srgbClr val="333333"/>
                </a:solidFill>
                <a:latin typeface="Calibri"/>
              </a:rPr>
              <a:t>–  Type it as Robot -&gt; it loses all existing SMX Platform / LOX machinery.</a:t>
            </a:r>
          </a:p>
          <a:p>
            <a:pPr lvl="1">
              <a:spcBef>
                <a:spcPts val="200"/>
              </a:spcBef>
              <a:spcAft>
                <a:spcPts val="500"/>
              </a:spcAft>
            </a:pPr>
            <a:r>
              <a:rPr sz="1300" b="0" i="0">
                <a:solidFill>
                  <a:srgbClr val="333333"/>
                </a:solidFill>
                <a:latin typeface="Calibri"/>
              </a:rPr>
              <a:t>–  Type it as Aircraft -&gt; the ASX Robot / UAV classes go unused.</a:t>
            </a:r>
          </a:p>
          <a:p>
            <a:pPr>
              <a:spcBef>
                <a:spcPts val="200"/>
              </a:spcBef>
              <a:spcAft>
                <a:spcPts val="500"/>
              </a:spcAft>
            </a:pPr>
            <a:r>
              <a:rPr sz="1300" b="1" i="0">
                <a:solidFill>
                  <a:srgbClr val="C87F0A"/>
                </a:solidFill>
                <a:latin typeface="Calibri"/>
              </a:rPr>
              <a:t>•  Now live in v0.0.3:  </a:t>
            </a:r>
            <a:r>
              <a:rPr sz="1300" b="0" i="0">
                <a:solidFill>
                  <a:srgbClr val="333333"/>
                </a:solidFill>
                <a:latin typeface="Calibri"/>
              </a:rPr>
              <a:t>v0.0.3 declares both - UAV/UGV under Robot AND UnmannedAerial/Ground/Maritime/UnderwaterVehicle under SMX Vehicle - so this choice is now in the model to settle.</a:t>
            </a:r>
          </a:p>
          <a:p>
            <a:pPr>
              <a:spcBef>
                <a:spcPts val="200"/>
              </a:spcBef>
              <a:spcAft>
                <a:spcPts val="500"/>
              </a:spcAft>
            </a:pPr>
            <a:r>
              <a:rPr sz="1300" b="1" i="0">
                <a:solidFill>
                  <a:srgbClr val="2E869A"/>
                </a:solidFill>
                <a:latin typeface="Calibri"/>
              </a:rPr>
              <a:t>•  Decision (Q-A):  </a:t>
            </a:r>
            <a:r>
              <a:rPr sz="1300" b="0" i="0">
                <a:solidFill>
                  <a:srgbClr val="333333"/>
                </a:solidFill>
                <a:latin typeface="Calibri"/>
              </a:rPr>
              <a:t>make ASX autonomy a role/facet on the existing Platform subtree instead of a parallel Robot tree?</a:t>
            </a:r>
          </a:p>
        </p:txBody>
      </p:sp>
      <p:sp>
        <p:nvSpPr>
          <p:cNvPr id="15" name="TextBox 14"/>
          <p:cNvSpPr txBox="1"/>
          <p:nvPr/>
        </p:nvSpPr>
        <p:spPr>
          <a:xfrm>
            <a:off x="502920" y="6126480"/>
            <a:ext cx="11155680" cy="274320"/>
          </a:xfrm>
          <a:prstGeom prst="rect">
            <a:avLst/>
          </a:prstGeom>
          <a:noFill/>
        </p:spPr>
        <p:txBody>
          <a:bodyPr wrap="square">
            <a:spAutoFit/>
          </a:bodyPr>
          <a:lstStyle/>
          <a:p>
            <a:r>
              <a:rPr sz="1000" b="1" i="1">
                <a:solidFill>
                  <a:srgbClr val="2E869A"/>
                </a:solidFill>
                <a:latin typeface="Calibri"/>
              </a:rPr>
              <a:t>Dig deeper:  </a:t>
            </a:r>
            <a:r>
              <a:rPr sz="1000" b="0" i="1">
                <a:solidFill>
                  <a:srgbClr val="666666"/>
                </a:solidFill>
                <a:latin typeface="Calibri"/>
              </a:rPr>
              <a:t>Initialization-Walk.md  -  log P1 (sec 5) + sec 9 (v0.0.3 makes it concrete)  -  decision Q-A (log sec 7)</a:t>
            </a:r>
          </a:p>
        </p:txBody>
      </p:sp>
      <p:sp>
        <p:nvSpPr>
          <p:cNvPr id="16" name="TextBox 15"/>
          <p:cNvSpPr txBox="1"/>
          <p:nvPr/>
        </p:nvSpPr>
        <p:spPr>
          <a:xfrm>
            <a:off x="502920" y="6419088"/>
            <a:ext cx="11155680" cy="320040"/>
          </a:xfrm>
          <a:prstGeom prst="rect">
            <a:avLst/>
          </a:prstGeom>
          <a:noFill/>
        </p:spPr>
        <p:txBody>
          <a:bodyPr wrap="square">
            <a:spAutoFit/>
          </a:bodyPr>
          <a:lstStyle/>
          <a:p>
            <a:r>
              <a:rPr sz="900" b="0" i="0">
                <a:solidFill>
                  <a:srgbClr val="666666"/>
                </a:solidFill>
                <a:latin typeface="Calibri"/>
              </a:rPr>
              <a:t>C2SIM ASX Sub-group   |   Hyssos   |   July 2026</a:t>
            </a:r>
          </a:p>
        </p:txBody>
      </p:sp>
      <p:sp>
        <p:nvSpPr>
          <p:cNvPr id="17" name="TextBox 16"/>
          <p:cNvSpPr txBox="1"/>
          <p:nvPr/>
        </p:nvSpPr>
        <p:spPr>
          <a:xfrm>
            <a:off x="11338560" y="6419088"/>
            <a:ext cx="640080" cy="320040"/>
          </a:xfrm>
          <a:prstGeom prst="rect">
            <a:avLst/>
          </a:prstGeom>
          <a:noFill/>
        </p:spPr>
        <p:txBody>
          <a:bodyPr wrap="square">
            <a:spAutoFit/>
          </a:bodyPr>
          <a:lstStyle/>
          <a:p>
            <a:pPr algn="r"/>
            <a:r>
              <a:rPr sz="9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1170432"/>
            <a:ext cx="2011680" cy="38100"/>
          </a:xfrm>
          <a:prstGeom prst="rect">
            <a:avLst/>
          </a:prstGeom>
          <a:solidFill>
            <a:srgbClr val="2E8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11155680" cy="822960"/>
          </a:xfrm>
          <a:prstGeom prst="rect">
            <a:avLst/>
          </a:prstGeom>
          <a:noFill/>
        </p:spPr>
        <p:txBody>
          <a:bodyPr wrap="square">
            <a:spAutoFit/>
          </a:bodyPr>
          <a:lstStyle/>
          <a:p>
            <a:r>
              <a:rPr sz="3000" b="1" i="0">
                <a:solidFill>
                  <a:srgbClr val="1F3A5F"/>
                </a:solidFill>
                <a:latin typeface="Calibri"/>
              </a:rPr>
              <a:t>P7  -  A swarm is not yet taskable</a:t>
            </a:r>
          </a:p>
        </p:txBody>
      </p:sp>
      <p:sp>
        <p:nvSpPr>
          <p:cNvPr id="4" name="TextBox 3"/>
          <p:cNvSpPr txBox="1"/>
          <p:nvPr/>
        </p:nvSpPr>
        <p:spPr>
          <a:xfrm>
            <a:off x="548640" y="914400"/>
            <a:ext cx="10972800" cy="320040"/>
          </a:xfrm>
          <a:prstGeom prst="rect">
            <a:avLst/>
          </a:prstGeom>
          <a:noFill/>
        </p:spPr>
        <p:txBody>
          <a:bodyPr wrap="square">
            <a:spAutoFit/>
          </a:bodyPr>
          <a:lstStyle/>
          <a:p>
            <a:r>
              <a:rPr sz="1300" b="0" i="1">
                <a:solidFill>
                  <a:srgbClr val="2E869A"/>
                </a:solidFill>
                <a:latin typeface="Calibri"/>
              </a:rPr>
              <a:t>Entity-typing decision</a:t>
            </a:r>
          </a:p>
        </p:txBody>
      </p:sp>
      <p:sp>
        <p:nvSpPr>
          <p:cNvPr id="5" name="Rounded Rectangle 4"/>
          <p:cNvSpPr/>
          <p:nvPr/>
        </p:nvSpPr>
        <p:spPr>
          <a:xfrm>
            <a:off x="822960" y="1828800"/>
            <a:ext cx="2834640" cy="640080"/>
          </a:xfrm>
          <a:prstGeom prst="roundRect">
            <a:avLst/>
          </a:prstGeom>
          <a:solidFill>
            <a:srgbClr val="C87F0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latin typeface="Calibri"/>
              </a:rPr>
              <a:t>Swarm  (ASX)</a:t>
            </a:r>
          </a:p>
        </p:txBody>
      </p:sp>
      <p:sp>
        <p:nvSpPr>
          <p:cNvPr id="6" name="Rounded Rectangle 5"/>
          <p:cNvSpPr/>
          <p:nvPr/>
        </p:nvSpPr>
        <p:spPr>
          <a:xfrm>
            <a:off x="3931920" y="1828800"/>
            <a:ext cx="3291840" cy="640080"/>
          </a:xfrm>
          <a:prstGeom prst="roundRect">
            <a:avLst/>
          </a:prstGeom>
          <a:solidFill>
            <a:srgbClr val="C87F0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FFFFFF"/>
                </a:solidFill>
                <a:latin typeface="Calibri"/>
              </a:rPr>
              <a:t>CollecticeRoboticSystem (sic)</a:t>
            </a:r>
          </a:p>
        </p:txBody>
      </p:sp>
      <p:sp>
        <p:nvSpPr>
          <p:cNvPr id="7" name="Rounded Rectangle 6"/>
          <p:cNvSpPr/>
          <p:nvPr/>
        </p:nvSpPr>
        <p:spPr>
          <a:xfrm>
            <a:off x="7498079" y="1828800"/>
            <a:ext cx="3108960" cy="640080"/>
          </a:xfrm>
          <a:prstGeom prst="round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latin typeface="Calibri"/>
              </a:rPr>
              <a:t>... PhysicalEntity</a:t>
            </a:r>
          </a:p>
        </p:txBody>
      </p:sp>
      <p:cxnSp>
        <p:nvCxnSpPr>
          <p:cNvPr id="8" name="Connector 7"/>
          <p:cNvCxnSpPr/>
          <p:nvPr/>
        </p:nvCxnSpPr>
        <p:spPr>
          <a:xfrm>
            <a:off x="3657600" y="2148840"/>
            <a:ext cx="274320" cy="0"/>
          </a:xfrm>
          <a:prstGeom prst="line">
            <a:avLst/>
          </a:prstGeom>
          <a:ln w="19050">
            <a:solidFill>
              <a:srgbClr val="C0392B"/>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7223760" y="2148840"/>
            <a:ext cx="274319" cy="0"/>
          </a:xfrm>
          <a:prstGeom prst="line">
            <a:avLst/>
          </a:prstGeom>
          <a:ln w="19050">
            <a:solidFill>
              <a:srgbClr val="C0392B"/>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7498079" y="2514600"/>
            <a:ext cx="3291840" cy="365760"/>
          </a:xfrm>
          <a:prstGeom prst="rect">
            <a:avLst/>
          </a:prstGeom>
          <a:noFill/>
        </p:spPr>
        <p:txBody>
          <a:bodyPr wrap="square">
            <a:spAutoFit/>
          </a:bodyPr>
          <a:lstStyle/>
          <a:p>
            <a:r>
              <a:rPr sz="1200" b="0" i="1">
                <a:solidFill>
                  <a:srgbClr val="C87F0A"/>
                </a:solidFill>
                <a:latin typeface="Calibri"/>
              </a:rPr>
              <a:t>not yet taskable (under PhysicalEntity)</a:t>
            </a:r>
          </a:p>
        </p:txBody>
      </p:sp>
      <p:sp>
        <p:nvSpPr>
          <p:cNvPr id="11" name="Rounded Rectangle 10"/>
          <p:cNvSpPr/>
          <p:nvPr/>
        </p:nvSpPr>
        <p:spPr>
          <a:xfrm>
            <a:off x="822960" y="3657600"/>
            <a:ext cx="2834640" cy="64008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latin typeface="Calibri"/>
              </a:rPr>
              <a:t>Swarm  (proposed)</a:t>
            </a:r>
          </a:p>
        </p:txBody>
      </p:sp>
      <p:sp>
        <p:nvSpPr>
          <p:cNvPr id="12" name="Rounded Rectangle 11"/>
          <p:cNvSpPr/>
          <p:nvPr/>
        </p:nvSpPr>
        <p:spPr>
          <a:xfrm>
            <a:off x="3931920" y="3657600"/>
            <a:ext cx="3291840" cy="64008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FFFFFF"/>
                </a:solidFill>
                <a:latin typeface="Calibri"/>
              </a:rPr>
              <a:t>CollectiveEntity  (C2SIM)</a:t>
            </a:r>
          </a:p>
        </p:txBody>
      </p:sp>
      <p:sp>
        <p:nvSpPr>
          <p:cNvPr id="13" name="Rounded Rectangle 12"/>
          <p:cNvSpPr/>
          <p:nvPr/>
        </p:nvSpPr>
        <p:spPr>
          <a:xfrm>
            <a:off x="7498079" y="3657600"/>
            <a:ext cx="3108960" cy="64008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latin typeface="Calibri"/>
              </a:rPr>
              <a:t>ActorEntity</a:t>
            </a:r>
          </a:p>
        </p:txBody>
      </p:sp>
      <p:cxnSp>
        <p:nvCxnSpPr>
          <p:cNvPr id="14" name="Connector 13"/>
          <p:cNvCxnSpPr/>
          <p:nvPr/>
        </p:nvCxnSpPr>
        <p:spPr>
          <a:xfrm>
            <a:off x="3657600" y="3977639"/>
            <a:ext cx="274320" cy="0"/>
          </a:xfrm>
          <a:prstGeom prst="line">
            <a:avLst/>
          </a:prstGeom>
          <a:ln w="19050">
            <a:solidFill>
              <a:srgbClr val="2E7D32"/>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7223760" y="3977639"/>
            <a:ext cx="274319" cy="0"/>
          </a:xfrm>
          <a:prstGeom prst="line">
            <a:avLst/>
          </a:prstGeom>
          <a:ln w="19050">
            <a:solidFill>
              <a:srgbClr val="2E7D32"/>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7498079" y="4343400"/>
            <a:ext cx="3291840" cy="365760"/>
          </a:xfrm>
          <a:prstGeom prst="rect">
            <a:avLst/>
          </a:prstGeom>
          <a:noFill/>
        </p:spPr>
        <p:txBody>
          <a:bodyPr wrap="square">
            <a:spAutoFit/>
          </a:bodyPr>
          <a:lstStyle/>
          <a:p>
            <a:r>
              <a:rPr sz="1200" b="0" i="1">
                <a:solidFill>
                  <a:srgbClr val="2E7D32"/>
                </a:solidFill>
                <a:latin typeface="Calibri"/>
              </a:rPr>
              <a:t>taskable - receives orders, reports</a:t>
            </a:r>
          </a:p>
        </p:txBody>
      </p:sp>
      <p:sp>
        <p:nvSpPr>
          <p:cNvPr id="17" name="TextBox 16"/>
          <p:cNvSpPr txBox="1"/>
          <p:nvPr/>
        </p:nvSpPr>
        <p:spPr>
          <a:xfrm>
            <a:off x="640080" y="4846320"/>
            <a:ext cx="10972800" cy="1508760"/>
          </a:xfrm>
          <a:prstGeom prst="rect">
            <a:avLst/>
          </a:prstGeom>
          <a:noFill/>
        </p:spPr>
        <p:txBody>
          <a:bodyPr wrap="square">
            <a:spAutoFit/>
          </a:bodyPr>
          <a:lstStyle/>
          <a:p>
            <a:pPr>
              <a:spcBef>
                <a:spcPts val="200"/>
              </a:spcBef>
              <a:spcAft>
                <a:spcPts val="500"/>
              </a:spcAft>
            </a:pPr>
            <a:r>
              <a:rPr sz="1300" b="0" i="0">
                <a:solidFill>
                  <a:srgbClr val="333333"/>
                </a:solidFill>
                <a:latin typeface="Calibri"/>
              </a:rPr>
              <a:t>•  A swarm is what orders are addressed to and what sends reports - so it needs to be an ActorEntity.</a:t>
            </a:r>
          </a:p>
          <a:p>
            <a:pPr lvl="1">
              <a:spcBef>
                <a:spcPts val="200"/>
              </a:spcBef>
              <a:spcAft>
                <a:spcPts val="500"/>
              </a:spcAft>
            </a:pPr>
            <a:r>
              <a:rPr sz="1300" b="0" i="0">
                <a:solidFill>
                  <a:srgbClr val="333333"/>
                </a:solidFill>
                <a:latin typeface="Calibri"/>
              </a:rPr>
              <a:t>–  Membership and command already exist in the base standard (C2SIM hasSubordinate, SMX hasCommandRelation), so the residual swarm work is small. (v0.0.3 dropped the Swarm class; CollecticeRoboticSystem is still under PhysicalEntity.)</a:t>
            </a:r>
          </a:p>
          <a:p>
            <a:pPr>
              <a:spcBef>
                <a:spcPts val="200"/>
              </a:spcBef>
              <a:spcAft>
                <a:spcPts val="500"/>
              </a:spcAft>
            </a:pPr>
            <a:r>
              <a:rPr sz="1300" b="1" i="0">
                <a:solidFill>
                  <a:srgbClr val="2E869A"/>
                </a:solidFill>
                <a:latin typeface="Calibri"/>
              </a:rPr>
              <a:t>•  Decision (Q-B):  </a:t>
            </a:r>
            <a:r>
              <a:rPr sz="1300" b="0" i="0">
                <a:solidFill>
                  <a:srgbClr val="333333"/>
                </a:solidFill>
                <a:latin typeface="Calibri"/>
              </a:rPr>
              <a:t>derive the collective/Swarm from CollectiveEntity (already an ActorEntity) rather than the device/artifact tree.</a:t>
            </a:r>
          </a:p>
        </p:txBody>
      </p:sp>
      <p:sp>
        <p:nvSpPr>
          <p:cNvPr id="18" name="TextBox 17"/>
          <p:cNvSpPr txBox="1"/>
          <p:nvPr/>
        </p:nvSpPr>
        <p:spPr>
          <a:xfrm>
            <a:off x="502920" y="6126480"/>
            <a:ext cx="11155680" cy="274320"/>
          </a:xfrm>
          <a:prstGeom prst="rect">
            <a:avLst/>
          </a:prstGeom>
          <a:noFill/>
        </p:spPr>
        <p:txBody>
          <a:bodyPr wrap="square">
            <a:spAutoFit/>
          </a:bodyPr>
          <a:lstStyle/>
          <a:p>
            <a:r>
              <a:rPr sz="1000" b="1" i="1">
                <a:solidFill>
                  <a:srgbClr val="2E869A"/>
                </a:solidFill>
                <a:latin typeface="Calibri"/>
              </a:rPr>
              <a:t>Dig deeper:  </a:t>
            </a:r>
            <a:r>
              <a:rPr sz="1000" b="0" i="1">
                <a:solidFill>
                  <a:srgbClr val="666666"/>
                </a:solidFill>
                <a:latin typeface="Calibri"/>
              </a:rPr>
              <a:t>Swarm-Walk.md  -  log P7 (secs 5, 6d)  -  decision Q-B (log sec 7)</a:t>
            </a:r>
          </a:p>
        </p:txBody>
      </p:sp>
      <p:sp>
        <p:nvSpPr>
          <p:cNvPr id="19" name="TextBox 18"/>
          <p:cNvSpPr txBox="1"/>
          <p:nvPr/>
        </p:nvSpPr>
        <p:spPr>
          <a:xfrm>
            <a:off x="502920" y="6419088"/>
            <a:ext cx="11155680" cy="320040"/>
          </a:xfrm>
          <a:prstGeom prst="rect">
            <a:avLst/>
          </a:prstGeom>
          <a:noFill/>
        </p:spPr>
        <p:txBody>
          <a:bodyPr wrap="square">
            <a:spAutoFit/>
          </a:bodyPr>
          <a:lstStyle/>
          <a:p>
            <a:r>
              <a:rPr sz="900" b="0" i="0">
                <a:solidFill>
                  <a:srgbClr val="666666"/>
                </a:solidFill>
                <a:latin typeface="Calibri"/>
              </a:rPr>
              <a:t>C2SIM ASX Sub-group   |   Hyssos   |   July 2026</a:t>
            </a:r>
          </a:p>
        </p:txBody>
      </p:sp>
      <p:sp>
        <p:nvSpPr>
          <p:cNvPr id="20" name="TextBox 19"/>
          <p:cNvSpPr txBox="1"/>
          <p:nvPr/>
        </p:nvSpPr>
        <p:spPr>
          <a:xfrm>
            <a:off x="11338560" y="6419088"/>
            <a:ext cx="640080" cy="320040"/>
          </a:xfrm>
          <a:prstGeom prst="rect">
            <a:avLst/>
          </a:prstGeom>
          <a:noFill/>
        </p:spPr>
        <p:txBody>
          <a:bodyPr wrap="square">
            <a:spAutoFit/>
          </a:bodyPr>
          <a:lstStyle/>
          <a:p>
            <a:pPr algn="r"/>
            <a:r>
              <a:rPr sz="9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1170432"/>
            <a:ext cx="2011680" cy="38100"/>
          </a:xfrm>
          <a:prstGeom prst="rect">
            <a:avLst/>
          </a:prstGeom>
          <a:solidFill>
            <a:srgbClr val="2E8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11155680" cy="822960"/>
          </a:xfrm>
          <a:prstGeom prst="rect">
            <a:avLst/>
          </a:prstGeom>
          <a:noFill/>
        </p:spPr>
        <p:txBody>
          <a:bodyPr wrap="square">
            <a:spAutoFit/>
          </a:bodyPr>
          <a:lstStyle/>
          <a:p>
            <a:r>
              <a:rPr sz="3000" b="1" i="0">
                <a:solidFill>
                  <a:srgbClr val="1F3A5F"/>
                </a:solidFill>
                <a:latin typeface="Calibri"/>
              </a:rPr>
              <a:t>The OWL is still catching up to the spreadsheets</a:t>
            </a:r>
          </a:p>
        </p:txBody>
      </p:sp>
      <p:sp>
        <p:nvSpPr>
          <p:cNvPr id="4" name="TextBox 3"/>
          <p:cNvSpPr txBox="1"/>
          <p:nvPr/>
        </p:nvSpPr>
        <p:spPr>
          <a:xfrm>
            <a:off x="548640" y="914400"/>
            <a:ext cx="10972800" cy="320040"/>
          </a:xfrm>
          <a:prstGeom prst="rect">
            <a:avLst/>
          </a:prstGeom>
          <a:noFill/>
        </p:spPr>
        <p:txBody>
          <a:bodyPr wrap="square">
            <a:spAutoFit/>
          </a:bodyPr>
          <a:lstStyle/>
          <a:p>
            <a:r>
              <a:rPr sz="1300" b="0" i="1">
                <a:solidFill>
                  <a:srgbClr val="2E869A"/>
                </a:solidFill>
                <a:latin typeface="Calibri"/>
              </a:rPr>
              <a:t>v0.0.x - expected at this stage</a:t>
            </a:r>
          </a:p>
        </p:txBody>
      </p:sp>
      <p:sp>
        <p:nvSpPr>
          <p:cNvPr id="5" name="TextBox 4"/>
          <p:cNvSpPr txBox="1"/>
          <p:nvPr/>
        </p:nvSpPr>
        <p:spPr>
          <a:xfrm>
            <a:off x="640080" y="1645920"/>
            <a:ext cx="10972800" cy="4709160"/>
          </a:xfrm>
          <a:prstGeom prst="rect">
            <a:avLst/>
          </a:prstGeom>
          <a:noFill/>
        </p:spPr>
        <p:txBody>
          <a:bodyPr wrap="square">
            <a:spAutoFit/>
          </a:bodyPr>
          <a:lstStyle/>
          <a:p>
            <a:pPr>
              <a:spcBef>
                <a:spcPts val="200"/>
              </a:spcBef>
              <a:spcAft>
                <a:spcPts val="1300"/>
              </a:spcAft>
            </a:pPr>
            <a:r>
              <a:rPr sz="1500" b="1" i="0">
                <a:solidFill>
                  <a:srgbClr val="C87F0A"/>
                </a:solidFill>
                <a:latin typeface="Calibri"/>
              </a:rPr>
              <a:t>•  Autonomy - 3 vocabularies to reconcile:  </a:t>
            </a:r>
            <a:r>
              <a:rPr sz="1500" b="0" i="0">
                <a:solidFill>
                  <a:srgbClr val="333333"/>
                </a:solidFill>
                <a:latin typeface="Calibri"/>
              </a:rPr>
              <a:t>OWL {Automated, FullAuto, ReCont, Teleop}  vs  ControlMode {Piloted, Unpiloted-Autonomous, Swarm}  vs  NavigationAutonomy {FPV, Autonomous, RemoteControl}.</a:t>
            </a:r>
          </a:p>
          <a:p>
            <a:pPr>
              <a:spcBef>
                <a:spcPts val="200"/>
              </a:spcBef>
              <a:spcAft>
                <a:spcPts val="1300"/>
              </a:spcAft>
            </a:pPr>
            <a:r>
              <a:rPr sz="1500" b="1" i="0">
                <a:solidFill>
                  <a:srgbClr val="C87F0A"/>
                </a:solidFill>
                <a:latin typeface="Calibri"/>
              </a:rPr>
              <a:t>•  Sensor - 3 models to reconcile:  </a:t>
            </a:r>
            <a:r>
              <a:rPr sz="1500" b="0" i="0">
                <a:solidFill>
                  <a:srgbClr val="333333"/>
                </a:solidFill>
                <a:latin typeface="Calibri"/>
              </a:rPr>
              <a:t>OWL Sensor class  vs  SensorType enum  vs  SensorCapability as associated equipment.</a:t>
            </a:r>
          </a:p>
          <a:p>
            <a:pPr>
              <a:spcBef>
                <a:spcPts val="200"/>
              </a:spcBef>
              <a:spcAft>
                <a:spcPts val="1300"/>
              </a:spcAft>
            </a:pPr>
            <a:r>
              <a:rPr sz="1500" b="1" i="0">
                <a:solidFill>
                  <a:srgbClr val="C87F0A"/>
                </a:solidFill>
                <a:latin typeface="Calibri"/>
              </a:rPr>
              <a:t>•  Not yet in the OWL:  </a:t>
            </a:r>
            <a:r>
              <a:rPr sz="1500" b="0" i="0">
                <a:solidFill>
                  <a:srgbClr val="333333"/>
                </a:solidFill>
                <a:latin typeface="Calibri"/>
              </a:rPr>
              <a:t>Payload, PayloadCapability, Mobility/Propulsion, VehicleType, PassengerCapability, AutonomousMissionFunction/Parameters, SwarmParameters. (v0.0.1 had 0 datatype properties; v0.0.3 begins the layer, for the Video Detection Report only.)</a:t>
            </a:r>
          </a:p>
          <a:p>
            <a:pPr>
              <a:spcBef>
                <a:spcPts val="200"/>
              </a:spcBef>
              <a:spcAft>
                <a:spcPts val="1300"/>
              </a:spcAft>
            </a:pPr>
            <a:r>
              <a:rPr sz="1500" b="1" i="0">
                <a:solidFill>
                  <a:srgbClr val="2E869A"/>
                </a:solidFill>
                <a:latin typeface="Calibri"/>
              </a:rPr>
              <a:t>•  Decisions (Q-C, Q-D):  </a:t>
            </a:r>
            <a:r>
              <a:rPr sz="1500" b="0" i="0">
                <a:solidFill>
                  <a:srgbClr val="333333"/>
                </a:solidFill>
                <a:latin typeface="Calibri"/>
              </a:rPr>
              <a:t>pick one normative sensor model and one normative autonomy vocabulary; express the rest as derived.</a:t>
            </a:r>
          </a:p>
        </p:txBody>
      </p:sp>
      <p:sp>
        <p:nvSpPr>
          <p:cNvPr id="6" name="TextBox 5"/>
          <p:cNvSpPr txBox="1"/>
          <p:nvPr/>
        </p:nvSpPr>
        <p:spPr>
          <a:xfrm>
            <a:off x="502920" y="6126480"/>
            <a:ext cx="11155680" cy="274320"/>
          </a:xfrm>
          <a:prstGeom prst="rect">
            <a:avLst/>
          </a:prstGeom>
          <a:noFill/>
        </p:spPr>
        <p:txBody>
          <a:bodyPr wrap="square">
            <a:spAutoFit/>
          </a:bodyPr>
          <a:lstStyle/>
          <a:p>
            <a:r>
              <a:rPr sz="1000" b="1" i="1">
                <a:solidFill>
                  <a:srgbClr val="2E869A"/>
                </a:solidFill>
                <a:latin typeface="Calibri"/>
              </a:rPr>
              <a:t>Dig deeper:  </a:t>
            </a:r>
            <a:r>
              <a:rPr sz="1000" b="0" i="1">
                <a:solidFill>
                  <a:srgbClr val="666666"/>
                </a:solidFill>
                <a:latin typeface="Calibri"/>
              </a:rPr>
              <a:t>log sec 2 (D1-D3)  -  ASX Concept Mapping.xlsx (the spreadsheet-side vocabularies)</a:t>
            </a:r>
          </a:p>
        </p:txBody>
      </p:sp>
      <p:sp>
        <p:nvSpPr>
          <p:cNvPr id="7" name="TextBox 6"/>
          <p:cNvSpPr txBox="1"/>
          <p:nvPr/>
        </p:nvSpPr>
        <p:spPr>
          <a:xfrm>
            <a:off x="502920" y="6419088"/>
            <a:ext cx="11155680" cy="320040"/>
          </a:xfrm>
          <a:prstGeom prst="rect">
            <a:avLst/>
          </a:prstGeom>
          <a:noFill/>
        </p:spPr>
        <p:txBody>
          <a:bodyPr wrap="square">
            <a:spAutoFit/>
          </a:bodyPr>
          <a:lstStyle/>
          <a:p>
            <a:r>
              <a:rPr sz="900" b="0" i="0">
                <a:solidFill>
                  <a:srgbClr val="666666"/>
                </a:solidFill>
                <a:latin typeface="Calibri"/>
              </a:rPr>
              <a:t>C2SIM ASX Sub-group   |   Hyssos   |   July 2026</a:t>
            </a:r>
          </a:p>
        </p:txBody>
      </p:sp>
      <p:sp>
        <p:nvSpPr>
          <p:cNvPr id="8" name="TextBox 7"/>
          <p:cNvSpPr txBox="1"/>
          <p:nvPr/>
        </p:nvSpPr>
        <p:spPr>
          <a:xfrm>
            <a:off x="11338560" y="6419088"/>
            <a:ext cx="640080" cy="320040"/>
          </a:xfrm>
          <a:prstGeom prst="rect">
            <a:avLst/>
          </a:prstGeom>
          <a:noFill/>
        </p:spPr>
        <p:txBody>
          <a:bodyPr wrap="square">
            <a:spAutoFit/>
          </a:bodyPr>
          <a:lstStyle/>
          <a:p>
            <a:pPr algn="r"/>
            <a:r>
              <a:rPr sz="9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1170432"/>
            <a:ext cx="2011680" cy="38100"/>
          </a:xfrm>
          <a:prstGeom prst="rect">
            <a:avLst/>
          </a:prstGeom>
          <a:solidFill>
            <a:srgbClr val="2E8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11155680" cy="822960"/>
          </a:xfrm>
          <a:prstGeom prst="rect">
            <a:avLst/>
          </a:prstGeom>
          <a:noFill/>
        </p:spPr>
        <p:txBody>
          <a:bodyPr wrap="square">
            <a:spAutoFit/>
          </a:bodyPr>
          <a:lstStyle/>
          <a:p>
            <a:r>
              <a:rPr sz="3000" b="1" i="0">
                <a:solidFill>
                  <a:srgbClr val="1F3A5F"/>
                </a:solidFill>
                <a:latin typeface="Calibri"/>
              </a:rPr>
              <a:t>Open items in the current instantiations</a:t>
            </a:r>
          </a:p>
        </p:txBody>
      </p:sp>
      <p:sp>
        <p:nvSpPr>
          <p:cNvPr id="4" name="TextBox 3"/>
          <p:cNvSpPr txBox="1"/>
          <p:nvPr/>
        </p:nvSpPr>
        <p:spPr>
          <a:xfrm>
            <a:off x="548640" y="914400"/>
            <a:ext cx="10972800" cy="320040"/>
          </a:xfrm>
          <a:prstGeom prst="rect">
            <a:avLst/>
          </a:prstGeom>
          <a:noFill/>
        </p:spPr>
        <p:txBody>
          <a:bodyPr wrap="square">
            <a:spAutoFit/>
          </a:bodyPr>
          <a:lstStyle/>
          <a:p>
            <a:r>
              <a:rPr sz="1300" b="0" i="1">
                <a:solidFill>
                  <a:srgbClr val="2E869A"/>
                </a:solidFill>
                <a:latin typeface="Calibri"/>
              </a:rPr>
              <a:t>small things to tidy as the model firms up</a:t>
            </a:r>
          </a:p>
        </p:txBody>
      </p:sp>
      <p:sp>
        <p:nvSpPr>
          <p:cNvPr id="5" name="TextBox 4"/>
          <p:cNvSpPr txBox="1"/>
          <p:nvPr/>
        </p:nvSpPr>
        <p:spPr>
          <a:xfrm>
            <a:off x="640080" y="1645920"/>
            <a:ext cx="10972800" cy="4709160"/>
          </a:xfrm>
          <a:prstGeom prst="rect">
            <a:avLst/>
          </a:prstGeom>
          <a:noFill/>
        </p:spPr>
        <p:txBody>
          <a:bodyPr wrap="square">
            <a:spAutoFit/>
          </a:bodyPr>
          <a:lstStyle/>
          <a:p>
            <a:pPr>
              <a:spcBef>
                <a:spcPts val="200"/>
              </a:spcBef>
              <a:spcAft>
                <a:spcPts val="1300"/>
              </a:spcAft>
            </a:pPr>
            <a:r>
              <a:rPr sz="1500" b="1" i="0">
                <a:solidFill>
                  <a:srgbClr val="C87F0A"/>
                </a:solidFill>
                <a:latin typeface="Calibri"/>
              </a:rPr>
              <a:t>•  M1:  </a:t>
            </a:r>
            <a:r>
              <a:rPr sz="1500" b="0" i="0">
                <a:solidFill>
                  <a:srgbClr val="333333"/>
                </a:solidFill>
                <a:latin typeface="Calibri"/>
              </a:rPr>
              <a:t>actorReference is a string, but it needs to define an entity not yet in the database - an inline entity-definition mechanism for observed entities is still to be added.</a:t>
            </a:r>
          </a:p>
          <a:p>
            <a:pPr>
              <a:spcBef>
                <a:spcPts val="200"/>
              </a:spcBef>
              <a:spcAft>
                <a:spcPts val="1300"/>
              </a:spcAft>
            </a:pPr>
            <a:r>
              <a:rPr sz="1500" b="1" i="0">
                <a:solidFill>
                  <a:srgbClr val="C87F0A"/>
                </a:solidFill>
                <a:latin typeface="Calibri"/>
              </a:rPr>
              <a:t>•  M5:  </a:t>
            </a:r>
            <a:r>
              <a:rPr sz="1500" b="0" i="0">
                <a:solidFill>
                  <a:srgbClr val="333333"/>
                </a:solidFill>
                <a:latin typeface="Calibri"/>
              </a:rPr>
              <a:t>MediaTypeCode {VID/AUD/IMG/DOC/TXT/NOS} mixes media format with sensor modality - the sample sheets' MediaTypeEnum already used its 'Not Otherwise Specified' value for 'thermal scan' (a sensor type) - worth separating.</a:t>
            </a:r>
          </a:p>
          <a:p>
            <a:pPr>
              <a:spcBef>
                <a:spcPts val="200"/>
              </a:spcBef>
              <a:spcAft>
                <a:spcPts val="1300"/>
              </a:spcAft>
            </a:pPr>
            <a:r>
              <a:rPr sz="1500" b="1" i="0">
                <a:solidFill>
                  <a:srgbClr val="C87F0A"/>
                </a:solidFill>
                <a:latin typeface="Calibri"/>
              </a:rPr>
              <a:t>•  M7:  </a:t>
            </a:r>
            <a:r>
              <a:rPr sz="1500" b="0" i="0">
                <a:solidFill>
                  <a:srgbClr val="333333"/>
                </a:solidFill>
                <a:latin typeface="Calibri"/>
              </a:rPr>
              <a:t>in an Order sheet hasStartTime is typed UUIDBase while hasEndTime is TimeInstant - looks like a copy/paste slip.</a:t>
            </a:r>
          </a:p>
          <a:p>
            <a:pPr>
              <a:spcBef>
                <a:spcPts val="200"/>
              </a:spcBef>
              <a:spcAft>
                <a:spcPts val="1300"/>
              </a:spcAft>
            </a:pPr>
            <a:r>
              <a:rPr sz="1500" b="1" i="0">
                <a:solidFill>
                  <a:srgbClr val="C87F0A"/>
                </a:solidFill>
                <a:latin typeface="Calibri"/>
              </a:rPr>
              <a:t>•  Typos:  </a:t>
            </a:r>
            <a:r>
              <a:rPr sz="1500" b="0" i="0">
                <a:solidFill>
                  <a:srgbClr val="333333"/>
                </a:solidFill>
                <a:latin typeface="Calibri"/>
              </a:rPr>
              <a:t>class 'CollecticeRoboticSystem' (should be 'CollectiveRoboticSystem') and versionInfo 'Extrension' - both still in v0.0.3; easiest to fix before messages are built on them.</a:t>
            </a:r>
          </a:p>
        </p:txBody>
      </p:sp>
      <p:sp>
        <p:nvSpPr>
          <p:cNvPr id="6" name="TextBox 5"/>
          <p:cNvSpPr txBox="1"/>
          <p:nvPr/>
        </p:nvSpPr>
        <p:spPr>
          <a:xfrm>
            <a:off x="502920" y="6126480"/>
            <a:ext cx="11155680" cy="274320"/>
          </a:xfrm>
          <a:prstGeom prst="rect">
            <a:avLst/>
          </a:prstGeom>
          <a:noFill/>
        </p:spPr>
        <p:txBody>
          <a:bodyPr wrap="square">
            <a:spAutoFit/>
          </a:bodyPr>
          <a:lstStyle/>
          <a:p>
            <a:r>
              <a:rPr sz="1000" b="1" i="1">
                <a:solidFill>
                  <a:srgbClr val="2E869A"/>
                </a:solidFill>
                <a:latin typeface="Calibri"/>
              </a:rPr>
              <a:t>Dig deeper:  </a:t>
            </a:r>
            <a:r>
              <a:rPr sz="1000" b="0" i="1">
                <a:solidFill>
                  <a:srgbClr val="666666"/>
                </a:solidFill>
                <a:latin typeface="Calibri"/>
              </a:rPr>
              <a:t>log sec 4 (M-series, sample messages)  -  sec 3 (typos &amp; naming)</a:t>
            </a:r>
          </a:p>
        </p:txBody>
      </p:sp>
      <p:sp>
        <p:nvSpPr>
          <p:cNvPr id="7" name="TextBox 6"/>
          <p:cNvSpPr txBox="1"/>
          <p:nvPr/>
        </p:nvSpPr>
        <p:spPr>
          <a:xfrm>
            <a:off x="502920" y="6419088"/>
            <a:ext cx="11155680" cy="320040"/>
          </a:xfrm>
          <a:prstGeom prst="rect">
            <a:avLst/>
          </a:prstGeom>
          <a:noFill/>
        </p:spPr>
        <p:txBody>
          <a:bodyPr wrap="square">
            <a:spAutoFit/>
          </a:bodyPr>
          <a:lstStyle/>
          <a:p>
            <a:r>
              <a:rPr sz="900" b="0" i="0">
                <a:solidFill>
                  <a:srgbClr val="666666"/>
                </a:solidFill>
                <a:latin typeface="Calibri"/>
              </a:rPr>
              <a:t>C2SIM ASX Sub-group   |   Hyssos   |   July 2026</a:t>
            </a:r>
          </a:p>
        </p:txBody>
      </p:sp>
      <p:sp>
        <p:nvSpPr>
          <p:cNvPr id="8" name="TextBox 7"/>
          <p:cNvSpPr txBox="1"/>
          <p:nvPr/>
        </p:nvSpPr>
        <p:spPr>
          <a:xfrm>
            <a:off x="11338560" y="6419088"/>
            <a:ext cx="640080" cy="320040"/>
          </a:xfrm>
          <a:prstGeom prst="rect">
            <a:avLst/>
          </a:prstGeom>
          <a:noFill/>
        </p:spPr>
        <p:txBody>
          <a:bodyPr wrap="square">
            <a:spAutoFit/>
          </a:bodyPr>
          <a:lstStyle/>
          <a:p>
            <a:pPr algn="r"/>
            <a:r>
              <a:rPr sz="9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1170432"/>
            <a:ext cx="2011680" cy="38100"/>
          </a:xfrm>
          <a:prstGeom prst="rect">
            <a:avLst/>
          </a:prstGeom>
          <a:solidFill>
            <a:srgbClr val="2E8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11155680" cy="822960"/>
          </a:xfrm>
          <a:prstGeom prst="rect">
            <a:avLst/>
          </a:prstGeom>
          <a:noFill/>
        </p:spPr>
        <p:txBody>
          <a:bodyPr wrap="square">
            <a:spAutoFit/>
          </a:bodyPr>
          <a:lstStyle/>
          <a:p>
            <a:r>
              <a:rPr sz="3000" b="1" i="0">
                <a:solidFill>
                  <a:srgbClr val="1F3A5F"/>
                </a:solidFill>
                <a:latin typeface="Calibri"/>
              </a:rPr>
              <a:t>Coverage: what is still to instantiate</a:t>
            </a:r>
          </a:p>
        </p:txBody>
      </p:sp>
      <p:sp>
        <p:nvSpPr>
          <p:cNvPr id="4" name="TextBox 3"/>
          <p:cNvSpPr txBox="1"/>
          <p:nvPr/>
        </p:nvSpPr>
        <p:spPr>
          <a:xfrm>
            <a:off x="640080" y="1463040"/>
            <a:ext cx="10972800" cy="4754880"/>
          </a:xfrm>
          <a:prstGeom prst="rect">
            <a:avLst/>
          </a:prstGeom>
          <a:noFill/>
        </p:spPr>
        <p:txBody>
          <a:bodyPr wrap="square">
            <a:spAutoFit/>
          </a:bodyPr>
          <a:lstStyle/>
          <a:p>
            <a:pPr>
              <a:spcBef>
                <a:spcPts val="200"/>
              </a:spcBef>
              <a:spcAft>
                <a:spcPts val="800"/>
              </a:spcAft>
            </a:pPr>
            <a:r>
              <a:rPr sz="1450" b="1" i="0">
                <a:solidFill>
                  <a:srgbClr val="333333"/>
                </a:solidFill>
                <a:latin typeface="Calibri"/>
              </a:rPr>
              <a:t>•  Initialization: 0 of 3 named scenarios were instantiated (now drafted in this review).</a:t>
            </a:r>
          </a:p>
          <a:p>
            <a:pPr>
              <a:spcBef>
                <a:spcPts val="200"/>
              </a:spcBef>
              <a:spcAft>
                <a:spcPts val="800"/>
              </a:spcAft>
            </a:pPr>
            <a:r>
              <a:rPr sz="1450" b="1" i="0">
                <a:solidFill>
                  <a:srgbClr val="333333"/>
                </a:solidFill>
                <a:latin typeface="Calibri"/>
              </a:rPr>
              <a:t>•  CASEVAC: walked end-to-end in this review - surfaces two gaps with no element (next slide).</a:t>
            </a:r>
          </a:p>
          <a:p>
            <a:pPr>
              <a:spcBef>
                <a:spcPts val="200"/>
              </a:spcBef>
              <a:spcAft>
                <a:spcPts val="800"/>
              </a:spcAft>
            </a:pPr>
            <a:r>
              <a:rPr sz="1450" b="1" i="0">
                <a:solidFill>
                  <a:srgbClr val="333333"/>
                </a:solidFill>
                <a:latin typeface="Calibri"/>
              </a:rPr>
              <a:t>•  Non-video sensors (CBRN, EW, GPR): walked - the media-based report model does not generalize; non-imaging sensors have no measurement type (Y1/Y5).</a:t>
            </a:r>
          </a:p>
          <a:p>
            <a:pPr>
              <a:spcBef>
                <a:spcPts val="200"/>
              </a:spcBef>
              <a:spcAft>
                <a:spcPts val="800"/>
              </a:spcAft>
            </a:pPr>
            <a:r>
              <a:rPr sz="1450" b="0" i="0">
                <a:solidFill>
                  <a:srgbClr val="333333"/>
                </a:solidFill>
                <a:latin typeface="Calibri"/>
              </a:rPr>
              <a:t>•  Task/effect scenarios: engagement, delivery, manipulation, rescue walked - the gap is mainly payload/effector/weapon typing (most task verbs already exist in LOX).</a:t>
            </a:r>
          </a:p>
          <a:p>
            <a:pPr>
              <a:spcBef>
                <a:spcPts val="200"/>
              </a:spcBef>
              <a:spcAft>
                <a:spcPts val="800"/>
              </a:spcAft>
            </a:pPr>
            <a:r>
              <a:rPr sz="1450" b="0" i="0">
                <a:solidFill>
                  <a:srgbClr val="333333"/>
                </a:solidFill>
                <a:latin typeface="Calibri"/>
              </a:rPr>
              <a:t>•  Redundancy pass (route-clearance, companion, urban): confirmed - plus one new finding, N1 (an area is not yet able to be the subject of a task/report).</a:t>
            </a:r>
          </a:p>
          <a:p>
            <a:pPr>
              <a:spcBef>
                <a:spcPts val="200"/>
              </a:spcBef>
              <a:spcAft>
                <a:spcPts val="800"/>
              </a:spcAft>
            </a:pPr>
            <a:r>
              <a:rPr sz="1450" b="0" i="0">
                <a:solidFill>
                  <a:srgbClr val="333333"/>
                </a:solidFill>
                <a:latin typeface="Calibri"/>
              </a:rPr>
              <a:t>•  Sourced scenarios (subterranean, maritime MCM, sustainment): integrated from the parallel scenario-sourcing effort - corroborate P1/X1/N2/Y and add G1-G10 (incl. a generic Detection Report).</a:t>
            </a:r>
          </a:p>
        </p:txBody>
      </p:sp>
      <p:sp>
        <p:nvSpPr>
          <p:cNvPr id="5" name="TextBox 4"/>
          <p:cNvSpPr txBox="1"/>
          <p:nvPr/>
        </p:nvSpPr>
        <p:spPr>
          <a:xfrm>
            <a:off x="502920" y="6126480"/>
            <a:ext cx="11155680" cy="274320"/>
          </a:xfrm>
          <a:prstGeom prst="rect">
            <a:avLst/>
          </a:prstGeom>
          <a:noFill/>
        </p:spPr>
        <p:txBody>
          <a:bodyPr wrap="square">
            <a:spAutoFit/>
          </a:bodyPr>
          <a:lstStyle/>
          <a:p>
            <a:r>
              <a:rPr sz="1000" b="1" i="1">
                <a:solidFill>
                  <a:srgbClr val="2E869A"/>
                </a:solidFill>
                <a:latin typeface="Calibri"/>
              </a:rPr>
              <a:t>Dig deeper:  </a:t>
            </a:r>
            <a:r>
              <a:rPr sz="1000" b="0" i="1">
                <a:solidFill>
                  <a:srgbClr val="666666"/>
                </a:solidFill>
                <a:latin typeface="Calibri"/>
              </a:rPr>
              <a:t>log sec 6 (C1-C8) - each coverage row names the walk doc and tabs behind it</a:t>
            </a:r>
          </a:p>
        </p:txBody>
      </p:sp>
      <p:sp>
        <p:nvSpPr>
          <p:cNvPr id="6" name="TextBox 5"/>
          <p:cNvSpPr txBox="1"/>
          <p:nvPr/>
        </p:nvSpPr>
        <p:spPr>
          <a:xfrm>
            <a:off x="502920" y="6419088"/>
            <a:ext cx="11155680" cy="320040"/>
          </a:xfrm>
          <a:prstGeom prst="rect">
            <a:avLst/>
          </a:prstGeom>
          <a:noFill/>
        </p:spPr>
        <p:txBody>
          <a:bodyPr wrap="square">
            <a:spAutoFit/>
          </a:bodyPr>
          <a:lstStyle/>
          <a:p>
            <a:r>
              <a:rPr sz="900" b="0" i="0">
                <a:solidFill>
                  <a:srgbClr val="666666"/>
                </a:solidFill>
                <a:latin typeface="Calibri"/>
              </a:rPr>
              <a:t>C2SIM ASX Sub-group   |   Hyssos   |   July 2026</a:t>
            </a:r>
          </a:p>
        </p:txBody>
      </p:sp>
      <p:sp>
        <p:nvSpPr>
          <p:cNvPr id="7" name="TextBox 6"/>
          <p:cNvSpPr txBox="1"/>
          <p:nvPr/>
        </p:nvSpPr>
        <p:spPr>
          <a:xfrm>
            <a:off x="11338560" y="6419088"/>
            <a:ext cx="640080" cy="320040"/>
          </a:xfrm>
          <a:prstGeom prst="rect">
            <a:avLst/>
          </a:prstGeom>
          <a:noFill/>
        </p:spPr>
        <p:txBody>
          <a:bodyPr wrap="square">
            <a:spAutoFit/>
          </a:bodyPr>
          <a:lstStyle/>
          <a:p>
            <a:pPr algn="r"/>
            <a:r>
              <a:rPr sz="9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1170432"/>
            <a:ext cx="2011680" cy="38100"/>
          </a:xfrm>
          <a:prstGeom prst="rect">
            <a:avLst/>
          </a:prstGeom>
          <a:solidFill>
            <a:srgbClr val="2E8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11155680" cy="822960"/>
          </a:xfrm>
          <a:prstGeom prst="rect">
            <a:avLst/>
          </a:prstGeom>
          <a:noFill/>
        </p:spPr>
        <p:txBody>
          <a:bodyPr wrap="square">
            <a:spAutoFit/>
          </a:bodyPr>
          <a:lstStyle/>
          <a:p>
            <a:r>
              <a:rPr sz="3000" b="1" i="0">
                <a:solidFill>
                  <a:srgbClr val="1F3A5F"/>
                </a:solidFill>
                <a:latin typeface="Calibri"/>
              </a:rPr>
              <a:t>CASEVAC walk: two gaps with no element</a:t>
            </a:r>
          </a:p>
        </p:txBody>
      </p:sp>
      <p:sp>
        <p:nvSpPr>
          <p:cNvPr id="4" name="TextBox 3"/>
          <p:cNvSpPr txBox="1"/>
          <p:nvPr/>
        </p:nvSpPr>
        <p:spPr>
          <a:xfrm>
            <a:off x="548640" y="914400"/>
            <a:ext cx="10972800" cy="320040"/>
          </a:xfrm>
          <a:prstGeom prst="rect">
            <a:avLst/>
          </a:prstGeom>
          <a:noFill/>
        </p:spPr>
        <p:txBody>
          <a:bodyPr wrap="square">
            <a:spAutoFit/>
          </a:bodyPr>
          <a:lstStyle/>
          <a:p>
            <a:r>
              <a:rPr sz="1300" b="0" i="1">
                <a:solidFill>
                  <a:srgbClr val="2E869A"/>
                </a:solidFill>
                <a:latin typeface="Calibri"/>
              </a:rPr>
              <a:t>The flagship contributed scenario</a:t>
            </a:r>
          </a:p>
        </p:txBody>
      </p:sp>
      <p:sp>
        <p:nvSpPr>
          <p:cNvPr id="5" name="TextBox 4"/>
          <p:cNvSpPr txBox="1"/>
          <p:nvPr/>
        </p:nvSpPr>
        <p:spPr>
          <a:xfrm>
            <a:off x="640080" y="1417320"/>
            <a:ext cx="10972800" cy="777240"/>
          </a:xfrm>
          <a:prstGeom prst="rect">
            <a:avLst/>
          </a:prstGeom>
          <a:noFill/>
        </p:spPr>
        <p:txBody>
          <a:bodyPr wrap="square">
            <a:spAutoFit/>
          </a:bodyPr>
          <a:lstStyle/>
          <a:p>
            <a:pPr>
              <a:spcBef>
                <a:spcPts val="200"/>
              </a:spcBef>
              <a:spcAft>
                <a:spcPts val="600"/>
              </a:spcAft>
            </a:pPr>
            <a:r>
              <a:rPr sz="1400" b="0" i="0">
                <a:solidFill>
                  <a:srgbClr val="333333"/>
                </a:solidFill>
                <a:latin typeface="Calibri"/>
              </a:rPr>
              <a:t>•  Walked end-to-end: Initialization -&gt; tasking Order -&gt; robot-to-robot route hand-off -&gt; status/threat Reports -&gt; explainable-reasons Report.</a:t>
            </a:r>
          </a:p>
        </p:txBody>
      </p:sp>
      <p:sp>
        <p:nvSpPr>
          <p:cNvPr id="6" name="Rounded Rectangle 5"/>
          <p:cNvSpPr/>
          <p:nvPr/>
        </p:nvSpPr>
        <p:spPr>
          <a:xfrm>
            <a:off x="731520" y="2240280"/>
            <a:ext cx="5257800" cy="1600200"/>
          </a:xfrm>
          <a:prstGeom prst="round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latin typeface="Calibri"/>
              </a:rPr>
              <a:t>X1  -  No robot-to-robot content
Scout has no content type yet to hand a verified safe Route to the transport UGV (envelope addressing exists; a content type does not)</a:t>
            </a:r>
          </a:p>
        </p:txBody>
      </p:sp>
      <p:sp>
        <p:nvSpPr>
          <p:cNvPr id="7" name="Rounded Rectangle 6"/>
          <p:cNvSpPr/>
          <p:nvPr/>
        </p:nvSpPr>
        <p:spPr>
          <a:xfrm>
            <a:off x="6217920" y="2240280"/>
            <a:ext cx="5257800" cy="1600200"/>
          </a:xfrm>
          <a:prstGeom prst="round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latin typeface="Calibri"/>
              </a:rPr>
              <a:t>X2  -  No rationale report
Systems can report WHAT (TaskStatus) but not WHY a route changed or a mission failed</a:t>
            </a:r>
          </a:p>
        </p:txBody>
      </p:sp>
      <p:sp>
        <p:nvSpPr>
          <p:cNvPr id="8" name="TextBox 7"/>
          <p:cNvSpPr txBox="1"/>
          <p:nvPr/>
        </p:nvSpPr>
        <p:spPr>
          <a:xfrm>
            <a:off x="640080" y="4114800"/>
            <a:ext cx="10972800" cy="2240280"/>
          </a:xfrm>
          <a:prstGeom prst="rect">
            <a:avLst/>
          </a:prstGeom>
          <a:noFill/>
        </p:spPr>
        <p:txBody>
          <a:bodyPr wrap="square">
            <a:spAutoFit/>
          </a:bodyPr>
          <a:lstStyle/>
          <a:p>
            <a:pPr>
              <a:spcBef>
                <a:spcPts val="200"/>
              </a:spcBef>
              <a:spcAft>
                <a:spcPts val="900"/>
              </a:spcAft>
            </a:pPr>
            <a:r>
              <a:rPr sz="1400" b="1" i="0">
                <a:solidFill>
                  <a:srgbClr val="2E869A"/>
                </a:solidFill>
                <a:latin typeface="Calibri"/>
              </a:rPr>
              <a:t>•  Decision (Q-G):  </a:t>
            </a:r>
            <a:r>
              <a:rPr sz="1400" b="0" i="0">
                <a:solidFill>
                  <a:srgbClr val="333333"/>
                </a:solidFill>
                <a:latin typeface="Calibri"/>
              </a:rPr>
              <a:t>define a robot-to-robot coordination content type (safe-route advertisement) and the issuing-authority model.</a:t>
            </a:r>
          </a:p>
          <a:p>
            <a:pPr>
              <a:spcBef>
                <a:spcPts val="200"/>
              </a:spcBef>
              <a:spcAft>
                <a:spcPts val="900"/>
              </a:spcAft>
            </a:pPr>
            <a:r>
              <a:rPr sz="1400" b="1" i="0">
                <a:solidFill>
                  <a:srgbClr val="2E869A"/>
                </a:solidFill>
                <a:latin typeface="Calibri"/>
              </a:rPr>
              <a:t>•  Decision (Q-H):  </a:t>
            </a:r>
            <a:r>
              <a:rPr sz="1400" b="0" i="0">
                <a:solidFill>
                  <a:srgbClr val="333333"/>
                </a:solidFill>
                <a:latin typeface="Calibri"/>
              </a:rPr>
              <a:t>add a rationale/explanation ReportContent so systems can report why, not just what.</a:t>
            </a:r>
          </a:p>
          <a:p>
            <a:pPr>
              <a:spcBef>
                <a:spcPts val="200"/>
              </a:spcBef>
              <a:spcAft>
                <a:spcPts val="900"/>
              </a:spcAft>
            </a:pPr>
            <a:r>
              <a:rPr sz="1400" b="1" i="0">
                <a:solidFill>
                  <a:srgbClr val="2E7D32"/>
                </a:solidFill>
                <a:latin typeface="Calibri"/>
              </a:rPr>
              <a:t>•  Checked:  </a:t>
            </a:r>
            <a:r>
              <a:rPr sz="1400" b="0" i="0">
                <a:solidFill>
                  <a:srgbClr val="333333"/>
                </a:solidFill>
                <a:latin typeface="Calibri"/>
              </a:rPr>
              <a:t>Route, phased planning (PlanBody/PlanPhase), and position reporting already exist - not gaps.</a:t>
            </a:r>
          </a:p>
        </p:txBody>
      </p:sp>
      <p:sp>
        <p:nvSpPr>
          <p:cNvPr id="9" name="TextBox 8"/>
          <p:cNvSpPr txBox="1"/>
          <p:nvPr/>
        </p:nvSpPr>
        <p:spPr>
          <a:xfrm>
            <a:off x="502920" y="6126480"/>
            <a:ext cx="11155680" cy="274320"/>
          </a:xfrm>
          <a:prstGeom prst="rect">
            <a:avLst/>
          </a:prstGeom>
          <a:noFill/>
        </p:spPr>
        <p:txBody>
          <a:bodyPr wrap="square">
            <a:spAutoFit/>
          </a:bodyPr>
          <a:lstStyle/>
          <a:p>
            <a:r>
              <a:rPr sz="1000" b="1" i="1">
                <a:solidFill>
                  <a:srgbClr val="2E869A"/>
                </a:solidFill>
                <a:latin typeface="Calibri"/>
              </a:rPr>
              <a:t>Dig deeper:  </a:t>
            </a:r>
            <a:r>
              <a:rPr sz="1000" b="0" i="1">
                <a:solidFill>
                  <a:srgbClr val="666666"/>
                </a:solidFill>
                <a:latin typeface="Calibri"/>
              </a:rPr>
              <a:t>CASEVAC-Walk.md  -  log sec 6b (X1-X6)  -  5 CASEVAC tabs in the .xml workbooks</a:t>
            </a:r>
          </a:p>
        </p:txBody>
      </p:sp>
      <p:sp>
        <p:nvSpPr>
          <p:cNvPr id="10" name="TextBox 9"/>
          <p:cNvSpPr txBox="1"/>
          <p:nvPr/>
        </p:nvSpPr>
        <p:spPr>
          <a:xfrm>
            <a:off x="502920" y="6419088"/>
            <a:ext cx="11155680" cy="320040"/>
          </a:xfrm>
          <a:prstGeom prst="rect">
            <a:avLst/>
          </a:prstGeom>
          <a:noFill/>
        </p:spPr>
        <p:txBody>
          <a:bodyPr wrap="square">
            <a:spAutoFit/>
          </a:bodyPr>
          <a:lstStyle/>
          <a:p>
            <a:r>
              <a:rPr sz="900" b="0" i="0">
                <a:solidFill>
                  <a:srgbClr val="666666"/>
                </a:solidFill>
                <a:latin typeface="Calibri"/>
              </a:rPr>
              <a:t>C2SIM ASX Sub-group   |   Hyssos   |   July 2026</a:t>
            </a:r>
          </a:p>
        </p:txBody>
      </p:sp>
      <p:sp>
        <p:nvSpPr>
          <p:cNvPr id="11" name="TextBox 10"/>
          <p:cNvSpPr txBox="1"/>
          <p:nvPr/>
        </p:nvSpPr>
        <p:spPr>
          <a:xfrm>
            <a:off x="11338560" y="6419088"/>
            <a:ext cx="640080" cy="320040"/>
          </a:xfrm>
          <a:prstGeom prst="rect">
            <a:avLst/>
          </a:prstGeom>
          <a:noFill/>
        </p:spPr>
        <p:txBody>
          <a:bodyPr wrap="square">
            <a:spAutoFit/>
          </a:bodyPr>
          <a:lstStyle/>
          <a:p>
            <a:pPr algn="r"/>
            <a:r>
              <a:rPr sz="9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1170432"/>
            <a:ext cx="2011680" cy="38100"/>
          </a:xfrm>
          <a:prstGeom prst="rect">
            <a:avLst/>
          </a:prstGeom>
          <a:solidFill>
            <a:srgbClr val="2E8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11155680" cy="822960"/>
          </a:xfrm>
          <a:prstGeom prst="rect">
            <a:avLst/>
          </a:prstGeom>
          <a:noFill/>
        </p:spPr>
        <p:txBody>
          <a:bodyPr wrap="square">
            <a:spAutoFit/>
          </a:bodyPr>
          <a:lstStyle/>
          <a:p>
            <a:r>
              <a:rPr sz="3000" b="1" i="0">
                <a:solidFill>
                  <a:srgbClr val="1F3A5F"/>
                </a:solidFill>
                <a:latin typeface="Calibri"/>
              </a:rPr>
              <a:t>Fire Support: autonomous engagement authority</a:t>
            </a:r>
          </a:p>
        </p:txBody>
      </p:sp>
      <p:sp>
        <p:nvSpPr>
          <p:cNvPr id="4" name="TextBox 3"/>
          <p:cNvSpPr txBox="1"/>
          <p:nvPr/>
        </p:nvSpPr>
        <p:spPr>
          <a:xfrm>
            <a:off x="548640" y="914400"/>
            <a:ext cx="10972800" cy="320040"/>
          </a:xfrm>
          <a:prstGeom prst="rect">
            <a:avLst/>
          </a:prstGeom>
          <a:noFill/>
        </p:spPr>
        <p:txBody>
          <a:bodyPr wrap="square">
            <a:spAutoFit/>
          </a:bodyPr>
          <a:lstStyle/>
          <a:p>
            <a:r>
              <a:rPr sz="1300" b="0" i="1">
                <a:solidFill>
                  <a:srgbClr val="2E869A"/>
                </a:solidFill>
                <a:latin typeface="Calibri"/>
              </a:rPr>
              <a:t>The task/effect axis</a:t>
            </a:r>
          </a:p>
        </p:txBody>
      </p:sp>
      <p:sp>
        <p:nvSpPr>
          <p:cNvPr id="5" name="Rounded Rectangle 4"/>
          <p:cNvSpPr/>
          <p:nvPr/>
        </p:nvSpPr>
        <p:spPr>
          <a:xfrm>
            <a:off x="731520" y="1783080"/>
            <a:ext cx="10744200" cy="1463040"/>
          </a:xfrm>
          <a:prstGeom prst="round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i="0">
                <a:solidFill>
                  <a:srgbClr val="FFFFFF"/>
                </a:solidFill>
                <a:latin typeface="Calibri"/>
              </a:rPr>
              <a:t>W1  -  No link between autonomy level and permission to engage
The standard can say WHAT effect and WHICH ROE - but not WHO (which commander) authorized the engagement, nor whether a FullAuto system may take a lethal action without a human in / on the loop.</a:t>
            </a:r>
          </a:p>
        </p:txBody>
      </p:sp>
      <p:sp>
        <p:nvSpPr>
          <p:cNvPr id="6" name="TextBox 5"/>
          <p:cNvSpPr txBox="1"/>
          <p:nvPr/>
        </p:nvSpPr>
        <p:spPr>
          <a:xfrm>
            <a:off x="640080" y="3474720"/>
            <a:ext cx="10972800" cy="2880360"/>
          </a:xfrm>
          <a:prstGeom prst="rect">
            <a:avLst/>
          </a:prstGeom>
          <a:noFill/>
        </p:spPr>
        <p:txBody>
          <a:bodyPr wrap="square">
            <a:spAutoFit/>
          </a:bodyPr>
          <a:lstStyle/>
          <a:p>
            <a:pPr>
              <a:spcBef>
                <a:spcPts val="200"/>
              </a:spcBef>
              <a:spcAft>
                <a:spcPts val="1100"/>
              </a:spcAft>
            </a:pPr>
            <a:r>
              <a:rPr sz="1450" b="1" i="0">
                <a:solidFill>
                  <a:srgbClr val="2E7D32"/>
                </a:solidFill>
                <a:latin typeface="Calibri"/>
              </a:rPr>
              <a:t>•  Checked - already exist (not gaps):  </a:t>
            </a:r>
            <a:r>
              <a:rPr sz="1450" b="0" i="0">
                <a:solidFill>
                  <a:srgbClr val="333333"/>
                </a:solidFill>
                <a:latin typeface="Calibri"/>
              </a:rPr>
              <a:t>rules of engagement (RuleOfEngagement, WeaponRuleOfEngagementCode - LOX), desired effect (DesiredEffectCode), target (hasAffectedEntity), and the engage/attack verbs (lox#ENGAGE / lox#ATTACK).</a:t>
            </a:r>
          </a:p>
          <a:p>
            <a:pPr>
              <a:spcBef>
                <a:spcPts val="200"/>
              </a:spcBef>
              <a:spcAft>
                <a:spcPts val="1100"/>
              </a:spcAft>
            </a:pPr>
            <a:r>
              <a:rPr sz="1450" b="1" i="0">
                <a:solidFill>
                  <a:srgbClr val="C87F0A"/>
                </a:solidFill>
                <a:latin typeface="Calibri"/>
              </a:rPr>
              <a:t>•  Note:  </a:t>
            </a:r>
            <a:r>
              <a:rPr sz="1450" b="0" i="0">
                <a:solidFill>
                  <a:srgbClr val="333333"/>
                </a:solidFill>
                <a:latin typeface="Calibri"/>
              </a:rPr>
              <a:t>AuthorizationHeader is message-sender authentication, not command authorization of fires - so who-approved-the-engagement is part of W1, not covered.</a:t>
            </a:r>
          </a:p>
          <a:p>
            <a:pPr>
              <a:spcBef>
                <a:spcPts val="200"/>
              </a:spcBef>
              <a:spcAft>
                <a:spcPts val="1100"/>
              </a:spcAft>
            </a:pPr>
            <a:r>
              <a:rPr sz="1450" b="1" i="0">
                <a:solidFill>
                  <a:srgbClr val="C87F0A"/>
                </a:solidFill>
                <a:latin typeface="Calibri"/>
              </a:rPr>
              <a:t>•  Also gaps:  </a:t>
            </a:r>
            <a:r>
              <a:rPr sz="1450" b="0" i="0">
                <a:solidFill>
                  <a:srgbClr val="333333"/>
                </a:solidFill>
                <a:latin typeface="Calibri"/>
              </a:rPr>
              <a:t>W2 weapon/munition not typed; W3 no battle-damage / effect-achieved report (TaskStatus = the task ran, not the target destroyed).</a:t>
            </a:r>
          </a:p>
          <a:p>
            <a:pPr>
              <a:spcBef>
                <a:spcPts val="200"/>
              </a:spcBef>
              <a:spcAft>
                <a:spcPts val="1100"/>
              </a:spcAft>
            </a:pPr>
            <a:r>
              <a:rPr sz="1450" b="1" i="0">
                <a:solidFill>
                  <a:srgbClr val="2E869A"/>
                </a:solidFill>
                <a:latin typeface="Calibri"/>
              </a:rPr>
              <a:t>•  Decision (Q-K):  </a:t>
            </a:r>
            <a:r>
              <a:rPr sz="1450" b="0" i="0">
                <a:solidFill>
                  <a:srgbClr val="333333"/>
                </a:solidFill>
                <a:latin typeface="Calibri"/>
              </a:rPr>
              <a:t>model engagement authority as a function of autonomy level - may this system take this action unsupervised?</a:t>
            </a:r>
          </a:p>
        </p:txBody>
      </p:sp>
      <p:sp>
        <p:nvSpPr>
          <p:cNvPr id="7" name="TextBox 6"/>
          <p:cNvSpPr txBox="1"/>
          <p:nvPr/>
        </p:nvSpPr>
        <p:spPr>
          <a:xfrm>
            <a:off x="502920" y="6126480"/>
            <a:ext cx="11155680" cy="274320"/>
          </a:xfrm>
          <a:prstGeom prst="rect">
            <a:avLst/>
          </a:prstGeom>
          <a:noFill/>
        </p:spPr>
        <p:txBody>
          <a:bodyPr wrap="square">
            <a:spAutoFit/>
          </a:bodyPr>
          <a:lstStyle/>
          <a:p>
            <a:r>
              <a:rPr sz="1000" b="1" i="1">
                <a:solidFill>
                  <a:srgbClr val="2E869A"/>
                </a:solidFill>
                <a:latin typeface="Calibri"/>
              </a:rPr>
              <a:t>Dig deeper:  </a:t>
            </a:r>
            <a:r>
              <a:rPr sz="1000" b="0" i="1">
                <a:solidFill>
                  <a:srgbClr val="666666"/>
                </a:solidFill>
                <a:latin typeface="Calibri"/>
              </a:rPr>
              <a:t>FireSupport-Walk.md  -  log sec 6e (W1-W3)  -  Fire Support Order + BDA Report tabs</a:t>
            </a:r>
          </a:p>
        </p:txBody>
      </p:sp>
      <p:sp>
        <p:nvSpPr>
          <p:cNvPr id="8" name="TextBox 7"/>
          <p:cNvSpPr txBox="1"/>
          <p:nvPr/>
        </p:nvSpPr>
        <p:spPr>
          <a:xfrm>
            <a:off x="502920" y="6419088"/>
            <a:ext cx="11155680" cy="320040"/>
          </a:xfrm>
          <a:prstGeom prst="rect">
            <a:avLst/>
          </a:prstGeom>
          <a:noFill/>
        </p:spPr>
        <p:txBody>
          <a:bodyPr wrap="square">
            <a:spAutoFit/>
          </a:bodyPr>
          <a:lstStyle/>
          <a:p>
            <a:r>
              <a:rPr sz="900" b="0" i="0">
                <a:solidFill>
                  <a:srgbClr val="666666"/>
                </a:solidFill>
                <a:latin typeface="Calibri"/>
              </a:rPr>
              <a:t>C2SIM ASX Sub-group   |   Hyssos   |   July 2026</a:t>
            </a:r>
          </a:p>
        </p:txBody>
      </p:sp>
      <p:sp>
        <p:nvSpPr>
          <p:cNvPr id="9" name="TextBox 8"/>
          <p:cNvSpPr txBox="1"/>
          <p:nvPr/>
        </p:nvSpPr>
        <p:spPr>
          <a:xfrm>
            <a:off x="11338560" y="6419088"/>
            <a:ext cx="640080" cy="320040"/>
          </a:xfrm>
          <a:prstGeom prst="rect">
            <a:avLst/>
          </a:prstGeom>
          <a:noFill/>
        </p:spPr>
        <p:txBody>
          <a:bodyPr wrap="square">
            <a:spAutoFit/>
          </a:bodyPr>
          <a:lstStyle/>
          <a:p>
            <a:pPr algn="r"/>
            <a:r>
              <a:rPr sz="900" b="0" i="0">
                <a:solidFill>
                  <a:srgbClr val="66666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1170432"/>
            <a:ext cx="2011680" cy="38100"/>
          </a:xfrm>
          <a:prstGeom prst="rect">
            <a:avLst/>
          </a:prstGeom>
          <a:solidFill>
            <a:srgbClr val="2E8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11155680" cy="822960"/>
          </a:xfrm>
          <a:prstGeom prst="rect">
            <a:avLst/>
          </a:prstGeom>
          <a:noFill/>
        </p:spPr>
        <p:txBody>
          <a:bodyPr wrap="square">
            <a:spAutoFit/>
          </a:bodyPr>
          <a:lstStyle/>
          <a:p>
            <a:r>
              <a:rPr sz="3000" b="1" i="0">
                <a:solidFill>
                  <a:srgbClr val="1F3A5F"/>
                </a:solidFill>
                <a:latin typeface="Calibri"/>
              </a:rPr>
              <a:t>The task/effect axis is mostly already there</a:t>
            </a:r>
          </a:p>
        </p:txBody>
      </p:sp>
      <p:sp>
        <p:nvSpPr>
          <p:cNvPr id="4" name="TextBox 3"/>
          <p:cNvSpPr txBox="1"/>
          <p:nvPr/>
        </p:nvSpPr>
        <p:spPr>
          <a:xfrm>
            <a:off x="548640" y="914400"/>
            <a:ext cx="10972800" cy="320040"/>
          </a:xfrm>
          <a:prstGeom prst="rect">
            <a:avLst/>
          </a:prstGeom>
          <a:noFill/>
        </p:spPr>
        <p:txBody>
          <a:bodyPr wrap="square">
            <a:spAutoFit/>
          </a:bodyPr>
          <a:lstStyle/>
          <a:p>
            <a:r>
              <a:rPr sz="1300" b="0" i="1">
                <a:solidFill>
                  <a:srgbClr val="2E869A"/>
                </a:solidFill>
                <a:latin typeface="Calibri"/>
              </a:rPr>
              <a:t>Across engagement, delivery, manipulation, rescue, search</a:t>
            </a:r>
          </a:p>
        </p:txBody>
      </p:sp>
      <p:sp>
        <p:nvSpPr>
          <p:cNvPr id="5" name="Rounded Rectangle 4"/>
          <p:cNvSpPr/>
          <p:nvPr/>
        </p:nvSpPr>
        <p:spPr>
          <a:xfrm>
            <a:off x="731520" y="1828800"/>
            <a:ext cx="5257800" cy="160020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latin typeface="Calibri"/>
              </a:rPr>
              <a:t>Action verbs already exist
LOX has 446 TaskActionCode verbs - ENGAGE, ATTACK, BREACH, CONSTR, CLROBS, MINLAY, TRANS, RESUPL, RESCUE, RECOVR, NTRCOM, ESCRT, RECCE, PATROL. Not a missing-verb problem.</a:t>
            </a:r>
          </a:p>
        </p:txBody>
      </p:sp>
      <p:sp>
        <p:nvSpPr>
          <p:cNvPr id="6" name="Rounded Rectangle 5"/>
          <p:cNvSpPr/>
          <p:nvPr/>
        </p:nvSpPr>
        <p:spPr>
          <a:xfrm>
            <a:off x="6217920" y="1828800"/>
            <a:ext cx="5257800" cy="1600200"/>
          </a:xfrm>
          <a:prstGeom prst="round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latin typeface="Calibri"/>
              </a:rPr>
              <a:t>The real gap: payload / effector / weapon typing
Cargo (L1), manipulator (E2), weapon (W2) are one gap: no typed thing carried or wielded.</a:t>
            </a:r>
          </a:p>
        </p:txBody>
      </p:sp>
      <p:sp>
        <p:nvSpPr>
          <p:cNvPr id="7" name="TextBox 6"/>
          <p:cNvSpPr txBox="1"/>
          <p:nvPr/>
        </p:nvSpPr>
        <p:spPr>
          <a:xfrm>
            <a:off x="640080" y="3657600"/>
            <a:ext cx="10972800" cy="2697480"/>
          </a:xfrm>
          <a:prstGeom prst="rect">
            <a:avLst/>
          </a:prstGeom>
          <a:noFill/>
        </p:spPr>
        <p:txBody>
          <a:bodyPr wrap="square">
            <a:spAutoFit/>
          </a:bodyPr>
          <a:lstStyle/>
          <a:p>
            <a:pPr>
              <a:spcBef>
                <a:spcPts val="200"/>
              </a:spcBef>
              <a:spcAft>
                <a:spcPts val="900"/>
              </a:spcAft>
            </a:pPr>
            <a:r>
              <a:rPr sz="1400" b="1" i="0">
                <a:solidFill>
                  <a:srgbClr val="2E7D32"/>
                </a:solidFill>
                <a:latin typeface="Calibri"/>
              </a:rPr>
              <a:t>•  Also already there (checked):  </a:t>
            </a:r>
            <a:r>
              <a:rPr sz="1400" b="0" i="0">
                <a:solidFill>
                  <a:srgbClr val="333333"/>
                </a:solidFill>
                <a:latin typeface="Calibri"/>
              </a:rPr>
              <a:t>effects (DesiredEffectCode), targets (hasAffectedEntity), resources + quantities, ROE, platform types (Vehicle / Aircraft / SurfaceVessel).</a:t>
            </a:r>
          </a:p>
          <a:p>
            <a:pPr>
              <a:spcBef>
                <a:spcPts val="200"/>
              </a:spcBef>
              <a:spcAft>
                <a:spcPts val="900"/>
              </a:spcAft>
            </a:pPr>
            <a:r>
              <a:rPr sz="1400" b="1" i="0">
                <a:solidFill>
                  <a:srgbClr val="C87F0A"/>
                </a:solidFill>
                <a:latin typeface="Calibri"/>
              </a:rPr>
              <a:t>•  Small residuals:  </a:t>
            </a:r>
            <a:r>
              <a:rPr sz="1400" b="0" i="0">
                <a:solidFill>
                  <a:srgbClr val="333333"/>
                </a:solidFill>
                <a:latin typeface="Calibri"/>
              </a:rPr>
              <a:t>an area is not yet a possible task/report subject (N1 / Q-M); an area-coverage exploration goal (G2); a general-purpose tow/salvage verb (TOWTGT covers gunnery targets only); a decoy role.</a:t>
            </a:r>
          </a:p>
          <a:p>
            <a:pPr>
              <a:spcBef>
                <a:spcPts val="200"/>
              </a:spcBef>
              <a:spcAft>
                <a:spcPts val="900"/>
              </a:spcAft>
            </a:pPr>
            <a:r>
              <a:rPr sz="1400" b="1" i="0">
                <a:solidFill>
                  <a:srgbClr val="2E869A"/>
                </a:solidFill>
                <a:latin typeface="Calibri"/>
              </a:rPr>
              <a:t>•  Decision (Q-L):  </a:t>
            </a:r>
            <a:r>
              <a:rPr sz="1400" b="0" i="0">
                <a:solidFill>
                  <a:srgbClr val="333333"/>
                </a:solidFill>
                <a:latin typeface="Calibri"/>
              </a:rPr>
              <a:t>add the typed payload / effector / weapon - the verbs are already in LOX.</a:t>
            </a:r>
          </a:p>
        </p:txBody>
      </p:sp>
      <p:sp>
        <p:nvSpPr>
          <p:cNvPr id="8" name="TextBox 7"/>
          <p:cNvSpPr txBox="1"/>
          <p:nvPr/>
        </p:nvSpPr>
        <p:spPr>
          <a:xfrm>
            <a:off x="502920" y="6126480"/>
            <a:ext cx="11155680" cy="274320"/>
          </a:xfrm>
          <a:prstGeom prst="rect">
            <a:avLst/>
          </a:prstGeom>
          <a:noFill/>
        </p:spPr>
        <p:txBody>
          <a:bodyPr wrap="square">
            <a:spAutoFit/>
          </a:bodyPr>
          <a:lstStyle/>
          <a:p>
            <a:r>
              <a:rPr sz="1000" b="1" i="1">
                <a:solidFill>
                  <a:srgbClr val="2E869A"/>
                </a:solidFill>
                <a:latin typeface="Calibri"/>
              </a:rPr>
              <a:t>Dig deeper:  </a:t>
            </a:r>
            <a:r>
              <a:rPr sz="1000" b="0" i="1">
                <a:solidFill>
                  <a:srgbClr val="666666"/>
                </a:solidFill>
                <a:latin typeface="Calibri"/>
              </a:rPr>
              <a:t>TaskEffect-Batch-Walk.md  -  RedundancyPass-Walk.md  -  log secs 6f / 6g (L, E, R, N series)</a:t>
            </a:r>
          </a:p>
        </p:txBody>
      </p:sp>
      <p:sp>
        <p:nvSpPr>
          <p:cNvPr id="9" name="TextBox 8"/>
          <p:cNvSpPr txBox="1"/>
          <p:nvPr/>
        </p:nvSpPr>
        <p:spPr>
          <a:xfrm>
            <a:off x="502920" y="6419088"/>
            <a:ext cx="11155680" cy="320040"/>
          </a:xfrm>
          <a:prstGeom prst="rect">
            <a:avLst/>
          </a:prstGeom>
          <a:noFill/>
        </p:spPr>
        <p:txBody>
          <a:bodyPr wrap="square">
            <a:spAutoFit/>
          </a:bodyPr>
          <a:lstStyle/>
          <a:p>
            <a:r>
              <a:rPr sz="900" b="0" i="0">
                <a:solidFill>
                  <a:srgbClr val="666666"/>
                </a:solidFill>
                <a:latin typeface="Calibri"/>
              </a:rPr>
              <a:t>C2SIM ASX Sub-group   |   Hyssos   |   July 2026</a:t>
            </a:r>
          </a:p>
        </p:txBody>
      </p:sp>
      <p:sp>
        <p:nvSpPr>
          <p:cNvPr id="10" name="TextBox 9"/>
          <p:cNvSpPr txBox="1"/>
          <p:nvPr/>
        </p:nvSpPr>
        <p:spPr>
          <a:xfrm>
            <a:off x="11338560" y="6419088"/>
            <a:ext cx="640080" cy="320040"/>
          </a:xfrm>
          <a:prstGeom prst="rect">
            <a:avLst/>
          </a:prstGeom>
          <a:noFill/>
        </p:spPr>
        <p:txBody>
          <a:bodyPr wrap="square">
            <a:spAutoFit/>
          </a:bodyPr>
          <a:lstStyle/>
          <a:p>
            <a:pPr algn="r"/>
            <a:r>
              <a:rPr sz="900" b="0" i="0">
                <a:solidFill>
                  <a:srgbClr val="666666"/>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1170432"/>
            <a:ext cx="2011680" cy="38100"/>
          </a:xfrm>
          <a:prstGeom prst="rect">
            <a:avLst/>
          </a:prstGeom>
          <a:solidFill>
            <a:srgbClr val="2E8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11155680" cy="822960"/>
          </a:xfrm>
          <a:prstGeom prst="rect">
            <a:avLst/>
          </a:prstGeom>
          <a:noFill/>
        </p:spPr>
        <p:txBody>
          <a:bodyPr wrap="square">
            <a:spAutoFit/>
          </a:bodyPr>
          <a:lstStyle/>
          <a:p>
            <a:r>
              <a:rPr sz="3000" b="1" i="0">
                <a:solidFill>
                  <a:srgbClr val="1F3A5F"/>
                </a:solidFill>
                <a:latin typeface="Calibri"/>
              </a:rPr>
              <a:t>Integrated from the parallel scenario-sourcing effort</a:t>
            </a:r>
          </a:p>
        </p:txBody>
      </p:sp>
      <p:sp>
        <p:nvSpPr>
          <p:cNvPr id="4" name="TextBox 3"/>
          <p:cNvSpPr txBox="1"/>
          <p:nvPr/>
        </p:nvSpPr>
        <p:spPr>
          <a:xfrm>
            <a:off x="548640" y="914400"/>
            <a:ext cx="10972800" cy="320040"/>
          </a:xfrm>
          <a:prstGeom prst="rect">
            <a:avLst/>
          </a:prstGeom>
          <a:noFill/>
        </p:spPr>
        <p:txBody>
          <a:bodyPr wrap="square">
            <a:spAutoFit/>
          </a:bodyPr>
          <a:lstStyle/>
          <a:p>
            <a:r>
              <a:rPr sz="1300" b="0" i="1">
                <a:solidFill>
                  <a:srgbClr val="2E869A"/>
                </a:solidFill>
                <a:latin typeface="Calibri"/>
              </a:rPr>
              <a:t>SubT (subterranean) + Cooperative MCM (maritime) + Sustainment</a:t>
            </a:r>
          </a:p>
        </p:txBody>
      </p:sp>
      <p:sp>
        <p:nvSpPr>
          <p:cNvPr id="5" name="TextBox 4"/>
          <p:cNvSpPr txBox="1"/>
          <p:nvPr/>
        </p:nvSpPr>
        <p:spPr>
          <a:xfrm>
            <a:off x="640080" y="1600200"/>
            <a:ext cx="10972800" cy="4754880"/>
          </a:xfrm>
          <a:prstGeom prst="rect">
            <a:avLst/>
          </a:prstGeom>
          <a:noFill/>
        </p:spPr>
        <p:txBody>
          <a:bodyPr wrap="square">
            <a:spAutoFit/>
          </a:bodyPr>
          <a:lstStyle/>
          <a:p>
            <a:pPr>
              <a:spcBef>
                <a:spcPts val="200"/>
              </a:spcBef>
              <a:spcAft>
                <a:spcPts val="1300"/>
              </a:spcAft>
            </a:pPr>
            <a:r>
              <a:rPr sz="1500" b="1" i="0">
                <a:solidFill>
                  <a:srgbClr val="2E7D32"/>
                </a:solidFill>
                <a:latin typeface="Calibri"/>
              </a:rPr>
              <a:t>•  Corroborated (fresh domains):  </a:t>
            </a:r>
            <a:r>
              <a:rPr sz="1500" b="0" i="0">
                <a:solidFill>
                  <a:srgbClr val="333333"/>
                </a:solidFill>
                <a:latin typeface="Calibri"/>
              </a:rPr>
              <a:t>platform typing P1, robot-to-robot X1 (-&gt; cross-cueing), persistent tasking N2, and the sensor-report problem Y1.</a:t>
            </a:r>
          </a:p>
          <a:p>
            <a:pPr>
              <a:spcBef>
                <a:spcPts val="200"/>
              </a:spcBef>
              <a:spcAft>
                <a:spcPts val="1300"/>
              </a:spcAft>
            </a:pPr>
            <a:r>
              <a:rPr sz="1500" b="1" i="0">
                <a:solidFill>
                  <a:srgbClr val="2E869A"/>
                </a:solidFill>
                <a:latin typeface="Calibri"/>
              </a:rPr>
              <a:t>•  Best contribution (G4):  </a:t>
            </a:r>
            <a:r>
              <a:rPr sz="1500" b="0" i="0">
                <a:solidFill>
                  <a:srgbClr val="333333"/>
                </a:solidFill>
                <a:latin typeface="Calibri"/>
              </a:rPr>
              <a:t>one generic Detection Report (confidence + error-bound + false-positive) subsumes Video/CBRN/EW/GPR/naval-mine - resolves Y1 (and M3/M4); the measurement/taxonomy side (Y2/Y5) folds into Q-I.</a:t>
            </a:r>
          </a:p>
          <a:p>
            <a:pPr>
              <a:spcBef>
                <a:spcPts val="200"/>
              </a:spcBef>
              <a:spcAft>
                <a:spcPts val="1300"/>
              </a:spcAft>
            </a:pPr>
            <a:r>
              <a:rPr sz="1500" b="1" i="0">
                <a:solidFill>
                  <a:srgbClr val="C87F0A"/>
                </a:solidFill>
                <a:latin typeface="Calibri"/>
              </a:rPr>
              <a:t>•  New gaps:  </a:t>
            </a:r>
            <a:r>
              <a:rPr sz="1500" b="0" i="0">
                <a:solidFill>
                  <a:srgbClr val="333333"/>
                </a:solidFill>
                <a:latin typeface="Calibri"/>
              </a:rPr>
              <a:t>area-coverage/exploration goal (G2, search verbs exist); denied-comms mode + relay entity (G1, the relay verb COMREL exists); decoy role (G8, deception verbs exist); maritime cross-cue with a shared track (G3); environment conditions (G11); formation geometry (G12).</a:t>
            </a:r>
          </a:p>
          <a:p>
            <a:pPr>
              <a:spcBef>
                <a:spcPts val="200"/>
              </a:spcBef>
              <a:spcAft>
                <a:spcPts val="1300"/>
              </a:spcAft>
            </a:pPr>
            <a:r>
              <a:rPr sz="1500" b="0" i="0">
                <a:solidFill>
                  <a:srgbClr val="666666"/>
                </a:solidFill>
                <a:latin typeface="Calibri"/>
              </a:rPr>
              <a:t>•  Neutral-actor framing is mostly covered (smx#NEUTRL hostility value; an untyped NeutralSide individual also exists). Counter-UAS, human-machine teaming, and SAR were all extracted in the later validation pass.</a:t>
            </a:r>
          </a:p>
        </p:txBody>
      </p:sp>
      <p:sp>
        <p:nvSpPr>
          <p:cNvPr id="6" name="TextBox 5"/>
          <p:cNvSpPr txBox="1"/>
          <p:nvPr/>
        </p:nvSpPr>
        <p:spPr>
          <a:xfrm>
            <a:off x="502920" y="6126480"/>
            <a:ext cx="11155680" cy="274320"/>
          </a:xfrm>
          <a:prstGeom prst="rect">
            <a:avLst/>
          </a:prstGeom>
          <a:noFill/>
        </p:spPr>
        <p:txBody>
          <a:bodyPr wrap="square">
            <a:spAutoFit/>
          </a:bodyPr>
          <a:lstStyle/>
          <a:p>
            <a:r>
              <a:rPr sz="1000" b="1" i="1">
                <a:solidFill>
                  <a:srgbClr val="2E869A"/>
                </a:solidFill>
                <a:latin typeface="Calibri"/>
              </a:rPr>
              <a:t>Dig deeper:  </a:t>
            </a:r>
            <a:r>
              <a:rPr sz="1000" b="0" i="1">
                <a:solidFill>
                  <a:srgbClr val="666666"/>
                </a:solidFill>
                <a:latin typeface="Calibri"/>
              </a:rPr>
              <a:t>SourcedScenarios-Walk.md  -  OntologyConceptCoverage.md  -  log secs 6h / 6i (G-series)  -  7 tabs in the .xml workbooks</a:t>
            </a:r>
          </a:p>
        </p:txBody>
      </p:sp>
      <p:sp>
        <p:nvSpPr>
          <p:cNvPr id="7" name="TextBox 6"/>
          <p:cNvSpPr txBox="1"/>
          <p:nvPr/>
        </p:nvSpPr>
        <p:spPr>
          <a:xfrm>
            <a:off x="502920" y="6419088"/>
            <a:ext cx="11155680" cy="320040"/>
          </a:xfrm>
          <a:prstGeom prst="rect">
            <a:avLst/>
          </a:prstGeom>
          <a:noFill/>
        </p:spPr>
        <p:txBody>
          <a:bodyPr wrap="square">
            <a:spAutoFit/>
          </a:bodyPr>
          <a:lstStyle/>
          <a:p>
            <a:r>
              <a:rPr sz="900" b="0" i="0">
                <a:solidFill>
                  <a:srgbClr val="666666"/>
                </a:solidFill>
                <a:latin typeface="Calibri"/>
              </a:rPr>
              <a:t>C2SIM ASX Sub-group   |   Hyssos   |   July 2026</a:t>
            </a:r>
          </a:p>
        </p:txBody>
      </p:sp>
      <p:sp>
        <p:nvSpPr>
          <p:cNvPr id="8" name="TextBox 7"/>
          <p:cNvSpPr txBox="1"/>
          <p:nvPr/>
        </p:nvSpPr>
        <p:spPr>
          <a:xfrm>
            <a:off x="11338560" y="6419088"/>
            <a:ext cx="640080" cy="320040"/>
          </a:xfrm>
          <a:prstGeom prst="rect">
            <a:avLst/>
          </a:prstGeom>
          <a:noFill/>
        </p:spPr>
        <p:txBody>
          <a:bodyPr wrap="square">
            <a:spAutoFit/>
          </a:bodyPr>
          <a:lstStyle/>
          <a:p>
            <a:pPr algn="r"/>
            <a:r>
              <a:rPr sz="900" b="0" i="0">
                <a:solidFill>
                  <a:srgbClr val="666666"/>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1170432"/>
            <a:ext cx="2011680" cy="38100"/>
          </a:xfrm>
          <a:prstGeom prst="rect">
            <a:avLst/>
          </a:prstGeom>
          <a:solidFill>
            <a:srgbClr val="2E8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11155680" cy="822960"/>
          </a:xfrm>
          <a:prstGeom prst="rect">
            <a:avLst/>
          </a:prstGeom>
          <a:noFill/>
        </p:spPr>
        <p:txBody>
          <a:bodyPr wrap="square">
            <a:spAutoFit/>
          </a:bodyPr>
          <a:lstStyle/>
          <a:p>
            <a:r>
              <a:rPr sz="3000" b="1" i="0">
                <a:solidFill>
                  <a:srgbClr val="1F3A5F"/>
                </a:solidFill>
                <a:latin typeface="Calibri"/>
              </a:rPr>
              <a:t>Validation: the gaps are now evidenced</a:t>
            </a:r>
          </a:p>
        </p:txBody>
      </p:sp>
      <p:sp>
        <p:nvSpPr>
          <p:cNvPr id="4" name="TextBox 3"/>
          <p:cNvSpPr txBox="1"/>
          <p:nvPr/>
        </p:nvSpPr>
        <p:spPr>
          <a:xfrm>
            <a:off x="548640" y="914400"/>
            <a:ext cx="10972800" cy="320040"/>
          </a:xfrm>
          <a:prstGeom prst="rect">
            <a:avLst/>
          </a:prstGeom>
          <a:noFill/>
        </p:spPr>
        <p:txBody>
          <a:bodyPr wrap="square">
            <a:spAutoFit/>
          </a:bodyPr>
          <a:lstStyle/>
          <a:p>
            <a:r>
              <a:rPr sz="1300" b="0" i="1">
                <a:solidFill>
                  <a:srgbClr val="2E869A"/>
                </a:solidFill>
                <a:latin typeface="Calibri"/>
              </a:rPr>
              <a:t>Nine sourced missions closed the document holes</a:t>
            </a:r>
          </a:p>
        </p:txBody>
      </p:sp>
      <p:sp>
        <p:nvSpPr>
          <p:cNvPr id="5" name="TextBox 4"/>
          <p:cNvSpPr txBox="1"/>
          <p:nvPr/>
        </p:nvSpPr>
        <p:spPr>
          <a:xfrm>
            <a:off x="640080" y="1600200"/>
            <a:ext cx="10972800" cy="4754880"/>
          </a:xfrm>
          <a:prstGeom prst="rect">
            <a:avLst/>
          </a:prstGeom>
          <a:noFill/>
        </p:spPr>
        <p:txBody>
          <a:bodyPr wrap="square">
            <a:spAutoFit/>
          </a:bodyPr>
          <a:lstStyle/>
          <a:p>
            <a:pPr>
              <a:spcBef>
                <a:spcPts val="200"/>
              </a:spcBef>
              <a:spcAft>
                <a:spcPts val="1200"/>
              </a:spcAft>
            </a:pPr>
            <a:r>
              <a:rPr sz="1450" b="1" i="0">
                <a:solidFill>
                  <a:srgbClr val="2E7D32"/>
                </a:solidFill>
                <a:latin typeface="Calibri"/>
              </a:rPr>
              <a:t>•  Now grounded by a real mission:  </a:t>
            </a:r>
            <a:r>
              <a:rPr sz="1450" b="0" i="0">
                <a:solidFill>
                  <a:srgbClr val="333333"/>
                </a:solidFill>
                <a:latin typeface="Calibri"/>
              </a:rPr>
              <a:t>explainability (Agrawal DroneResponse), CBRN (UGV-CBRN), EW (UAV emitter geolocation), persistence (MDARS) - all previously asserted-but-untested.</a:t>
            </a:r>
          </a:p>
          <a:p>
            <a:pPr>
              <a:spcBef>
                <a:spcPts val="200"/>
              </a:spcBef>
              <a:spcAft>
                <a:spcPts val="1200"/>
              </a:spcAft>
            </a:pPr>
            <a:r>
              <a:rPr sz="1450" b="1" i="0">
                <a:solidFill>
                  <a:srgbClr val="2E869A"/>
                </a:solidFill>
                <a:latin typeface="Calibri"/>
              </a:rPr>
              <a:t>•  Prior art, not invention (Q-Q):  </a:t>
            </a:r>
            <a:r>
              <a:rPr sz="1450" b="0" i="0">
                <a:solidFill>
                  <a:srgbClr val="333333"/>
                </a:solidFill>
                <a:latin typeface="Calibri"/>
              </a:rPr>
              <a:t>the measurement report flagged as missing already existed in C2SIM's BML lineage - WhoMeasuredType {value, unit, phenomenon, sensor, time, place}. Re-adopt it.</a:t>
            </a:r>
          </a:p>
          <a:p>
            <a:pPr>
              <a:spcBef>
                <a:spcPts val="200"/>
              </a:spcBef>
              <a:spcAft>
                <a:spcPts val="1200"/>
              </a:spcAft>
            </a:pPr>
            <a:r>
              <a:rPr sz="1450" b="1" i="0">
                <a:solidFill>
                  <a:srgbClr val="C87F0A"/>
                </a:solidFill>
                <a:latin typeface="Calibri"/>
              </a:rPr>
              <a:t>•  Concrete schemas:  </a:t>
            </a:r>
            <a:r>
              <a:rPr sz="1450" b="0" i="0">
                <a:solidFill>
                  <a:srgbClr val="333333"/>
                </a:solidFill>
                <a:latin typeface="Calibri"/>
              </a:rPr>
              <a:t>explanation report {event, action, reasoning, change, confidence} (Q-H); area map w/ per-cell value+variance (Q-M/Q-Q); on-the-loop verbs configure/suspend/ack/override (Q-K).</a:t>
            </a:r>
          </a:p>
          <a:p>
            <a:pPr>
              <a:spcBef>
                <a:spcPts val="200"/>
              </a:spcBef>
              <a:spcAft>
                <a:spcPts val="1200"/>
              </a:spcAft>
            </a:pPr>
            <a:r>
              <a:rPr sz="1450" b="0" i="0">
                <a:solidFill>
                  <a:srgbClr val="666666"/>
                </a:solidFill>
                <a:latin typeface="Calibri"/>
              </a:rPr>
              <a:t>•  New: capability self-report (G13/Q-V) and collective-task decomposition + report aggregation (Z1), from BML MUM-T tasking.</a:t>
            </a:r>
          </a:p>
        </p:txBody>
      </p:sp>
      <p:sp>
        <p:nvSpPr>
          <p:cNvPr id="6" name="TextBox 5"/>
          <p:cNvSpPr txBox="1"/>
          <p:nvPr/>
        </p:nvSpPr>
        <p:spPr>
          <a:xfrm>
            <a:off x="502920" y="6126480"/>
            <a:ext cx="11155680" cy="274320"/>
          </a:xfrm>
          <a:prstGeom prst="rect">
            <a:avLst/>
          </a:prstGeom>
          <a:noFill/>
        </p:spPr>
        <p:txBody>
          <a:bodyPr wrap="square">
            <a:spAutoFit/>
          </a:bodyPr>
          <a:lstStyle/>
          <a:p>
            <a:r>
              <a:rPr sz="1000" b="1" i="1">
                <a:solidFill>
                  <a:srgbClr val="2E869A"/>
                </a:solidFill>
                <a:latin typeface="Calibri"/>
              </a:rPr>
              <a:t>Dig deeper:  </a:t>
            </a:r>
            <a:r>
              <a:rPr sz="1000" b="0" i="1">
                <a:solidFill>
                  <a:srgbClr val="666666"/>
                </a:solidFill>
                <a:latin typeface="Calibri"/>
              </a:rPr>
              <a:t>ValidationEvidence-Walk.md  -  Documents-Needed/Found.md  -  log sec 6j  -  the 12 records in V2Extractions/</a:t>
            </a:r>
          </a:p>
        </p:txBody>
      </p:sp>
      <p:sp>
        <p:nvSpPr>
          <p:cNvPr id="7" name="TextBox 6"/>
          <p:cNvSpPr txBox="1"/>
          <p:nvPr/>
        </p:nvSpPr>
        <p:spPr>
          <a:xfrm>
            <a:off x="502920" y="6419088"/>
            <a:ext cx="11155680" cy="320040"/>
          </a:xfrm>
          <a:prstGeom prst="rect">
            <a:avLst/>
          </a:prstGeom>
          <a:noFill/>
        </p:spPr>
        <p:txBody>
          <a:bodyPr wrap="square">
            <a:spAutoFit/>
          </a:bodyPr>
          <a:lstStyle/>
          <a:p>
            <a:r>
              <a:rPr sz="900" b="0" i="0">
                <a:solidFill>
                  <a:srgbClr val="666666"/>
                </a:solidFill>
                <a:latin typeface="Calibri"/>
              </a:rPr>
              <a:t>C2SIM ASX Sub-group   |   Hyssos   |   July 2026</a:t>
            </a:r>
          </a:p>
        </p:txBody>
      </p:sp>
      <p:sp>
        <p:nvSpPr>
          <p:cNvPr id="8" name="TextBox 7"/>
          <p:cNvSpPr txBox="1"/>
          <p:nvPr/>
        </p:nvSpPr>
        <p:spPr>
          <a:xfrm>
            <a:off x="11338560" y="6419088"/>
            <a:ext cx="640080" cy="320040"/>
          </a:xfrm>
          <a:prstGeom prst="rect">
            <a:avLst/>
          </a:prstGeom>
          <a:noFill/>
        </p:spPr>
        <p:txBody>
          <a:bodyPr wrap="square">
            <a:spAutoFit/>
          </a:bodyPr>
          <a:lstStyle/>
          <a:p>
            <a:pPr algn="r"/>
            <a:r>
              <a:rPr sz="900" b="0" i="0">
                <a:solidFill>
                  <a:srgbClr val="666666"/>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1170432"/>
            <a:ext cx="2011680" cy="38100"/>
          </a:xfrm>
          <a:prstGeom prst="rect">
            <a:avLst/>
          </a:prstGeom>
          <a:solidFill>
            <a:srgbClr val="2E8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11155680" cy="822960"/>
          </a:xfrm>
          <a:prstGeom prst="rect">
            <a:avLst/>
          </a:prstGeom>
          <a:noFill/>
        </p:spPr>
        <p:txBody>
          <a:bodyPr wrap="square">
            <a:spAutoFit/>
          </a:bodyPr>
          <a:lstStyle/>
          <a:p>
            <a:r>
              <a:rPr sz="3000" b="1" i="0">
                <a:solidFill>
                  <a:srgbClr val="1F3A5F"/>
                </a:solidFill>
                <a:latin typeface="Calibri"/>
              </a:rPr>
              <a:t>Where the OWL is now (v0.0.3)</a:t>
            </a:r>
          </a:p>
        </p:txBody>
      </p:sp>
      <p:sp>
        <p:nvSpPr>
          <p:cNvPr id="4" name="TextBox 3"/>
          <p:cNvSpPr txBox="1"/>
          <p:nvPr/>
        </p:nvSpPr>
        <p:spPr>
          <a:xfrm>
            <a:off x="548640" y="914400"/>
            <a:ext cx="10972800" cy="320040"/>
          </a:xfrm>
          <a:prstGeom prst="rect">
            <a:avLst/>
          </a:prstGeom>
          <a:noFill/>
        </p:spPr>
        <p:txBody>
          <a:bodyPr wrap="square">
            <a:spAutoFit/>
          </a:bodyPr>
          <a:lstStyle/>
          <a:p>
            <a:r>
              <a:rPr sz="1300" b="0" i="1">
                <a:solidFill>
                  <a:srgbClr val="2E869A"/>
                </a:solidFill>
                <a:latin typeface="Calibri"/>
              </a:rPr>
              <a:t>Michael's update - the model is moving</a:t>
            </a:r>
          </a:p>
        </p:txBody>
      </p:sp>
      <p:sp>
        <p:nvSpPr>
          <p:cNvPr id="5" name="TextBox 4"/>
          <p:cNvSpPr txBox="1"/>
          <p:nvPr/>
        </p:nvSpPr>
        <p:spPr>
          <a:xfrm>
            <a:off x="640080" y="1645920"/>
            <a:ext cx="10972800" cy="4709160"/>
          </a:xfrm>
          <a:prstGeom prst="rect">
            <a:avLst/>
          </a:prstGeom>
          <a:noFill/>
        </p:spPr>
        <p:txBody>
          <a:bodyPr wrap="square">
            <a:spAutoFit/>
          </a:bodyPr>
          <a:lstStyle/>
          <a:p>
            <a:pPr>
              <a:spcBef>
                <a:spcPts val="200"/>
              </a:spcBef>
              <a:spcAft>
                <a:spcPts val="1100"/>
              </a:spcAft>
            </a:pPr>
            <a:r>
              <a:rPr sz="1400" b="1" i="0">
                <a:solidFill>
                  <a:srgbClr val="2E7D32"/>
                </a:solidFill>
                <a:latin typeface="Calibri"/>
              </a:rPr>
              <a:t>•  Started (good):  </a:t>
            </a:r>
            <a:r>
              <a:rPr sz="1400" b="0" i="0">
                <a:solidFill>
                  <a:srgbClr val="333333"/>
                </a:solidFill>
                <a:latin typeface="Calibri"/>
              </a:rPr>
              <a:t>v0.0.3 begins the attribute layer (first datatype properties - v0.0.1 had none; plus further object properties) and folds the Video Detection Report into the OWL (MediaReference, MediaTypeCode, SensorObservation, VideoDetectionReportContent) + an AutonomyLevelCode model.</a:t>
            </a:r>
          </a:p>
          <a:p>
            <a:pPr>
              <a:spcBef>
                <a:spcPts val="200"/>
              </a:spcBef>
              <a:spcAft>
                <a:spcPts val="1100"/>
              </a:spcAft>
            </a:pPr>
            <a:r>
              <a:rPr sz="1400" b="1" i="0">
                <a:solidFill>
                  <a:srgbClr val="C87F0A"/>
                </a:solidFill>
                <a:latin typeface="Calibri"/>
              </a:rPr>
              <a:t>•  Brings a decision to a head:  </a:t>
            </a:r>
            <a:r>
              <a:rPr sz="1400" b="0" i="0">
                <a:solidFill>
                  <a:srgbClr val="333333"/>
                </a:solidFill>
                <a:latin typeface="Calibri"/>
              </a:rPr>
              <a:t>P1 is now in the model, not yet settled - v0.0.3 declares both UAV/UGV (under Robot) and UnmannedAerial/Ground/Maritime/UnderwaterVehicle (under SMX Vehicle), so the group still picks one; the maritime ones sit under Vehicle rather than SurfaceVessel/SubsurfaceVessel.</a:t>
            </a:r>
          </a:p>
          <a:p>
            <a:pPr>
              <a:spcBef>
                <a:spcPts val="200"/>
              </a:spcBef>
              <a:spcAft>
                <a:spcPts val="1100"/>
              </a:spcAft>
            </a:pPr>
            <a:r>
              <a:rPr sz="1400" b="1" i="0">
                <a:solidFill>
                  <a:srgbClr val="2E869A"/>
                </a:solidFill>
                <a:latin typeface="Calibri"/>
              </a:rPr>
              <a:t>•  Still to define:  </a:t>
            </a:r>
            <a:r>
              <a:rPr sz="1400" b="0" i="0">
                <a:solidFill>
                  <a:srgbClr val="333333"/>
                </a:solidFill>
                <a:latin typeface="Calibri"/>
              </a:rPr>
              <a:t>the broader attribute set, a taskable collective (Swarm was removed; CollecticeRoboticSystem still non-actor), the generic Detection Report, and the rationale / robot-to-robot / area content - plus the two typos.</a:t>
            </a:r>
          </a:p>
          <a:p>
            <a:pPr>
              <a:spcBef>
                <a:spcPts val="200"/>
              </a:spcBef>
              <a:spcAft>
                <a:spcPts val="1100"/>
              </a:spcAft>
            </a:pPr>
            <a:r>
              <a:rPr sz="1400" b="1" i="0">
                <a:solidFill>
                  <a:srgbClr val="C87F0A"/>
                </a:solidFill>
                <a:latin typeface="Calibri"/>
              </a:rPr>
              <a:t>•  Coordination notes:  </a:t>
            </a:r>
            <a:r>
              <a:rPr sz="1400" b="0" i="0">
                <a:solidFill>
                  <a:srgbClr val="333333"/>
                </a:solidFill>
                <a:latin typeface="Calibri"/>
              </a:rPr>
              <a:t>the branch also adds owl:imports smx/lox to base C2SIM.rdf - a circular import (C2SIM &lt;-&gt; smx) worth a deliberate decision; and AutonomyLevelCode is not yet wired as the range of hasAutonomousRoleCode (still generic Code).</a:t>
            </a:r>
          </a:p>
        </p:txBody>
      </p:sp>
      <p:sp>
        <p:nvSpPr>
          <p:cNvPr id="6" name="TextBox 5"/>
          <p:cNvSpPr txBox="1"/>
          <p:nvPr/>
        </p:nvSpPr>
        <p:spPr>
          <a:xfrm>
            <a:off x="502920" y="6126480"/>
            <a:ext cx="11155680" cy="274320"/>
          </a:xfrm>
          <a:prstGeom prst="rect">
            <a:avLst/>
          </a:prstGeom>
          <a:noFill/>
        </p:spPr>
        <p:txBody>
          <a:bodyPr wrap="square">
            <a:spAutoFit/>
          </a:bodyPr>
          <a:lstStyle/>
          <a:p>
            <a:r>
              <a:rPr sz="1000" b="1" i="1">
                <a:solidFill>
                  <a:srgbClr val="2E869A"/>
                </a:solidFill>
                <a:latin typeface="Calibri"/>
              </a:rPr>
              <a:t>Dig deeper:  </a:t>
            </a:r>
            <a:r>
              <a:rPr sz="1000" b="0" i="1">
                <a:solidFill>
                  <a:srgbClr val="666666"/>
                </a:solidFill>
                <a:latin typeface="Calibri"/>
              </a:rPr>
              <a:t>log sec 9 (full reconciliation, finding by finding)  -  Ontology/C2SIM_ASX-v003.rdf on branch michael_d</a:t>
            </a:r>
          </a:p>
        </p:txBody>
      </p:sp>
      <p:sp>
        <p:nvSpPr>
          <p:cNvPr id="7" name="TextBox 6"/>
          <p:cNvSpPr txBox="1"/>
          <p:nvPr/>
        </p:nvSpPr>
        <p:spPr>
          <a:xfrm>
            <a:off x="502920" y="6419088"/>
            <a:ext cx="11155680" cy="320040"/>
          </a:xfrm>
          <a:prstGeom prst="rect">
            <a:avLst/>
          </a:prstGeom>
          <a:noFill/>
        </p:spPr>
        <p:txBody>
          <a:bodyPr wrap="square">
            <a:spAutoFit/>
          </a:bodyPr>
          <a:lstStyle/>
          <a:p>
            <a:r>
              <a:rPr sz="900" b="0" i="0">
                <a:solidFill>
                  <a:srgbClr val="666666"/>
                </a:solidFill>
                <a:latin typeface="Calibri"/>
              </a:rPr>
              <a:t>C2SIM ASX Sub-group   |   Hyssos   |   July 2026</a:t>
            </a:r>
          </a:p>
        </p:txBody>
      </p:sp>
      <p:sp>
        <p:nvSpPr>
          <p:cNvPr id="8" name="TextBox 7"/>
          <p:cNvSpPr txBox="1"/>
          <p:nvPr/>
        </p:nvSpPr>
        <p:spPr>
          <a:xfrm>
            <a:off x="11338560" y="6419088"/>
            <a:ext cx="640080" cy="320040"/>
          </a:xfrm>
          <a:prstGeom prst="rect">
            <a:avLst/>
          </a:prstGeom>
          <a:noFill/>
        </p:spPr>
        <p:txBody>
          <a:bodyPr wrap="square">
            <a:spAutoFit/>
          </a:bodyPr>
          <a:lstStyle/>
          <a:p>
            <a:pPr algn="r"/>
            <a:r>
              <a:rPr sz="900" b="0" i="0">
                <a:solidFill>
                  <a:srgbClr val="666666"/>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1170432"/>
            <a:ext cx="2011680" cy="38100"/>
          </a:xfrm>
          <a:prstGeom prst="rect">
            <a:avLst/>
          </a:prstGeom>
          <a:solidFill>
            <a:srgbClr val="2E8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11155680" cy="822960"/>
          </a:xfrm>
          <a:prstGeom prst="rect">
            <a:avLst/>
          </a:prstGeom>
          <a:noFill/>
        </p:spPr>
        <p:txBody>
          <a:bodyPr wrap="square">
            <a:spAutoFit/>
          </a:bodyPr>
          <a:lstStyle/>
          <a:p>
            <a:r>
              <a:rPr sz="3000" b="1" i="0">
                <a:solidFill>
                  <a:srgbClr val="1F3A5F"/>
                </a:solidFill>
                <a:latin typeface="Calibri"/>
              </a:rPr>
              <a:t>Decisions (1/3): model structure</a:t>
            </a:r>
          </a:p>
        </p:txBody>
      </p:sp>
      <p:sp>
        <p:nvSpPr>
          <p:cNvPr id="4" name="TextBox 3"/>
          <p:cNvSpPr txBox="1"/>
          <p:nvPr/>
        </p:nvSpPr>
        <p:spPr>
          <a:xfrm>
            <a:off x="548640" y="914400"/>
            <a:ext cx="10972800" cy="320040"/>
          </a:xfrm>
          <a:prstGeom prst="rect">
            <a:avLst/>
          </a:prstGeom>
          <a:noFill/>
        </p:spPr>
        <p:txBody>
          <a:bodyPr wrap="square">
            <a:spAutoFit/>
          </a:bodyPr>
          <a:lstStyle/>
          <a:p>
            <a:r>
              <a:rPr sz="1300" b="0" i="1">
                <a:solidFill>
                  <a:srgbClr val="2E869A"/>
                </a:solidFill>
                <a:latin typeface="Calibri"/>
              </a:rPr>
              <a:t>Full register - all 22, with what each resolves: log section 7</a:t>
            </a:r>
          </a:p>
        </p:txBody>
      </p:sp>
      <p:sp>
        <p:nvSpPr>
          <p:cNvPr id="5" name="TextBox 4"/>
          <p:cNvSpPr txBox="1"/>
          <p:nvPr/>
        </p:nvSpPr>
        <p:spPr>
          <a:xfrm>
            <a:off x="640080" y="1737360"/>
            <a:ext cx="10972800" cy="4617720"/>
          </a:xfrm>
          <a:prstGeom prst="rect">
            <a:avLst/>
          </a:prstGeom>
          <a:noFill/>
        </p:spPr>
        <p:txBody>
          <a:bodyPr wrap="square">
            <a:spAutoFit/>
          </a:bodyPr>
          <a:lstStyle/>
          <a:p>
            <a:pPr>
              <a:spcBef>
                <a:spcPts val="200"/>
              </a:spcBef>
              <a:spcAft>
                <a:spcPts val="1800"/>
              </a:spcAft>
            </a:pPr>
            <a:r>
              <a:rPr sz="1800" b="1" i="0">
                <a:solidFill>
                  <a:srgbClr val="2E869A"/>
                </a:solidFill>
                <a:latin typeface="Calibri"/>
              </a:rPr>
              <a:t>•  Q-A  </a:t>
            </a:r>
            <a:r>
              <a:rPr sz="1800" b="0" i="0">
                <a:solidFill>
                  <a:srgbClr val="333333"/>
                </a:solidFill>
                <a:latin typeface="Calibri"/>
              </a:rPr>
              <a:t>UAV/robot typing: a role on the existing Platform tree, or a parallel Robot tree?</a:t>
            </a:r>
          </a:p>
          <a:p>
            <a:pPr>
              <a:spcBef>
                <a:spcPts val="200"/>
              </a:spcBef>
              <a:spcAft>
                <a:spcPts val="1800"/>
              </a:spcAft>
            </a:pPr>
            <a:r>
              <a:rPr sz="1800" b="1" i="0">
                <a:solidFill>
                  <a:srgbClr val="2E869A"/>
                </a:solidFill>
                <a:latin typeface="Calibri"/>
              </a:rPr>
              <a:t>•  Q-B  </a:t>
            </a:r>
            <a:r>
              <a:rPr sz="1800" b="0" i="0">
                <a:solidFill>
                  <a:srgbClr val="333333"/>
                </a:solidFill>
                <a:latin typeface="Calibri"/>
              </a:rPr>
              <a:t>Swarm: derive from CollectiveEntity (ActorEntity) so it can be tasked.</a:t>
            </a:r>
          </a:p>
          <a:p>
            <a:pPr>
              <a:spcBef>
                <a:spcPts val="200"/>
              </a:spcBef>
              <a:spcAft>
                <a:spcPts val="1800"/>
              </a:spcAft>
            </a:pPr>
            <a:r>
              <a:rPr sz="1800" b="1" i="0">
                <a:solidFill>
                  <a:srgbClr val="2E869A"/>
                </a:solidFill>
                <a:latin typeface="Calibri"/>
              </a:rPr>
              <a:t>•  Q-C  </a:t>
            </a:r>
            <a:r>
              <a:rPr sz="1800" b="0" i="0">
                <a:solidFill>
                  <a:srgbClr val="333333"/>
                </a:solidFill>
                <a:latin typeface="Calibri"/>
              </a:rPr>
              <a:t>Sensor: entity, class, or attribute - choose one model and apply it everywhere.</a:t>
            </a:r>
          </a:p>
          <a:p>
            <a:pPr>
              <a:spcBef>
                <a:spcPts val="200"/>
              </a:spcBef>
              <a:spcAft>
                <a:spcPts val="1800"/>
              </a:spcAft>
            </a:pPr>
            <a:r>
              <a:rPr sz="1800" b="1" i="0">
                <a:solidFill>
                  <a:srgbClr val="2E869A"/>
                </a:solidFill>
                <a:latin typeface="Calibri"/>
              </a:rPr>
              <a:t>•  Q-D  </a:t>
            </a:r>
            <a:r>
              <a:rPr sz="1800" b="0" i="0">
                <a:solidFill>
                  <a:srgbClr val="333333"/>
                </a:solidFill>
                <a:latin typeface="Calibri"/>
              </a:rPr>
              <a:t>Autonomy: choose one normative vocabulary.</a:t>
            </a:r>
          </a:p>
        </p:txBody>
      </p:sp>
      <p:sp>
        <p:nvSpPr>
          <p:cNvPr id="6" name="TextBox 5"/>
          <p:cNvSpPr txBox="1"/>
          <p:nvPr/>
        </p:nvSpPr>
        <p:spPr>
          <a:xfrm>
            <a:off x="502920" y="6419088"/>
            <a:ext cx="11155680" cy="320040"/>
          </a:xfrm>
          <a:prstGeom prst="rect">
            <a:avLst/>
          </a:prstGeom>
          <a:noFill/>
        </p:spPr>
        <p:txBody>
          <a:bodyPr wrap="square">
            <a:spAutoFit/>
          </a:bodyPr>
          <a:lstStyle/>
          <a:p>
            <a:r>
              <a:rPr sz="900" b="0" i="0">
                <a:solidFill>
                  <a:srgbClr val="666666"/>
                </a:solidFill>
                <a:latin typeface="Calibri"/>
              </a:rPr>
              <a:t>C2SIM ASX Sub-group   |   Hyssos   |   July 2026</a:t>
            </a:r>
          </a:p>
        </p:txBody>
      </p:sp>
      <p:sp>
        <p:nvSpPr>
          <p:cNvPr id="7" name="TextBox 6"/>
          <p:cNvSpPr txBox="1"/>
          <p:nvPr/>
        </p:nvSpPr>
        <p:spPr>
          <a:xfrm>
            <a:off x="11338560" y="6419088"/>
            <a:ext cx="640080" cy="320040"/>
          </a:xfrm>
          <a:prstGeom prst="rect">
            <a:avLst/>
          </a:prstGeom>
          <a:noFill/>
        </p:spPr>
        <p:txBody>
          <a:bodyPr wrap="square">
            <a:spAutoFit/>
          </a:bodyPr>
          <a:lstStyle/>
          <a:p>
            <a:pPr algn="r"/>
            <a:r>
              <a:rPr sz="900" b="0" i="0">
                <a:solidFill>
                  <a:srgbClr val="666666"/>
                </a:solidFill>
                <a:latin typeface="Calibr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1170432"/>
            <a:ext cx="2011680" cy="38100"/>
          </a:xfrm>
          <a:prstGeom prst="rect">
            <a:avLst/>
          </a:prstGeom>
          <a:solidFill>
            <a:srgbClr val="2E8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11155680" cy="822960"/>
          </a:xfrm>
          <a:prstGeom prst="rect">
            <a:avLst/>
          </a:prstGeom>
          <a:noFill/>
        </p:spPr>
        <p:txBody>
          <a:bodyPr wrap="square">
            <a:spAutoFit/>
          </a:bodyPr>
          <a:lstStyle/>
          <a:p>
            <a:r>
              <a:rPr sz="3000" b="1" i="0">
                <a:solidFill>
                  <a:srgbClr val="1F3A5F"/>
                </a:solidFill>
                <a:latin typeface="Calibri"/>
              </a:rPr>
              <a:t>Decisions (2/3): new content types needed</a:t>
            </a:r>
          </a:p>
        </p:txBody>
      </p:sp>
      <p:sp>
        <p:nvSpPr>
          <p:cNvPr id="4" name="TextBox 3"/>
          <p:cNvSpPr txBox="1"/>
          <p:nvPr/>
        </p:nvSpPr>
        <p:spPr>
          <a:xfrm>
            <a:off x="548640" y="914400"/>
            <a:ext cx="10972800" cy="320040"/>
          </a:xfrm>
          <a:prstGeom prst="rect">
            <a:avLst/>
          </a:prstGeom>
          <a:noFill/>
        </p:spPr>
        <p:txBody>
          <a:bodyPr wrap="square">
            <a:spAutoFit/>
          </a:bodyPr>
          <a:lstStyle/>
          <a:p>
            <a:r>
              <a:rPr sz="1300" b="0" i="1">
                <a:solidFill>
                  <a:srgbClr val="2E869A"/>
                </a:solidFill>
                <a:latin typeface="Calibri"/>
              </a:rPr>
              <a:t>continued - full text + grounding in log section 7</a:t>
            </a:r>
          </a:p>
        </p:txBody>
      </p:sp>
      <p:sp>
        <p:nvSpPr>
          <p:cNvPr id="5" name="TextBox 4"/>
          <p:cNvSpPr txBox="1"/>
          <p:nvPr/>
        </p:nvSpPr>
        <p:spPr>
          <a:xfrm>
            <a:off x="640080" y="1463040"/>
            <a:ext cx="10972800" cy="4754880"/>
          </a:xfrm>
          <a:prstGeom prst="rect">
            <a:avLst/>
          </a:prstGeom>
          <a:noFill/>
        </p:spPr>
        <p:txBody>
          <a:bodyPr wrap="square">
            <a:spAutoFit/>
          </a:bodyPr>
          <a:lstStyle/>
          <a:p>
            <a:pPr>
              <a:spcBef>
                <a:spcPts val="200"/>
              </a:spcBef>
              <a:spcAft>
                <a:spcPts val="800"/>
              </a:spcAft>
            </a:pPr>
            <a:r>
              <a:rPr sz="1350" b="1" i="0">
                <a:solidFill>
                  <a:srgbClr val="2E869A"/>
                </a:solidFill>
                <a:latin typeface="Calibri"/>
              </a:rPr>
              <a:t>•  Q-E  </a:t>
            </a:r>
            <a:r>
              <a:rPr sz="1350" b="0" i="0">
                <a:solidFill>
                  <a:srgbClr val="333333"/>
                </a:solidFill>
                <a:latin typeface="Calibri"/>
              </a:rPr>
              <a:t>Inline entity definition for newly-observed entities in reports.</a:t>
            </a:r>
          </a:p>
          <a:p>
            <a:pPr>
              <a:spcBef>
                <a:spcPts val="200"/>
              </a:spcBef>
              <a:spcAft>
                <a:spcPts val="800"/>
              </a:spcAft>
            </a:pPr>
            <a:r>
              <a:rPr sz="1350" b="1" i="0">
                <a:solidFill>
                  <a:srgbClr val="2E869A"/>
                </a:solidFill>
                <a:latin typeface="Calibri"/>
              </a:rPr>
              <a:t>•  Q-F  </a:t>
            </a:r>
            <a:r>
              <a:rPr sz="1350" b="0" i="0">
                <a:solidFill>
                  <a:srgbClr val="333333"/>
                </a:solidFill>
                <a:latin typeface="Calibri"/>
              </a:rPr>
              <a:t>MediaReference identity; separate media-format from sensor-modality.</a:t>
            </a:r>
          </a:p>
          <a:p>
            <a:pPr>
              <a:spcBef>
                <a:spcPts val="200"/>
              </a:spcBef>
              <a:spcAft>
                <a:spcPts val="800"/>
              </a:spcAft>
            </a:pPr>
            <a:r>
              <a:rPr sz="1350" b="1" i="0">
                <a:solidFill>
                  <a:srgbClr val="2E869A"/>
                </a:solidFill>
                <a:latin typeface="Calibri"/>
              </a:rPr>
              <a:t>•  Q-G  </a:t>
            </a:r>
            <a:r>
              <a:rPr sz="1350" b="0" i="0">
                <a:solidFill>
                  <a:srgbClr val="333333"/>
                </a:solidFill>
                <a:latin typeface="Calibri"/>
              </a:rPr>
              <a:t>Robot-to-robot coordination content type + issuing authority (CASEVAC).</a:t>
            </a:r>
          </a:p>
          <a:p>
            <a:pPr>
              <a:spcBef>
                <a:spcPts val="200"/>
              </a:spcBef>
              <a:spcAft>
                <a:spcPts val="800"/>
              </a:spcAft>
            </a:pPr>
            <a:r>
              <a:rPr sz="1350" b="1" i="0">
                <a:solidFill>
                  <a:srgbClr val="2E869A"/>
                </a:solidFill>
                <a:latin typeface="Calibri"/>
              </a:rPr>
              <a:t>•  Q-H  </a:t>
            </a:r>
            <a:r>
              <a:rPr sz="1350" b="0" i="0">
                <a:solidFill>
                  <a:srgbClr val="333333"/>
                </a:solidFill>
                <a:latin typeface="Calibri"/>
              </a:rPr>
              <a:t>Rationale/explanation ReportContent - report why, not just what (CASEVAC).</a:t>
            </a:r>
          </a:p>
          <a:p>
            <a:pPr>
              <a:spcBef>
                <a:spcPts val="200"/>
              </a:spcBef>
              <a:spcAft>
                <a:spcPts val="800"/>
              </a:spcAft>
            </a:pPr>
            <a:r>
              <a:rPr sz="1350" b="1" i="0">
                <a:solidFill>
                  <a:srgbClr val="2E869A"/>
                </a:solidFill>
                <a:latin typeface="Calibri"/>
              </a:rPr>
              <a:t>•  Q-I  </a:t>
            </a:r>
            <a:r>
              <a:rPr sz="1350" b="0" i="0">
                <a:solidFill>
                  <a:srgbClr val="333333"/>
                </a:solidFill>
                <a:latin typeface="Calibri"/>
              </a:rPr>
              <a:t>Media-independent sensor-reading (value+unit+modality) + full SensorType taxonomy.</a:t>
            </a:r>
          </a:p>
          <a:p>
            <a:pPr>
              <a:spcBef>
                <a:spcPts val="200"/>
              </a:spcBef>
              <a:spcAft>
                <a:spcPts val="800"/>
              </a:spcAft>
            </a:pPr>
            <a:r>
              <a:rPr sz="1350" b="1" i="0">
                <a:solidFill>
                  <a:srgbClr val="2E869A"/>
                </a:solidFill>
                <a:latin typeface="Calibri"/>
              </a:rPr>
              <a:t>•  Q-J  </a:t>
            </a:r>
            <a:r>
              <a:rPr sz="1350" b="0" i="0">
                <a:solidFill>
                  <a:srgbClr val="333333"/>
                </a:solidFill>
                <a:latin typeface="Calibri"/>
              </a:rPr>
              <a:t>Swarm residuals: network params, leader role, aggregation, member lifecycle.</a:t>
            </a:r>
          </a:p>
          <a:p>
            <a:pPr>
              <a:spcBef>
                <a:spcPts val="200"/>
              </a:spcBef>
              <a:spcAft>
                <a:spcPts val="800"/>
              </a:spcAft>
            </a:pPr>
            <a:r>
              <a:rPr sz="1350" b="1" i="0">
                <a:solidFill>
                  <a:srgbClr val="2E869A"/>
                </a:solidFill>
                <a:latin typeface="Calibri"/>
              </a:rPr>
              <a:t>•  Q-K  </a:t>
            </a:r>
            <a:r>
              <a:rPr sz="1350" b="0" i="0">
                <a:solidFill>
                  <a:srgbClr val="333333"/>
                </a:solidFill>
                <a:latin typeface="Calibri"/>
              </a:rPr>
              <a:t>Engagement authority as a function of autonomy level (Fire Support).</a:t>
            </a:r>
          </a:p>
          <a:p>
            <a:pPr>
              <a:spcBef>
                <a:spcPts val="200"/>
              </a:spcBef>
              <a:spcAft>
                <a:spcPts val="800"/>
              </a:spcAft>
            </a:pPr>
            <a:r>
              <a:rPr sz="1350" b="1" i="0">
                <a:solidFill>
                  <a:srgbClr val="2E869A"/>
                </a:solidFill>
                <a:latin typeface="Calibri"/>
              </a:rPr>
              <a:t>•  Q-L  </a:t>
            </a:r>
            <a:r>
              <a:rPr sz="1350" b="0" i="0">
                <a:solidFill>
                  <a:srgbClr val="333333"/>
                </a:solidFill>
                <a:latin typeface="Calibri"/>
              </a:rPr>
              <a:t>Typed payload/effector/weapon (the action verbs already exist in LOX; only tow/salvage is a residual).</a:t>
            </a:r>
          </a:p>
          <a:p>
            <a:pPr>
              <a:spcBef>
                <a:spcPts val="200"/>
              </a:spcBef>
              <a:spcAft>
                <a:spcPts val="800"/>
              </a:spcAft>
            </a:pPr>
            <a:r>
              <a:rPr sz="1350" b="1" i="0">
                <a:solidFill>
                  <a:srgbClr val="2E869A"/>
                </a:solidFill>
                <a:latin typeface="Calibri"/>
              </a:rPr>
              <a:t>•  Q-M  </a:t>
            </a:r>
            <a:r>
              <a:rPr sz="1350" b="0" i="0">
                <a:solidFill>
                  <a:srgbClr val="333333"/>
                </a:solidFill>
                <a:latin typeface="Calibri"/>
              </a:rPr>
              <a:t>Let an area be the subject of a task/report (hasAffectedArea + area-state).</a:t>
            </a:r>
          </a:p>
        </p:txBody>
      </p:sp>
      <p:sp>
        <p:nvSpPr>
          <p:cNvPr id="6" name="TextBox 5"/>
          <p:cNvSpPr txBox="1"/>
          <p:nvPr/>
        </p:nvSpPr>
        <p:spPr>
          <a:xfrm>
            <a:off x="502920" y="6419088"/>
            <a:ext cx="11155680" cy="320040"/>
          </a:xfrm>
          <a:prstGeom prst="rect">
            <a:avLst/>
          </a:prstGeom>
          <a:noFill/>
        </p:spPr>
        <p:txBody>
          <a:bodyPr wrap="square">
            <a:spAutoFit/>
          </a:bodyPr>
          <a:lstStyle/>
          <a:p>
            <a:r>
              <a:rPr sz="900" b="0" i="0">
                <a:solidFill>
                  <a:srgbClr val="666666"/>
                </a:solidFill>
                <a:latin typeface="Calibri"/>
              </a:rPr>
              <a:t>C2SIM ASX Sub-group   |   Hyssos   |   July 2026</a:t>
            </a:r>
          </a:p>
        </p:txBody>
      </p:sp>
      <p:sp>
        <p:nvSpPr>
          <p:cNvPr id="7" name="TextBox 6"/>
          <p:cNvSpPr txBox="1"/>
          <p:nvPr/>
        </p:nvSpPr>
        <p:spPr>
          <a:xfrm>
            <a:off x="11338560" y="6419088"/>
            <a:ext cx="640080" cy="320040"/>
          </a:xfrm>
          <a:prstGeom prst="rect">
            <a:avLst/>
          </a:prstGeom>
          <a:noFill/>
        </p:spPr>
        <p:txBody>
          <a:bodyPr wrap="square">
            <a:spAutoFit/>
          </a:bodyPr>
          <a:lstStyle/>
          <a:p>
            <a:pPr algn="r"/>
            <a:r>
              <a:rPr sz="900" b="0" i="0">
                <a:solidFill>
                  <a:srgbClr val="666666"/>
                </a:solidFill>
                <a:latin typeface="Calibr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1170432"/>
            <a:ext cx="2011680" cy="38100"/>
          </a:xfrm>
          <a:prstGeom prst="rect">
            <a:avLst/>
          </a:prstGeom>
          <a:solidFill>
            <a:srgbClr val="2E8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11155680" cy="822960"/>
          </a:xfrm>
          <a:prstGeom prst="rect">
            <a:avLst/>
          </a:prstGeom>
          <a:noFill/>
        </p:spPr>
        <p:txBody>
          <a:bodyPr wrap="square">
            <a:spAutoFit/>
          </a:bodyPr>
          <a:lstStyle/>
          <a:p>
            <a:r>
              <a:rPr sz="3000" b="1" i="0">
                <a:solidFill>
                  <a:srgbClr val="1F3A5F"/>
                </a:solidFill>
                <a:latin typeface="Calibri"/>
              </a:rPr>
              <a:t>Decisions (3/3): from the sourced scenarios</a:t>
            </a:r>
          </a:p>
        </p:txBody>
      </p:sp>
      <p:sp>
        <p:nvSpPr>
          <p:cNvPr id="4" name="TextBox 3"/>
          <p:cNvSpPr txBox="1"/>
          <p:nvPr/>
        </p:nvSpPr>
        <p:spPr>
          <a:xfrm>
            <a:off x="548640" y="914400"/>
            <a:ext cx="10972800" cy="320040"/>
          </a:xfrm>
          <a:prstGeom prst="rect">
            <a:avLst/>
          </a:prstGeom>
          <a:noFill/>
        </p:spPr>
        <p:txBody>
          <a:bodyPr wrap="square">
            <a:spAutoFit/>
          </a:bodyPr>
          <a:lstStyle/>
          <a:p>
            <a:r>
              <a:rPr sz="1300" b="0" i="1">
                <a:solidFill>
                  <a:srgbClr val="2E869A"/>
                </a:solidFill>
                <a:latin typeface="Calibri"/>
              </a:rPr>
              <a:t>continued - full text + grounding in log section 7</a:t>
            </a:r>
          </a:p>
        </p:txBody>
      </p:sp>
      <p:sp>
        <p:nvSpPr>
          <p:cNvPr id="5" name="TextBox 4"/>
          <p:cNvSpPr txBox="1"/>
          <p:nvPr/>
        </p:nvSpPr>
        <p:spPr>
          <a:xfrm>
            <a:off x="640080" y="1417320"/>
            <a:ext cx="10972800" cy="4754880"/>
          </a:xfrm>
          <a:prstGeom prst="rect">
            <a:avLst/>
          </a:prstGeom>
          <a:noFill/>
        </p:spPr>
        <p:txBody>
          <a:bodyPr wrap="square">
            <a:spAutoFit/>
          </a:bodyPr>
          <a:lstStyle/>
          <a:p>
            <a:pPr>
              <a:spcBef>
                <a:spcPts val="200"/>
              </a:spcBef>
              <a:spcAft>
                <a:spcPts val="700"/>
              </a:spcAft>
            </a:pPr>
            <a:r>
              <a:rPr sz="1300" b="1" i="0">
                <a:solidFill>
                  <a:srgbClr val="2E869A"/>
                </a:solidFill>
                <a:latin typeface="Calibri"/>
              </a:rPr>
              <a:t>•  Q-N  </a:t>
            </a:r>
            <a:r>
              <a:rPr sz="1300" b="0" i="0">
                <a:solidFill>
                  <a:srgbClr val="333333"/>
                </a:solidFill>
                <a:latin typeface="Calibri"/>
              </a:rPr>
              <a:t>Area-coverage / exploration goal (explore-until-covered) - search verbs already exist.</a:t>
            </a:r>
          </a:p>
          <a:p>
            <a:pPr>
              <a:spcBef>
                <a:spcPts val="200"/>
              </a:spcBef>
              <a:spcAft>
                <a:spcPts val="700"/>
              </a:spcAft>
            </a:pPr>
            <a:r>
              <a:rPr sz="1300" b="1" i="0">
                <a:solidFill>
                  <a:srgbClr val="2E869A"/>
                </a:solidFill>
                <a:latin typeface="Calibri"/>
              </a:rPr>
              <a:t>•  Q-O  </a:t>
            </a:r>
            <a:r>
              <a:rPr sz="1300" b="0" i="0">
                <a:solidFill>
                  <a:srgbClr val="333333"/>
                </a:solidFill>
                <a:latin typeface="Calibri"/>
              </a:rPr>
              <a:t>Denied-comms operating mode + deployable relay entity (the relay verb lox#COMREL already exists).</a:t>
            </a:r>
          </a:p>
          <a:p>
            <a:pPr>
              <a:spcBef>
                <a:spcPts val="200"/>
              </a:spcBef>
              <a:spcAft>
                <a:spcPts val="700"/>
              </a:spcAft>
            </a:pPr>
            <a:r>
              <a:rPr sz="1300" b="1" i="0">
                <a:solidFill>
                  <a:srgbClr val="2E869A"/>
                </a:solidFill>
                <a:latin typeface="Calibri"/>
              </a:rPr>
              <a:t>•  Q-P  </a:t>
            </a:r>
            <a:r>
              <a:rPr sz="1300" b="0" i="0">
                <a:solidFill>
                  <a:srgbClr val="333333"/>
                </a:solidFill>
                <a:latin typeface="Calibri"/>
              </a:rPr>
              <a:t>Cross-cueing: system-to-system tasking + shared classified track/contact (extends Q-G).</a:t>
            </a:r>
          </a:p>
          <a:p>
            <a:pPr>
              <a:spcBef>
                <a:spcPts val="200"/>
              </a:spcBef>
              <a:spcAft>
                <a:spcPts val="700"/>
              </a:spcAft>
            </a:pPr>
            <a:r>
              <a:rPr sz="1300" b="1" i="0">
                <a:solidFill>
                  <a:srgbClr val="2E869A"/>
                </a:solidFill>
                <a:latin typeface="Calibri"/>
              </a:rPr>
              <a:t>•  Q-Q  </a:t>
            </a:r>
            <a:r>
              <a:rPr sz="1300" b="0" i="0">
                <a:solidFill>
                  <a:srgbClr val="333333"/>
                </a:solidFill>
                <a:latin typeface="Calibri"/>
              </a:rPr>
              <a:t>One generic Detection Report (confidence + error-bound + false-positive) - resolves Y1/M3/M4 (extends Q-I).</a:t>
            </a:r>
          </a:p>
          <a:p>
            <a:pPr>
              <a:spcBef>
                <a:spcPts val="200"/>
              </a:spcBef>
              <a:spcAft>
                <a:spcPts val="700"/>
              </a:spcAft>
            </a:pPr>
            <a:r>
              <a:rPr sz="1300" b="1" i="0">
                <a:solidFill>
                  <a:srgbClr val="2E869A"/>
                </a:solidFill>
                <a:latin typeface="Calibri"/>
              </a:rPr>
              <a:t>•  Q-R  </a:t>
            </a:r>
            <a:r>
              <a:rPr sz="1300" b="0" i="0">
                <a:solidFill>
                  <a:srgbClr val="333333"/>
                </a:solidFill>
                <a:latin typeface="Calibri"/>
              </a:rPr>
              <a:t>Platform locomotion/role subtypes: wheeled/tracked/legged UGV; detector/neutralizer USV (extends Q-A).</a:t>
            </a:r>
          </a:p>
          <a:p>
            <a:pPr>
              <a:spcBef>
                <a:spcPts val="200"/>
              </a:spcBef>
              <a:spcAft>
                <a:spcPts val="700"/>
              </a:spcAft>
            </a:pPr>
            <a:r>
              <a:rPr sz="1300" b="1" i="0">
                <a:solidFill>
                  <a:srgbClr val="2E869A"/>
                </a:solidFill>
                <a:latin typeface="Calibri"/>
              </a:rPr>
              <a:t>•  Q-S  </a:t>
            </a:r>
            <a:r>
              <a:rPr sz="1300" b="0" i="0">
                <a:solidFill>
                  <a:srgbClr val="333333"/>
                </a:solidFill>
                <a:latin typeface="Calibri"/>
              </a:rPr>
              <a:t>Decoy/deception behavior + threat-aware order annotations.</a:t>
            </a:r>
          </a:p>
          <a:p>
            <a:pPr>
              <a:spcBef>
                <a:spcPts val="200"/>
              </a:spcBef>
              <a:spcAft>
                <a:spcPts val="700"/>
              </a:spcAft>
            </a:pPr>
            <a:r>
              <a:rPr sz="1300" b="1" i="0">
                <a:solidFill>
                  <a:srgbClr val="2E869A"/>
                </a:solidFill>
                <a:latin typeface="Calibri"/>
              </a:rPr>
              <a:t>•  Q-T  </a:t>
            </a:r>
            <a:r>
              <a:rPr sz="1300" b="0" i="0">
                <a:solidFill>
                  <a:srgbClr val="333333"/>
                </a:solidFill>
                <a:latin typeface="Calibri"/>
              </a:rPr>
              <a:t>Operating-environment condition attributes (GPS-denied, illumination, sea-state, terrain).</a:t>
            </a:r>
          </a:p>
          <a:p>
            <a:pPr>
              <a:spcBef>
                <a:spcPts val="200"/>
              </a:spcBef>
              <a:spcAft>
                <a:spcPts val="700"/>
              </a:spcAft>
            </a:pPr>
            <a:r>
              <a:rPr sz="1300" b="1" i="0">
                <a:solidFill>
                  <a:srgbClr val="2E869A"/>
                </a:solidFill>
                <a:latin typeface="Calibri"/>
              </a:rPr>
              <a:t>•  Q-U  </a:t>
            </a:r>
            <a:r>
              <a:rPr sz="1300" b="0" i="0">
                <a:solidFill>
                  <a:srgbClr val="333333"/>
                </a:solidFill>
                <a:latin typeface="Calibri"/>
              </a:rPr>
              <a:t>Formation / relative-geometry construct (orbit, convoy spacing) beyond single RelativeLocation.</a:t>
            </a:r>
          </a:p>
          <a:p>
            <a:pPr>
              <a:spcBef>
                <a:spcPts val="200"/>
              </a:spcBef>
              <a:spcAft>
                <a:spcPts val="700"/>
              </a:spcAft>
            </a:pPr>
            <a:r>
              <a:rPr sz="1300" b="1" i="0">
                <a:solidFill>
                  <a:srgbClr val="2E869A"/>
                </a:solidFill>
                <a:latin typeface="Calibri"/>
              </a:rPr>
              <a:t>•  Q-V  </a:t>
            </a:r>
            <a:r>
              <a:rPr sz="1300" b="0" i="0">
                <a:solidFill>
                  <a:srgbClr val="333333"/>
                </a:solidFill>
                <a:latin typeface="Calibri"/>
              </a:rPr>
              <a:t>Capability self-report (robot declares mounted equipment; assign by capability) - BML WhoHoldingType.</a:t>
            </a:r>
          </a:p>
        </p:txBody>
      </p:sp>
      <p:sp>
        <p:nvSpPr>
          <p:cNvPr id="6" name="TextBox 5"/>
          <p:cNvSpPr txBox="1"/>
          <p:nvPr/>
        </p:nvSpPr>
        <p:spPr>
          <a:xfrm>
            <a:off x="502920" y="6419088"/>
            <a:ext cx="11155680" cy="320040"/>
          </a:xfrm>
          <a:prstGeom prst="rect">
            <a:avLst/>
          </a:prstGeom>
          <a:noFill/>
        </p:spPr>
        <p:txBody>
          <a:bodyPr wrap="square">
            <a:spAutoFit/>
          </a:bodyPr>
          <a:lstStyle/>
          <a:p>
            <a:r>
              <a:rPr sz="900" b="0" i="0">
                <a:solidFill>
                  <a:srgbClr val="666666"/>
                </a:solidFill>
                <a:latin typeface="Calibri"/>
              </a:rPr>
              <a:t>C2SIM ASX Sub-group   |   Hyssos   |   July 2026</a:t>
            </a:r>
          </a:p>
        </p:txBody>
      </p:sp>
      <p:sp>
        <p:nvSpPr>
          <p:cNvPr id="7" name="TextBox 6"/>
          <p:cNvSpPr txBox="1"/>
          <p:nvPr/>
        </p:nvSpPr>
        <p:spPr>
          <a:xfrm>
            <a:off x="11338560" y="6419088"/>
            <a:ext cx="640080" cy="320040"/>
          </a:xfrm>
          <a:prstGeom prst="rect">
            <a:avLst/>
          </a:prstGeom>
          <a:noFill/>
        </p:spPr>
        <p:txBody>
          <a:bodyPr wrap="square">
            <a:spAutoFit/>
          </a:bodyPr>
          <a:lstStyle/>
          <a:p>
            <a:pPr algn="r"/>
            <a:r>
              <a:rPr sz="900" b="0" i="0">
                <a:solidFill>
                  <a:srgbClr val="666666"/>
                </a:solidFill>
                <a:latin typeface="Calibr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1170432"/>
            <a:ext cx="2011680" cy="38100"/>
          </a:xfrm>
          <a:prstGeom prst="rect">
            <a:avLst/>
          </a:prstGeom>
          <a:solidFill>
            <a:srgbClr val="2E8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11155680" cy="822960"/>
          </a:xfrm>
          <a:prstGeom prst="rect">
            <a:avLst/>
          </a:prstGeom>
          <a:noFill/>
        </p:spPr>
        <p:txBody>
          <a:bodyPr wrap="square">
            <a:spAutoFit/>
          </a:bodyPr>
          <a:lstStyle/>
          <a:p>
            <a:r>
              <a:rPr sz="3000" b="1" i="0">
                <a:solidFill>
                  <a:srgbClr val="1F3A5F"/>
                </a:solidFill>
                <a:latin typeface="Calibri"/>
              </a:rPr>
              <a:t>Proposed refinements</a:t>
            </a:r>
          </a:p>
        </p:txBody>
      </p:sp>
      <p:sp>
        <p:nvSpPr>
          <p:cNvPr id="4" name="TextBox 3"/>
          <p:cNvSpPr txBox="1"/>
          <p:nvPr/>
        </p:nvSpPr>
        <p:spPr>
          <a:xfrm>
            <a:off x="548640" y="914400"/>
            <a:ext cx="10972800" cy="320040"/>
          </a:xfrm>
          <a:prstGeom prst="rect">
            <a:avLst/>
          </a:prstGeom>
          <a:noFill/>
        </p:spPr>
        <p:txBody>
          <a:bodyPr wrap="square">
            <a:spAutoFit/>
          </a:bodyPr>
          <a:lstStyle/>
          <a:p>
            <a:r>
              <a:rPr sz="1300" b="0" i="1">
                <a:solidFill>
                  <a:srgbClr val="2E869A"/>
                </a:solidFill>
                <a:latin typeface="Calibri"/>
              </a:rPr>
              <a:t>Pending group buy-in - nothing applied to the model</a:t>
            </a:r>
          </a:p>
        </p:txBody>
      </p:sp>
      <p:sp>
        <p:nvSpPr>
          <p:cNvPr id="5" name="TextBox 4"/>
          <p:cNvSpPr txBox="1"/>
          <p:nvPr/>
        </p:nvSpPr>
        <p:spPr>
          <a:xfrm>
            <a:off x="640080" y="1554480"/>
            <a:ext cx="10972800" cy="4754880"/>
          </a:xfrm>
          <a:prstGeom prst="rect">
            <a:avLst/>
          </a:prstGeom>
          <a:noFill/>
        </p:spPr>
        <p:txBody>
          <a:bodyPr wrap="square">
            <a:spAutoFit/>
          </a:bodyPr>
          <a:lstStyle/>
          <a:p>
            <a:pPr>
              <a:spcBef>
                <a:spcPts val="200"/>
              </a:spcBef>
              <a:spcAft>
                <a:spcPts val="1300"/>
              </a:spcAft>
            </a:pPr>
            <a:r>
              <a:rPr sz="1400" b="1" i="0">
                <a:solidFill>
                  <a:srgbClr val="2E7D32"/>
                </a:solidFill>
                <a:latin typeface="Calibri"/>
              </a:rPr>
              <a:t>•  Safe corrections (unambiguous):  </a:t>
            </a:r>
            <a:r>
              <a:rPr sz="1400" b="0" i="0">
                <a:solidFill>
                  <a:srgbClr val="333333"/>
                </a:solidFill>
                <a:latin typeface="Calibri"/>
              </a:rPr>
              <a:t>class typo CollecticeRoboticSystem -&gt; CollectiveRoboticSystem (O1); versionInfo Extrension -&gt; Extension (O2); file CSIM_ASX -&gt; C2SIM_ASX (O3); hasStartTime UUIDBase -&gt; TimeInstant (M7); unify namespace label ASX / C2SIM_ASX (M8).</a:t>
            </a:r>
          </a:p>
          <a:p>
            <a:pPr>
              <a:spcBef>
                <a:spcPts val="200"/>
              </a:spcBef>
              <a:spcAft>
                <a:spcPts val="1300"/>
              </a:spcAft>
            </a:pPr>
            <a:r>
              <a:rPr sz="1400" b="1" i="0">
                <a:solidFill>
                  <a:srgbClr val="C87F0A"/>
                </a:solidFill>
                <a:latin typeface="Calibri"/>
              </a:rPr>
              <a:t>•  Structural (decide first):  </a:t>
            </a:r>
            <a:r>
              <a:rPr sz="1400" b="0" i="0">
                <a:solidFill>
                  <a:srgbClr val="333333"/>
                </a:solidFill>
                <a:latin typeface="Calibri"/>
              </a:rPr>
              <a:t>UAV/robot typing (Q-A); Swarm -&gt; CollectiveEntity so it is taskable (Q-B); one sensor model (Q-C); one autonomy vocabulary (Q-D).</a:t>
            </a:r>
          </a:p>
          <a:p>
            <a:pPr>
              <a:spcBef>
                <a:spcPts val="200"/>
              </a:spcBef>
              <a:spcAft>
                <a:spcPts val="1300"/>
              </a:spcAft>
            </a:pPr>
            <a:r>
              <a:rPr sz="1400" b="1" i="0">
                <a:solidFill>
                  <a:srgbClr val="2E869A"/>
                </a:solidFill>
                <a:latin typeface="Calibri"/>
              </a:rPr>
              <a:t>•  New content (design):  </a:t>
            </a:r>
            <a:r>
              <a:rPr sz="1400" b="0" i="0">
                <a:solidFill>
                  <a:srgbClr val="333333"/>
                </a:solidFill>
                <a:latin typeface="Calibri"/>
              </a:rPr>
              <a:t>inline entity def (Q-E), MediaReference (Q-F), robot-to-robot + cross-cue (Q-G/Q-P), rationale report (Q-H), generic detection report (Q-I/Q-Q), swarm residuals (Q-J), engagement authority (Q-K), payload/effector/weapon typing (Q-L), area subject (Q-M), explore order (Q-N), denied-comms/relay (Q-O), locomotion subtypes (Q-R), decoy/threat-aware (Q-S), environment conditions (Q-T), formation geometry (Q-U).</a:t>
            </a:r>
          </a:p>
          <a:p>
            <a:pPr>
              <a:spcBef>
                <a:spcPts val="200"/>
              </a:spcBef>
              <a:spcAft>
                <a:spcPts val="1300"/>
              </a:spcAft>
            </a:pPr>
            <a:r>
              <a:rPr sz="1400" b="1" i="0">
                <a:solidFill>
                  <a:srgbClr val="333333"/>
                </a:solidFill>
                <a:latin typeface="Calibri"/>
              </a:rPr>
              <a:t>•  Nothing here is applied to the model - all items are proposals for group buy-in.</a:t>
            </a:r>
          </a:p>
        </p:txBody>
      </p:sp>
      <p:sp>
        <p:nvSpPr>
          <p:cNvPr id="6" name="TextBox 5"/>
          <p:cNvSpPr txBox="1"/>
          <p:nvPr/>
        </p:nvSpPr>
        <p:spPr>
          <a:xfrm>
            <a:off x="502920" y="6126480"/>
            <a:ext cx="11155680" cy="274320"/>
          </a:xfrm>
          <a:prstGeom prst="rect">
            <a:avLst/>
          </a:prstGeom>
          <a:noFill/>
        </p:spPr>
        <p:txBody>
          <a:bodyPr wrap="square">
            <a:spAutoFit/>
          </a:bodyPr>
          <a:lstStyle/>
          <a:p>
            <a:r>
              <a:rPr sz="1000" b="1" i="1">
                <a:solidFill>
                  <a:srgbClr val="2E869A"/>
                </a:solidFill>
                <a:latin typeface="Calibri"/>
              </a:rPr>
              <a:t>Dig deeper:  </a:t>
            </a:r>
            <a:r>
              <a:rPr sz="1000" b="0" i="1">
                <a:solidFill>
                  <a:srgbClr val="666666"/>
                </a:solidFill>
                <a:latin typeface="Calibri"/>
              </a:rPr>
              <a:t>log secs 3-4 (the safe corrections)  -  sec 7 (every decision, with what it resolves)</a:t>
            </a:r>
          </a:p>
        </p:txBody>
      </p:sp>
      <p:sp>
        <p:nvSpPr>
          <p:cNvPr id="7" name="TextBox 6"/>
          <p:cNvSpPr txBox="1"/>
          <p:nvPr/>
        </p:nvSpPr>
        <p:spPr>
          <a:xfrm>
            <a:off x="502920" y="6419088"/>
            <a:ext cx="11155680" cy="320040"/>
          </a:xfrm>
          <a:prstGeom prst="rect">
            <a:avLst/>
          </a:prstGeom>
          <a:noFill/>
        </p:spPr>
        <p:txBody>
          <a:bodyPr wrap="square">
            <a:spAutoFit/>
          </a:bodyPr>
          <a:lstStyle/>
          <a:p>
            <a:r>
              <a:rPr sz="900" b="0" i="0">
                <a:solidFill>
                  <a:srgbClr val="666666"/>
                </a:solidFill>
                <a:latin typeface="Calibri"/>
              </a:rPr>
              <a:t>C2SIM ASX Sub-group   |   Hyssos   |   July 2026</a:t>
            </a:r>
          </a:p>
        </p:txBody>
      </p:sp>
      <p:sp>
        <p:nvSpPr>
          <p:cNvPr id="8" name="TextBox 7"/>
          <p:cNvSpPr txBox="1"/>
          <p:nvPr/>
        </p:nvSpPr>
        <p:spPr>
          <a:xfrm>
            <a:off x="11338560" y="6419088"/>
            <a:ext cx="640080" cy="320040"/>
          </a:xfrm>
          <a:prstGeom prst="rect">
            <a:avLst/>
          </a:prstGeom>
          <a:noFill/>
        </p:spPr>
        <p:txBody>
          <a:bodyPr wrap="square">
            <a:spAutoFit/>
          </a:bodyPr>
          <a:lstStyle/>
          <a:p>
            <a:pPr algn="r"/>
            <a:r>
              <a:rPr sz="900" b="0" i="0">
                <a:solidFill>
                  <a:srgbClr val="666666"/>
                </a:solidFill>
                <a:latin typeface="Calibr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1170432"/>
            <a:ext cx="2011680" cy="38100"/>
          </a:xfrm>
          <a:prstGeom prst="rect">
            <a:avLst/>
          </a:prstGeom>
          <a:solidFill>
            <a:srgbClr val="2E8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11155680" cy="822960"/>
          </a:xfrm>
          <a:prstGeom prst="rect">
            <a:avLst/>
          </a:prstGeom>
          <a:noFill/>
        </p:spPr>
        <p:txBody>
          <a:bodyPr wrap="square">
            <a:spAutoFit/>
          </a:bodyPr>
          <a:lstStyle/>
          <a:p>
            <a:r>
              <a:rPr sz="3000" b="1" i="0">
                <a:solidFill>
                  <a:srgbClr val="1F3A5F"/>
                </a:solidFill>
                <a:latin typeface="Calibri"/>
              </a:rPr>
              <a:t>Recommended next steps</a:t>
            </a:r>
          </a:p>
        </p:txBody>
      </p:sp>
      <p:sp>
        <p:nvSpPr>
          <p:cNvPr id="4" name="TextBox 3"/>
          <p:cNvSpPr txBox="1"/>
          <p:nvPr/>
        </p:nvSpPr>
        <p:spPr>
          <a:xfrm>
            <a:off x="640080" y="1645920"/>
            <a:ext cx="10972800" cy="4709160"/>
          </a:xfrm>
          <a:prstGeom prst="rect">
            <a:avLst/>
          </a:prstGeom>
          <a:noFill/>
        </p:spPr>
        <p:txBody>
          <a:bodyPr wrap="square">
            <a:spAutoFit/>
          </a:bodyPr>
          <a:lstStyle/>
          <a:p>
            <a:pPr>
              <a:spcBef>
                <a:spcPts val="200"/>
              </a:spcBef>
              <a:spcAft>
                <a:spcPts val="1200"/>
              </a:spcAft>
            </a:pPr>
            <a:r>
              <a:rPr sz="1650" b="1" i="0">
                <a:solidFill>
                  <a:srgbClr val="333333"/>
                </a:solidFill>
                <a:latin typeface="Calibri"/>
              </a:rPr>
              <a:t>•  Settle the two entity-typing decisions (Q-A, Q-B) - this unblocks Initialization.</a:t>
            </a:r>
          </a:p>
          <a:p>
            <a:pPr>
              <a:spcBef>
                <a:spcPts val="200"/>
              </a:spcBef>
              <a:spcAft>
                <a:spcPts val="1200"/>
              </a:spcAft>
            </a:pPr>
            <a:r>
              <a:rPr sz="1650" b="0" i="0">
                <a:solidFill>
                  <a:srgbClr val="333333"/>
                </a:solidFill>
                <a:latin typeface="Calibri"/>
              </a:rPr>
              <a:t>•  Complete the Initialization instantiations (drafts provided for the 3 named scenarios).</a:t>
            </a:r>
          </a:p>
          <a:p>
            <a:pPr>
              <a:spcBef>
                <a:spcPts val="200"/>
              </a:spcBef>
              <a:spcAft>
                <a:spcPts val="1200"/>
              </a:spcAft>
            </a:pPr>
            <a:r>
              <a:rPr sz="1650" b="0" i="0">
                <a:solidFill>
                  <a:srgbClr val="333333"/>
                </a:solidFill>
                <a:latin typeface="Calibri"/>
              </a:rPr>
              <a:t>•  Add the two CASEVAC content types (Q-G robot-to-robot, Q-H rationale) - both are explicit scenario requirements.</a:t>
            </a:r>
          </a:p>
          <a:p>
            <a:pPr>
              <a:spcBef>
                <a:spcPts val="200"/>
              </a:spcBef>
              <a:spcAft>
                <a:spcPts val="1200"/>
              </a:spcAft>
            </a:pPr>
            <a:r>
              <a:rPr sz="1650" b="0" i="0">
                <a:solidFill>
                  <a:srgbClr val="333333"/>
                </a:solidFill>
                <a:latin typeface="Calibri"/>
              </a:rPr>
              <a:t>•  Reconcile the OWL model with the June spreadsheet decisions; fix the typos.</a:t>
            </a:r>
          </a:p>
          <a:p>
            <a:pPr>
              <a:spcBef>
                <a:spcPts val="200"/>
              </a:spcBef>
              <a:spcAft>
                <a:spcPts val="1200"/>
              </a:spcAft>
            </a:pPr>
            <a:r>
              <a:rPr sz="1650" b="0" i="0">
                <a:solidFill>
                  <a:srgbClr val="333333"/>
                </a:solidFill>
                <a:latin typeface="Calibri"/>
              </a:rPr>
              <a:t>•  Optional: adopt the diff-able (.xml) workbooks so edits can be reviewed and merged in git.</a:t>
            </a:r>
          </a:p>
        </p:txBody>
      </p:sp>
      <p:sp>
        <p:nvSpPr>
          <p:cNvPr id="5" name="TextBox 4"/>
          <p:cNvSpPr txBox="1"/>
          <p:nvPr/>
        </p:nvSpPr>
        <p:spPr>
          <a:xfrm>
            <a:off x="502920" y="6126480"/>
            <a:ext cx="11155680" cy="274320"/>
          </a:xfrm>
          <a:prstGeom prst="rect">
            <a:avLst/>
          </a:prstGeom>
          <a:noFill/>
        </p:spPr>
        <p:txBody>
          <a:bodyPr wrap="square">
            <a:spAutoFit/>
          </a:bodyPr>
          <a:lstStyle/>
          <a:p>
            <a:r>
              <a:rPr sz="1000" b="1" i="1">
                <a:solidFill>
                  <a:srgbClr val="2E869A"/>
                </a:solidFill>
                <a:latin typeface="Calibri"/>
              </a:rPr>
              <a:t>Dig deeper:  </a:t>
            </a:r>
            <a:r>
              <a:rPr sz="1000" b="0" i="1">
                <a:solidFill>
                  <a:srgbClr val="666666"/>
                </a:solidFill>
                <a:latin typeface="Calibri"/>
              </a:rPr>
              <a:t>Group-Briefing.md ('Status and next step')  -  log sec 7 for the full decision register</a:t>
            </a:r>
          </a:p>
        </p:txBody>
      </p:sp>
      <p:sp>
        <p:nvSpPr>
          <p:cNvPr id="6" name="TextBox 5"/>
          <p:cNvSpPr txBox="1"/>
          <p:nvPr/>
        </p:nvSpPr>
        <p:spPr>
          <a:xfrm>
            <a:off x="502920" y="6419088"/>
            <a:ext cx="11155680" cy="320040"/>
          </a:xfrm>
          <a:prstGeom prst="rect">
            <a:avLst/>
          </a:prstGeom>
          <a:noFill/>
        </p:spPr>
        <p:txBody>
          <a:bodyPr wrap="square">
            <a:spAutoFit/>
          </a:bodyPr>
          <a:lstStyle/>
          <a:p>
            <a:r>
              <a:rPr sz="900" b="0" i="0">
                <a:solidFill>
                  <a:srgbClr val="666666"/>
                </a:solidFill>
                <a:latin typeface="Calibri"/>
              </a:rPr>
              <a:t>C2SIM ASX Sub-group   |   Hyssos   |   July 2026</a:t>
            </a:r>
          </a:p>
        </p:txBody>
      </p:sp>
      <p:sp>
        <p:nvSpPr>
          <p:cNvPr id="7" name="TextBox 6"/>
          <p:cNvSpPr txBox="1"/>
          <p:nvPr/>
        </p:nvSpPr>
        <p:spPr>
          <a:xfrm>
            <a:off x="11338560" y="6419088"/>
            <a:ext cx="640080" cy="320040"/>
          </a:xfrm>
          <a:prstGeom prst="rect">
            <a:avLst/>
          </a:prstGeom>
          <a:noFill/>
        </p:spPr>
        <p:txBody>
          <a:bodyPr wrap="square">
            <a:spAutoFit/>
          </a:bodyPr>
          <a:lstStyle/>
          <a:p>
            <a:pPr algn="r"/>
            <a:r>
              <a:rPr sz="900" b="0" i="0">
                <a:solidFill>
                  <a:srgbClr val="666666"/>
                </a:solidFill>
                <a:latin typeface="Calibr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1170432"/>
            <a:ext cx="2011680" cy="38100"/>
          </a:xfrm>
          <a:prstGeom prst="rect">
            <a:avLst/>
          </a:prstGeom>
          <a:solidFill>
            <a:srgbClr val="2E8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11155680" cy="822960"/>
          </a:xfrm>
          <a:prstGeom prst="rect">
            <a:avLst/>
          </a:prstGeom>
          <a:noFill/>
        </p:spPr>
        <p:txBody>
          <a:bodyPr wrap="square">
            <a:spAutoFit/>
          </a:bodyPr>
          <a:lstStyle/>
          <a:p>
            <a:r>
              <a:rPr sz="3000" b="1" i="0">
                <a:solidFill>
                  <a:srgbClr val="1F3A5F"/>
                </a:solidFill>
                <a:latin typeface="Calibri"/>
              </a:rPr>
              <a:t>How to use this material</a:t>
            </a:r>
          </a:p>
        </p:txBody>
      </p:sp>
      <p:sp>
        <p:nvSpPr>
          <p:cNvPr id="4" name="TextBox 3"/>
          <p:cNvSpPr txBox="1"/>
          <p:nvPr/>
        </p:nvSpPr>
        <p:spPr>
          <a:xfrm>
            <a:off x="548640" y="914400"/>
            <a:ext cx="10972800" cy="320040"/>
          </a:xfrm>
          <a:prstGeom prst="rect">
            <a:avLst/>
          </a:prstGeom>
          <a:noFill/>
        </p:spPr>
        <p:txBody>
          <a:bodyPr wrap="square">
            <a:spAutoFit/>
          </a:bodyPr>
          <a:lstStyle/>
          <a:p>
            <a:r>
              <a:rPr sz="1300" b="0" i="1">
                <a:solidFill>
                  <a:srgbClr val="2E869A"/>
                </a:solidFill>
                <a:latin typeface="Calibri"/>
              </a:rPr>
              <a:t>Reading paths by time budget - each level builds on the previous</a:t>
            </a:r>
          </a:p>
        </p:txBody>
      </p:sp>
      <p:graphicFrame>
        <p:nvGraphicFramePr>
          <p:cNvPr id="5" name="Table 4"/>
          <p:cNvGraphicFramePr>
            <a:graphicFrameLocks noGrp="1"/>
          </p:cNvGraphicFramePr>
          <p:nvPr/>
        </p:nvGraphicFramePr>
        <p:xfrm>
          <a:off x="640080" y="1508760"/>
          <a:ext cx="10972800" cy="3566160"/>
        </p:xfrm>
        <a:graphic>
          <a:graphicData uri="http://schemas.openxmlformats.org/drawingml/2006/table">
            <a:tbl>
              <a:tblPr firstRow="1" bandRow="1">
                <a:tableStyleId>{5C22544A-7EE6-4342-B048-85BDC9FD1C3A}</a:tableStyleId>
              </a:tblPr>
              <a:tblGrid>
                <a:gridCol w="1371600"/>
                <a:gridCol w="5943600"/>
                <a:gridCol w="3657600"/>
              </a:tblGrid>
              <a:tr h="713232">
                <a:tc>
                  <a:txBody>
                    <a:bodyPr wrap="square"/>
                    <a:lstStyle/>
                    <a:p>
                      <a:r>
                        <a:rPr sz="1250" b="1" i="0">
                          <a:solidFill>
                            <a:srgbClr val="FFFFFF"/>
                          </a:solidFill>
                          <a:latin typeface="Calibri"/>
                        </a:rPr>
                        <a:t>Budget</a:t>
                      </a:r>
                    </a:p>
                  </a:txBody>
                  <a:tcPr marT="18288" marB="18288" marL="54864" marR="54864">
                    <a:solidFill>
                      <a:srgbClr val="1F3A5F"/>
                    </a:solidFill>
                  </a:tcPr>
                </a:tc>
                <a:tc>
                  <a:txBody>
                    <a:bodyPr wrap="square"/>
                    <a:lstStyle/>
                    <a:p>
                      <a:r>
                        <a:rPr sz="1250" b="1" i="0">
                          <a:solidFill>
                            <a:srgbClr val="FFFFFF"/>
                          </a:solidFill>
                          <a:latin typeface="Calibri"/>
                        </a:rPr>
                        <a:t>Read this</a:t>
                      </a:r>
                    </a:p>
                  </a:txBody>
                  <a:tcPr marT="18288" marB="18288" marL="54864" marR="54864">
                    <a:solidFill>
                      <a:srgbClr val="1F3A5F"/>
                    </a:solidFill>
                  </a:tcPr>
                </a:tc>
                <a:tc>
                  <a:txBody>
                    <a:bodyPr wrap="square"/>
                    <a:lstStyle/>
                    <a:p>
                      <a:r>
                        <a:rPr sz="1250" b="1" i="0">
                          <a:solidFill>
                            <a:srgbClr val="FFFFFF"/>
                          </a:solidFill>
                          <a:latin typeface="Calibri"/>
                        </a:rPr>
                        <a:t>You come away with</a:t>
                      </a:r>
                    </a:p>
                  </a:txBody>
                  <a:tcPr marT="18288" marB="18288" marL="54864" marR="54864">
                    <a:solidFill>
                      <a:srgbClr val="1F3A5F"/>
                    </a:solidFill>
                  </a:tcPr>
                </a:tc>
              </a:tr>
              <a:tr h="713232">
                <a:tc>
                  <a:txBody>
                    <a:bodyPr wrap="square"/>
                    <a:lstStyle/>
                    <a:p>
                      <a:r>
                        <a:rPr sz="1200" b="0" i="0">
                          <a:solidFill>
                            <a:srgbClr val="333333"/>
                          </a:solidFill>
                          <a:latin typeface="Calibri"/>
                        </a:rPr>
                        <a:t>5 minutes</a:t>
                      </a:r>
                    </a:p>
                  </a:txBody>
                  <a:tcPr marT="18288" marB="18288" marL="54864" marR="54864">
                    <a:solidFill>
                      <a:srgbClr val="FFFFFF"/>
                    </a:solidFill>
                  </a:tcPr>
                </a:tc>
                <a:tc>
                  <a:txBody>
                    <a:bodyPr wrap="square"/>
                    <a:lstStyle/>
                    <a:p>
                      <a:r>
                        <a:rPr sz="1200" b="0" i="0">
                          <a:solidFill>
                            <a:srgbClr val="333333"/>
                          </a:solidFill>
                          <a:latin typeface="Calibri"/>
                        </a:rPr>
                        <a:t>Group-Briefing.md - one page</a:t>
                      </a:r>
                    </a:p>
                  </a:txBody>
                  <a:tcPr marT="18288" marB="18288" marL="54864" marR="54864">
                    <a:solidFill>
                      <a:srgbClr val="FFFFFF"/>
                    </a:solidFill>
                  </a:tcPr>
                </a:tc>
                <a:tc>
                  <a:txBody>
                    <a:bodyPr wrap="square"/>
                    <a:lstStyle/>
                    <a:p>
                      <a:r>
                        <a:rPr sz="1200" b="0" i="0">
                          <a:solidFill>
                            <a:srgbClr val="333333"/>
                          </a:solidFill>
                          <a:latin typeface="Calibri"/>
                        </a:rPr>
                        <a:t>what this is, what was found, the ~22 decisions, where the ball is</a:t>
                      </a:r>
                    </a:p>
                  </a:txBody>
                  <a:tcPr marT="18288" marB="18288" marL="54864" marR="54864">
                    <a:solidFill>
                      <a:srgbClr val="FFFFFF"/>
                    </a:solidFill>
                  </a:tcPr>
                </a:tc>
              </a:tr>
              <a:tr h="713232">
                <a:tc>
                  <a:txBody>
                    <a:bodyPr wrap="square"/>
                    <a:lstStyle/>
                    <a:p>
                      <a:r>
                        <a:rPr sz="1200" b="0" i="0">
                          <a:solidFill>
                            <a:srgbClr val="333333"/>
                          </a:solidFill>
                          <a:latin typeface="Calibri"/>
                        </a:rPr>
                        <a:t>30 minutes</a:t>
                      </a:r>
                    </a:p>
                  </a:txBody>
                  <a:tcPr marT="18288" marB="18288" marL="54864" marR="54864">
                    <a:solidFill>
                      <a:srgbClr val="EEF1F5"/>
                    </a:solidFill>
                  </a:tcPr>
                </a:tc>
                <a:tc>
                  <a:txBody>
                    <a:bodyPr wrap="square"/>
                    <a:lstStyle/>
                    <a:p>
                      <a:r>
                        <a:rPr sz="1200" b="0" i="0">
                          <a:solidFill>
                            <a:srgbClr val="333333"/>
                          </a:solidFill>
                          <a:latin typeface="Calibri"/>
                        </a:rPr>
                        <a:t>this deck - the speaker notes on each slide carry the talk track; the ask is the three Decisions slides, structure first (Q-A..Q-D)</a:t>
                      </a:r>
                    </a:p>
                  </a:txBody>
                  <a:tcPr marT="18288" marB="18288" marL="54864" marR="54864">
                    <a:solidFill>
                      <a:srgbClr val="EEF1F5"/>
                    </a:solidFill>
                  </a:tcPr>
                </a:tc>
                <a:tc>
                  <a:txBody>
                    <a:bodyPr wrap="square"/>
                    <a:lstStyle/>
                    <a:p>
                      <a:r>
                        <a:rPr sz="1200" b="0" i="0">
                          <a:solidFill>
                            <a:srgbClr val="333333"/>
                          </a:solidFill>
                          <a:latin typeface="Calibri"/>
                        </a:rPr>
                        <a:t>the full findings picture and what the group is asked to settle</a:t>
                      </a:r>
                    </a:p>
                  </a:txBody>
                  <a:tcPr marT="18288" marB="18288" marL="54864" marR="54864">
                    <a:solidFill>
                      <a:srgbClr val="EEF1F5"/>
                    </a:solidFill>
                  </a:tcPr>
                </a:tc>
              </a:tr>
              <a:tr h="713232">
                <a:tc>
                  <a:txBody>
                    <a:bodyPr wrap="square"/>
                    <a:lstStyle/>
                    <a:p>
                      <a:r>
                        <a:rPr sz="1200" b="0" i="0">
                          <a:solidFill>
                            <a:srgbClr val="333333"/>
                          </a:solidFill>
                          <a:latin typeface="Calibri"/>
                        </a:rPr>
                        <a:t>1-2 hours</a:t>
                      </a:r>
                    </a:p>
                  </a:txBody>
                  <a:tcPr marT="18288" marB="18288" marL="54864" marR="54864">
                    <a:solidFill>
                      <a:srgbClr val="FFFFFF"/>
                    </a:solidFill>
                  </a:tcPr>
                </a:tc>
                <a:tc>
                  <a:txBody>
                    <a:bodyPr wrap="square"/>
                    <a:lstStyle/>
                    <a:p>
                      <a:r>
                        <a:rPr sz="1200" b="0" i="0">
                          <a:solidFill>
                            <a:srgbClr val="333333"/>
                          </a:solidFill>
                          <a:latin typeface="Calibri"/>
                        </a:rPr>
                        <a:t>the walk doc for your topic (map on the final slide), then the log section it feeds - every ID resolves to one row with severity, status, and evidence</a:t>
                      </a:r>
                    </a:p>
                  </a:txBody>
                  <a:tcPr marT="18288" marB="18288" marL="54864" marR="54864">
                    <a:solidFill>
                      <a:srgbClr val="FFFFFF"/>
                    </a:solidFill>
                  </a:tcPr>
                </a:tc>
                <a:tc>
                  <a:txBody>
                    <a:bodyPr wrap="square"/>
                    <a:lstStyle/>
                    <a:p>
                      <a:r>
                        <a:rPr sz="1200" b="0" i="0">
                          <a:solidFill>
                            <a:srgbClr val="333333"/>
                          </a:solidFill>
                          <a:latin typeface="Calibri"/>
                        </a:rPr>
                        <a:t>a reviewer-grade view of one finding family, with its evidence</a:t>
                      </a:r>
                    </a:p>
                  </a:txBody>
                  <a:tcPr marT="18288" marB="18288" marL="54864" marR="54864">
                    <a:solidFill>
                      <a:srgbClr val="FFFFFF"/>
                    </a:solidFill>
                  </a:tcPr>
                </a:tc>
              </a:tr>
              <a:tr h="713232">
                <a:tc>
                  <a:txBody>
                    <a:bodyPr wrap="square"/>
                    <a:lstStyle/>
                    <a:p>
                      <a:r>
                        <a:rPr sz="1200" b="0" i="0">
                          <a:solidFill>
                            <a:srgbClr val="333333"/>
                          </a:solidFill>
                          <a:latin typeface="Calibri"/>
                        </a:rPr>
                        <a:t>Half a day</a:t>
                      </a:r>
                    </a:p>
                  </a:txBody>
                  <a:tcPr marT="18288" marB="18288" marL="54864" marR="54864">
                    <a:solidFill>
                      <a:srgbClr val="EEF1F5"/>
                    </a:solidFill>
                  </a:tcPr>
                </a:tc>
                <a:tc>
                  <a:txBody>
                    <a:bodyPr wrap="square"/>
                    <a:lstStyle/>
                    <a:p>
                      <a:r>
                        <a:rPr sz="1200" b="0" i="0">
                          <a:solidFill>
                            <a:srgbClr val="333333"/>
                          </a:solidFill>
                          <a:latin typeface="Calibri"/>
                        </a:rPr>
                        <a:t>Issues-And-Comments-Log.md end to end, with the three ASX Sample *.xml workbooks and Anticipated-QA.md beside it</a:t>
                      </a:r>
                    </a:p>
                  </a:txBody>
                  <a:tcPr marT="18288" marB="18288" marL="54864" marR="54864">
                    <a:solidFill>
                      <a:srgbClr val="EEF1F5"/>
                    </a:solidFill>
                  </a:tcPr>
                </a:tc>
                <a:tc>
                  <a:txBody>
                    <a:bodyPr wrap="square"/>
                    <a:lstStyle/>
                    <a:p>
                      <a:r>
                        <a:rPr sz="1200" b="0" i="0">
                          <a:solidFill>
                            <a:srgbClr val="333333"/>
                          </a:solidFill>
                          <a:latin typeface="Calibri"/>
                        </a:rPr>
                        <a:t>command of the full evidence trail - every claim, message, and decision</a:t>
                      </a:r>
                    </a:p>
                  </a:txBody>
                  <a:tcPr marT="18288" marB="18288" marL="54864" marR="54864">
                    <a:solidFill>
                      <a:srgbClr val="EEF1F5"/>
                    </a:solidFill>
                  </a:tcPr>
                </a:tc>
              </a:tr>
            </a:tbl>
          </a:graphicData>
        </a:graphic>
      </p:graphicFrame>
      <p:sp>
        <p:nvSpPr>
          <p:cNvPr id="6" name="TextBox 5"/>
          <p:cNvSpPr txBox="1"/>
          <p:nvPr/>
        </p:nvSpPr>
        <p:spPr>
          <a:xfrm>
            <a:off x="640080" y="5257800"/>
            <a:ext cx="10972800" cy="1097280"/>
          </a:xfrm>
          <a:prstGeom prst="rect">
            <a:avLst/>
          </a:prstGeom>
          <a:noFill/>
        </p:spPr>
        <p:txBody>
          <a:bodyPr wrap="square">
            <a:spAutoFit/>
          </a:bodyPr>
          <a:lstStyle/>
          <a:p>
            <a:pPr>
              <a:spcBef>
                <a:spcPts val="200"/>
              </a:spcBef>
              <a:spcAft>
                <a:spcPts val="500"/>
              </a:spcAft>
            </a:pPr>
            <a:r>
              <a:rPr sz="1200" b="1" i="0">
                <a:solidFill>
                  <a:srgbClr val="2E869A"/>
                </a:solidFill>
                <a:latin typeface="Calibri"/>
              </a:rPr>
              <a:t>•  Seeing the actual messages:  </a:t>
            </a:r>
            <a:r>
              <a:rPr sz="1200" b="0" i="0">
                <a:solidFill>
                  <a:srgbClr val="333333"/>
                </a:solidFill>
                <a:latin typeface="Calibri"/>
              </a:rPr>
              <a:t>open the three ASX Sample *.xml workbooks in Excel - one tab per message, same columns as the originals; the Notes column flags open items [!] and questions [Q], keyed to log IDs.</a:t>
            </a:r>
          </a:p>
          <a:p>
            <a:pPr>
              <a:spcBef>
                <a:spcPts val="200"/>
              </a:spcBef>
              <a:spcAft>
                <a:spcPts val="500"/>
              </a:spcAft>
            </a:pPr>
            <a:r>
              <a:rPr sz="1200" b="1" i="0">
                <a:solidFill>
                  <a:srgbClr val="C87F0A"/>
                </a:solidFill>
                <a:latin typeface="Calibri"/>
              </a:rPr>
              <a:t>•  Challenging a claim:  </a:t>
            </a:r>
            <a:r>
              <a:rPr sz="1200" b="0" i="0">
                <a:solidFill>
                  <a:srgbClr val="333333"/>
                </a:solidFill>
                <a:latin typeface="Calibri"/>
              </a:rPr>
              <a:t>the log's evidence column cites the exact RDF entity (C2SIM / SMX / LOX / v0.0.3) - grep it; every claim was independently re-verified (log change log, 2026-07-12).</a:t>
            </a:r>
          </a:p>
        </p:txBody>
      </p:sp>
      <p:sp>
        <p:nvSpPr>
          <p:cNvPr id="7" name="TextBox 6"/>
          <p:cNvSpPr txBox="1"/>
          <p:nvPr/>
        </p:nvSpPr>
        <p:spPr>
          <a:xfrm>
            <a:off x="502920" y="6419088"/>
            <a:ext cx="11155680" cy="320040"/>
          </a:xfrm>
          <a:prstGeom prst="rect">
            <a:avLst/>
          </a:prstGeom>
          <a:noFill/>
        </p:spPr>
        <p:txBody>
          <a:bodyPr wrap="square">
            <a:spAutoFit/>
          </a:bodyPr>
          <a:lstStyle/>
          <a:p>
            <a:r>
              <a:rPr sz="900" b="0" i="0">
                <a:solidFill>
                  <a:srgbClr val="666666"/>
                </a:solidFill>
                <a:latin typeface="Calibri"/>
              </a:rPr>
              <a:t>C2SIM ASX Sub-group   |   Hyssos   |   July 2026</a:t>
            </a:r>
          </a:p>
        </p:txBody>
      </p:sp>
      <p:sp>
        <p:nvSpPr>
          <p:cNvPr id="8" name="TextBox 7"/>
          <p:cNvSpPr txBox="1"/>
          <p:nvPr/>
        </p:nvSpPr>
        <p:spPr>
          <a:xfrm>
            <a:off x="11338560" y="6419088"/>
            <a:ext cx="640080" cy="320040"/>
          </a:xfrm>
          <a:prstGeom prst="rect">
            <a:avLst/>
          </a:prstGeom>
          <a:noFill/>
        </p:spPr>
        <p:txBody>
          <a:bodyPr wrap="square">
            <a:spAutoFit/>
          </a:bodyPr>
          <a:lstStyle/>
          <a:p>
            <a:pPr algn="r"/>
            <a:r>
              <a:rPr sz="900" b="0" i="0">
                <a:solidFill>
                  <a:srgbClr val="666666"/>
                </a:solidFill>
                <a:latin typeface="Calibri"/>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1170432"/>
            <a:ext cx="2011680" cy="38100"/>
          </a:xfrm>
          <a:prstGeom prst="rect">
            <a:avLst/>
          </a:prstGeom>
          <a:solidFill>
            <a:srgbClr val="2E8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11155680" cy="822960"/>
          </a:xfrm>
          <a:prstGeom prst="rect">
            <a:avLst/>
          </a:prstGeom>
          <a:noFill/>
        </p:spPr>
        <p:txBody>
          <a:bodyPr wrap="square">
            <a:spAutoFit/>
          </a:bodyPr>
          <a:lstStyle/>
          <a:p>
            <a:r>
              <a:rPr sz="3000" b="1" i="0">
                <a:solidFill>
                  <a:srgbClr val="1F3A5F"/>
                </a:solidFill>
                <a:latin typeface="Calibri"/>
              </a:rPr>
              <a:t>Finding-ID decoder ring</a:t>
            </a:r>
          </a:p>
        </p:txBody>
      </p:sp>
      <p:sp>
        <p:nvSpPr>
          <p:cNvPr id="4" name="TextBox 3"/>
          <p:cNvSpPr txBox="1"/>
          <p:nvPr/>
        </p:nvSpPr>
        <p:spPr>
          <a:xfrm>
            <a:off x="548640" y="914400"/>
            <a:ext cx="10972800" cy="320040"/>
          </a:xfrm>
          <a:prstGeom prst="rect">
            <a:avLst/>
          </a:prstGeom>
          <a:noFill/>
        </p:spPr>
        <p:txBody>
          <a:bodyPr wrap="square">
            <a:spAutoFit/>
          </a:bodyPr>
          <a:lstStyle/>
          <a:p>
            <a:r>
              <a:rPr sz="1300" b="0" i="1">
                <a:solidFill>
                  <a:srgbClr val="2E869A"/>
                </a:solidFill>
                <a:latin typeface="Calibri"/>
              </a:rPr>
              <a:t>Every ID resolves to one row or section - nothing is free-floating</a:t>
            </a:r>
          </a:p>
        </p:txBody>
      </p:sp>
      <p:graphicFrame>
        <p:nvGraphicFramePr>
          <p:cNvPr id="5" name="Table 4"/>
          <p:cNvGraphicFramePr>
            <a:graphicFrameLocks noGrp="1"/>
          </p:cNvGraphicFramePr>
          <p:nvPr/>
        </p:nvGraphicFramePr>
        <p:xfrm>
          <a:off x="640080" y="1463040"/>
          <a:ext cx="10972800" cy="3872484"/>
        </p:xfrm>
        <a:graphic>
          <a:graphicData uri="http://schemas.openxmlformats.org/drawingml/2006/table">
            <a:tbl>
              <a:tblPr firstRow="1" bandRow="1">
                <a:tableStyleId>{5C22544A-7EE6-4342-B048-85BDC9FD1C3A}</a:tableStyleId>
              </a:tblPr>
              <a:tblGrid>
                <a:gridCol w="1737360"/>
                <a:gridCol w="5303520"/>
                <a:gridCol w="3931920"/>
              </a:tblGrid>
              <a:tr h="352044">
                <a:tc>
                  <a:txBody>
                    <a:bodyPr wrap="square"/>
                    <a:lstStyle/>
                    <a:p>
                      <a:r>
                        <a:rPr sz="1200" b="1" i="0">
                          <a:solidFill>
                            <a:srgbClr val="FFFFFF"/>
                          </a:solidFill>
                          <a:latin typeface="Calibri"/>
                        </a:rPr>
                        <a:t>ID family</a:t>
                      </a:r>
                    </a:p>
                  </a:txBody>
                  <a:tcPr marT="18288" marB="18288" marL="54864" marR="54864">
                    <a:solidFill>
                      <a:srgbClr val="1F3A5F"/>
                    </a:solidFill>
                  </a:tcPr>
                </a:tc>
                <a:tc>
                  <a:txBody>
                    <a:bodyPr wrap="square"/>
                    <a:lstStyle/>
                    <a:p>
                      <a:r>
                        <a:rPr sz="1200" b="1" i="0">
                          <a:solidFill>
                            <a:srgbClr val="FFFFFF"/>
                          </a:solidFill>
                          <a:latin typeface="Calibri"/>
                        </a:rPr>
                        <a:t>What it names</a:t>
                      </a:r>
                    </a:p>
                  </a:txBody>
                  <a:tcPr marT="18288" marB="18288" marL="54864" marR="54864">
                    <a:solidFill>
                      <a:srgbClr val="1F3A5F"/>
                    </a:solidFill>
                  </a:tcPr>
                </a:tc>
                <a:tc>
                  <a:txBody>
                    <a:bodyPr wrap="square"/>
                    <a:lstStyle/>
                    <a:p>
                      <a:r>
                        <a:rPr sz="1200" b="1" i="0">
                          <a:solidFill>
                            <a:srgbClr val="FFFFFF"/>
                          </a:solidFill>
                          <a:latin typeface="Calibri"/>
                        </a:rPr>
                        <a:t>Where it resolves</a:t>
                      </a:r>
                    </a:p>
                  </a:txBody>
                  <a:tcPr marT="18288" marB="18288" marL="54864" marR="54864">
                    <a:solidFill>
                      <a:srgbClr val="1F3A5F"/>
                    </a:solidFill>
                  </a:tcPr>
                </a:tc>
              </a:tr>
              <a:tr h="352044">
                <a:tc>
                  <a:txBody>
                    <a:bodyPr wrap="square"/>
                    <a:lstStyle/>
                    <a:p>
                      <a:r>
                        <a:rPr sz="1150" b="0" i="0">
                          <a:solidFill>
                            <a:srgbClr val="333333"/>
                          </a:solidFill>
                          <a:latin typeface="Calibri"/>
                        </a:rPr>
                        <a:t>P1 - P7</a:t>
                      </a:r>
                    </a:p>
                  </a:txBody>
                  <a:tcPr marT="18288" marB="18288" marL="54864" marR="54864">
                    <a:solidFill>
                      <a:srgbClr val="FFFFFF"/>
                    </a:solidFill>
                  </a:tcPr>
                </a:tc>
                <a:tc>
                  <a:txBody>
                    <a:bodyPr wrap="square"/>
                    <a:lstStyle/>
                    <a:p>
                      <a:r>
                        <a:rPr sz="1150" b="0" i="0">
                          <a:solidFill>
                            <a:srgbClr val="333333"/>
                          </a:solidFill>
                          <a:latin typeface="Calibri"/>
                        </a:rPr>
                        <a:t>entity-typing findings: UAV (P1), sensor (P2), swarm (P7)</a:t>
                      </a:r>
                    </a:p>
                  </a:txBody>
                  <a:tcPr marT="18288" marB="18288" marL="54864" marR="54864">
                    <a:solidFill>
                      <a:srgbClr val="FFFFFF"/>
                    </a:solidFill>
                  </a:tcPr>
                </a:tc>
                <a:tc>
                  <a:txBody>
                    <a:bodyPr wrap="square"/>
                    <a:lstStyle/>
                    <a:p>
                      <a:r>
                        <a:rPr sz="1150" b="0" i="0">
                          <a:solidFill>
                            <a:srgbClr val="333333"/>
                          </a:solidFill>
                          <a:latin typeface="Calibri"/>
                        </a:rPr>
                        <a:t>log sec 5; Initialization-Walk.md</a:t>
                      </a:r>
                    </a:p>
                  </a:txBody>
                  <a:tcPr marT="18288" marB="18288" marL="54864" marR="54864">
                    <a:solidFill>
                      <a:srgbClr val="FFFFFF"/>
                    </a:solidFill>
                  </a:tcPr>
                </a:tc>
              </a:tr>
              <a:tr h="352044">
                <a:tc>
                  <a:txBody>
                    <a:bodyPr wrap="square"/>
                    <a:lstStyle/>
                    <a:p>
                      <a:r>
                        <a:rPr sz="1150" b="0" i="0">
                          <a:solidFill>
                            <a:srgbClr val="333333"/>
                          </a:solidFill>
                          <a:latin typeface="Calibri"/>
                        </a:rPr>
                        <a:t>D / O / M</a:t>
                      </a:r>
                    </a:p>
                  </a:txBody>
                  <a:tcPr marT="18288" marB="18288" marL="54864" marR="54864">
                    <a:solidFill>
                      <a:srgbClr val="EEF1F5"/>
                    </a:solidFill>
                  </a:tcPr>
                </a:tc>
                <a:tc>
                  <a:txBody>
                    <a:bodyPr wrap="square"/>
                    <a:lstStyle/>
                    <a:p>
                      <a:r>
                        <a:rPr sz="1150" b="0" i="0">
                          <a:solidFill>
                            <a:srgbClr val="333333"/>
                          </a:solidFill>
                          <a:latin typeface="Calibri"/>
                        </a:rPr>
                        <a:t>track alignment / OWL typos / sample-message items</a:t>
                      </a:r>
                    </a:p>
                  </a:txBody>
                  <a:tcPr marT="18288" marB="18288" marL="54864" marR="54864">
                    <a:solidFill>
                      <a:srgbClr val="EEF1F5"/>
                    </a:solidFill>
                  </a:tcPr>
                </a:tc>
                <a:tc>
                  <a:txBody>
                    <a:bodyPr wrap="square"/>
                    <a:lstStyle/>
                    <a:p>
                      <a:r>
                        <a:rPr sz="1150" b="0" i="0">
                          <a:solidFill>
                            <a:srgbClr val="333333"/>
                          </a:solidFill>
                          <a:latin typeface="Calibri"/>
                        </a:rPr>
                        <a:t>log secs 2 / 3 / 4</a:t>
                      </a:r>
                    </a:p>
                  </a:txBody>
                  <a:tcPr marT="18288" marB="18288" marL="54864" marR="54864">
                    <a:solidFill>
                      <a:srgbClr val="EEF1F5"/>
                    </a:solidFill>
                  </a:tcPr>
                </a:tc>
              </a:tr>
              <a:tr h="352044">
                <a:tc>
                  <a:txBody>
                    <a:bodyPr wrap="square"/>
                    <a:lstStyle/>
                    <a:p>
                      <a:r>
                        <a:rPr sz="1150" b="0" i="0">
                          <a:solidFill>
                            <a:srgbClr val="333333"/>
                          </a:solidFill>
                          <a:latin typeface="Calibri"/>
                        </a:rPr>
                        <a:t>S</a:t>
                      </a:r>
                    </a:p>
                  </a:txBody>
                  <a:tcPr marT="18288" marB="18288" marL="54864" marR="54864">
                    <a:solidFill>
                      <a:srgbClr val="FFFFFF"/>
                    </a:solidFill>
                  </a:tcPr>
                </a:tc>
                <a:tc>
                  <a:txBody>
                    <a:bodyPr wrap="square"/>
                    <a:lstStyle/>
                    <a:p>
                      <a:r>
                        <a:rPr sz="1150" b="0" i="0">
                          <a:solidFill>
                            <a:srgbClr val="333333"/>
                          </a:solidFill>
                          <a:latin typeface="Calibri"/>
                        </a:rPr>
                        <a:t>process + repo-sync decisions (e.g. diff-able workbooks, S4)</a:t>
                      </a:r>
                    </a:p>
                  </a:txBody>
                  <a:tcPr marT="18288" marB="18288" marL="54864" marR="54864">
                    <a:solidFill>
                      <a:srgbClr val="FFFFFF"/>
                    </a:solidFill>
                  </a:tcPr>
                </a:tc>
                <a:tc>
                  <a:txBody>
                    <a:bodyPr wrap="square"/>
                    <a:lstStyle/>
                    <a:p>
                      <a:r>
                        <a:rPr sz="1150" b="0" i="0">
                          <a:solidFill>
                            <a:srgbClr val="333333"/>
                          </a:solidFill>
                          <a:latin typeface="Calibri"/>
                        </a:rPr>
                        <a:t>log sec 1</a:t>
                      </a:r>
                    </a:p>
                  </a:txBody>
                  <a:tcPr marT="18288" marB="18288" marL="54864" marR="54864">
                    <a:solidFill>
                      <a:srgbClr val="FFFFFF"/>
                    </a:solidFill>
                  </a:tcPr>
                </a:tc>
              </a:tr>
              <a:tr h="352044">
                <a:tc>
                  <a:txBody>
                    <a:bodyPr wrap="square"/>
                    <a:lstStyle/>
                    <a:p>
                      <a:r>
                        <a:rPr sz="1150" b="0" i="0">
                          <a:solidFill>
                            <a:srgbClr val="333333"/>
                          </a:solidFill>
                          <a:latin typeface="Calibri"/>
                        </a:rPr>
                        <a:t>C1 - C8</a:t>
                      </a:r>
                    </a:p>
                  </a:txBody>
                  <a:tcPr marT="18288" marB="18288" marL="54864" marR="54864">
                    <a:solidFill>
                      <a:srgbClr val="EEF1F5"/>
                    </a:solidFill>
                  </a:tcPr>
                </a:tc>
                <a:tc>
                  <a:txBody>
                    <a:bodyPr wrap="square"/>
                    <a:lstStyle/>
                    <a:p>
                      <a:r>
                        <a:rPr sz="1150" b="0" i="0">
                          <a:solidFill>
                            <a:srgbClr val="333333"/>
                          </a:solidFill>
                          <a:latin typeface="Calibri"/>
                        </a:rPr>
                        <a:t>coverage state, scenario x message type</a:t>
                      </a:r>
                    </a:p>
                  </a:txBody>
                  <a:tcPr marT="18288" marB="18288" marL="54864" marR="54864">
                    <a:solidFill>
                      <a:srgbClr val="EEF1F5"/>
                    </a:solidFill>
                  </a:tcPr>
                </a:tc>
                <a:tc>
                  <a:txBody>
                    <a:bodyPr wrap="square"/>
                    <a:lstStyle/>
                    <a:p>
                      <a:r>
                        <a:rPr sz="1150" b="0" i="0">
                          <a:solidFill>
                            <a:srgbClr val="333333"/>
                          </a:solidFill>
                          <a:latin typeface="Calibri"/>
                        </a:rPr>
                        <a:t>log sec 6</a:t>
                      </a:r>
                    </a:p>
                  </a:txBody>
                  <a:tcPr marT="18288" marB="18288" marL="54864" marR="54864">
                    <a:solidFill>
                      <a:srgbClr val="EEF1F5"/>
                    </a:solidFill>
                  </a:tcPr>
                </a:tc>
              </a:tr>
              <a:tr h="352044">
                <a:tc>
                  <a:txBody>
                    <a:bodyPr wrap="square"/>
                    <a:lstStyle/>
                    <a:p>
                      <a:r>
                        <a:rPr sz="1150" b="0" i="0">
                          <a:solidFill>
                            <a:srgbClr val="333333"/>
                          </a:solidFill>
                          <a:latin typeface="Calibri"/>
                        </a:rPr>
                        <a:t>X</a:t>
                      </a:r>
                    </a:p>
                  </a:txBody>
                  <a:tcPr marT="18288" marB="18288" marL="54864" marR="54864">
                    <a:solidFill>
                      <a:srgbClr val="FFFFFF"/>
                    </a:solidFill>
                  </a:tcPr>
                </a:tc>
                <a:tc>
                  <a:txBody>
                    <a:bodyPr wrap="square"/>
                    <a:lstStyle/>
                    <a:p>
                      <a:r>
                        <a:rPr sz="1150" b="0" i="0">
                          <a:solidFill>
                            <a:srgbClr val="333333"/>
                          </a:solidFill>
                          <a:latin typeface="Calibri"/>
                        </a:rPr>
                        <a:t>CASEVAC walk findings</a:t>
                      </a:r>
                    </a:p>
                  </a:txBody>
                  <a:tcPr marT="18288" marB="18288" marL="54864" marR="54864">
                    <a:solidFill>
                      <a:srgbClr val="FFFFFF"/>
                    </a:solidFill>
                  </a:tcPr>
                </a:tc>
                <a:tc>
                  <a:txBody>
                    <a:bodyPr wrap="square"/>
                    <a:lstStyle/>
                    <a:p>
                      <a:r>
                        <a:rPr sz="1150" b="0" i="0">
                          <a:solidFill>
                            <a:srgbClr val="333333"/>
                          </a:solidFill>
                          <a:latin typeface="Calibri"/>
                        </a:rPr>
                        <a:t>log sec 6b; CASEVAC-Walk.md</a:t>
                      </a:r>
                    </a:p>
                  </a:txBody>
                  <a:tcPr marT="18288" marB="18288" marL="54864" marR="54864">
                    <a:solidFill>
                      <a:srgbClr val="FFFFFF"/>
                    </a:solidFill>
                  </a:tcPr>
                </a:tc>
              </a:tr>
              <a:tr h="352044">
                <a:tc>
                  <a:txBody>
                    <a:bodyPr wrap="square"/>
                    <a:lstStyle/>
                    <a:p>
                      <a:r>
                        <a:rPr sz="1150" b="0" i="0">
                          <a:solidFill>
                            <a:srgbClr val="333333"/>
                          </a:solidFill>
                          <a:latin typeface="Calibri"/>
                        </a:rPr>
                        <a:t>Y / Z</a:t>
                      </a:r>
                    </a:p>
                  </a:txBody>
                  <a:tcPr marT="18288" marB="18288" marL="54864" marR="54864">
                    <a:solidFill>
                      <a:srgbClr val="EEF1F5"/>
                    </a:solidFill>
                  </a:tcPr>
                </a:tc>
                <a:tc>
                  <a:txBody>
                    <a:bodyPr wrap="square"/>
                    <a:lstStyle/>
                    <a:p>
                      <a:r>
                        <a:rPr sz="1150" b="0" i="0">
                          <a:solidFill>
                            <a:srgbClr val="333333"/>
                          </a:solidFill>
                          <a:latin typeface="Calibri"/>
                        </a:rPr>
                        <a:t>sensor / swarm walk findings</a:t>
                      </a:r>
                    </a:p>
                  </a:txBody>
                  <a:tcPr marT="18288" marB="18288" marL="54864" marR="54864">
                    <a:solidFill>
                      <a:srgbClr val="EEF1F5"/>
                    </a:solidFill>
                  </a:tcPr>
                </a:tc>
                <a:tc>
                  <a:txBody>
                    <a:bodyPr wrap="square"/>
                    <a:lstStyle/>
                    <a:p>
                      <a:r>
                        <a:rPr sz="1150" b="0" i="0">
                          <a:solidFill>
                            <a:srgbClr val="333333"/>
                          </a:solidFill>
                          <a:latin typeface="Calibri"/>
                        </a:rPr>
                        <a:t>log secs 6c / 6d; NonVideoSensors- / Swarm-Walk.md</a:t>
                      </a:r>
                    </a:p>
                  </a:txBody>
                  <a:tcPr marT="18288" marB="18288" marL="54864" marR="54864">
                    <a:solidFill>
                      <a:srgbClr val="EEF1F5"/>
                    </a:solidFill>
                  </a:tcPr>
                </a:tc>
              </a:tr>
              <a:tr h="352044">
                <a:tc>
                  <a:txBody>
                    <a:bodyPr wrap="square"/>
                    <a:lstStyle/>
                    <a:p>
                      <a:r>
                        <a:rPr sz="1150" b="0" i="0">
                          <a:solidFill>
                            <a:srgbClr val="333333"/>
                          </a:solidFill>
                          <a:latin typeface="Calibri"/>
                        </a:rPr>
                        <a:t>W / L / E / R</a:t>
                      </a:r>
                    </a:p>
                  </a:txBody>
                  <a:tcPr marT="18288" marB="18288" marL="54864" marR="54864">
                    <a:solidFill>
                      <a:srgbClr val="FFFFFF"/>
                    </a:solidFill>
                  </a:tcPr>
                </a:tc>
                <a:tc>
                  <a:txBody>
                    <a:bodyPr wrap="square"/>
                    <a:lstStyle/>
                    <a:p>
                      <a:r>
                        <a:rPr sz="1150" b="0" i="0">
                          <a:solidFill>
                            <a:srgbClr val="333333"/>
                          </a:solidFill>
                          <a:latin typeface="Calibri"/>
                        </a:rPr>
                        <a:t>fire support / logistics / engineering / rescue findings</a:t>
                      </a:r>
                    </a:p>
                  </a:txBody>
                  <a:tcPr marT="18288" marB="18288" marL="54864" marR="54864">
                    <a:solidFill>
                      <a:srgbClr val="FFFFFF"/>
                    </a:solidFill>
                  </a:tcPr>
                </a:tc>
                <a:tc>
                  <a:txBody>
                    <a:bodyPr wrap="square"/>
                    <a:lstStyle/>
                    <a:p>
                      <a:r>
                        <a:rPr sz="1150" b="0" i="0">
                          <a:solidFill>
                            <a:srgbClr val="333333"/>
                          </a:solidFill>
                          <a:latin typeface="Calibri"/>
                        </a:rPr>
                        <a:t>log secs 6e / 6f; FireSupport- / TaskEffect-Batch-Walk.md</a:t>
                      </a:r>
                    </a:p>
                  </a:txBody>
                  <a:tcPr marT="18288" marB="18288" marL="54864" marR="54864">
                    <a:solidFill>
                      <a:srgbClr val="FFFFFF"/>
                    </a:solidFill>
                  </a:tcPr>
                </a:tc>
              </a:tr>
              <a:tr h="352044">
                <a:tc>
                  <a:txBody>
                    <a:bodyPr wrap="square"/>
                    <a:lstStyle/>
                    <a:p>
                      <a:r>
                        <a:rPr sz="1150" b="0" i="0">
                          <a:solidFill>
                            <a:srgbClr val="333333"/>
                          </a:solidFill>
                          <a:latin typeface="Calibri"/>
                        </a:rPr>
                        <a:t>N</a:t>
                      </a:r>
                    </a:p>
                  </a:txBody>
                  <a:tcPr marT="18288" marB="18288" marL="54864" marR="54864">
                    <a:solidFill>
                      <a:srgbClr val="EEF1F5"/>
                    </a:solidFill>
                  </a:tcPr>
                </a:tc>
                <a:tc>
                  <a:txBody>
                    <a:bodyPr wrap="square"/>
                    <a:lstStyle/>
                    <a:p>
                      <a:r>
                        <a:rPr sz="1150" b="0" i="0">
                          <a:solidFill>
                            <a:srgbClr val="333333"/>
                          </a:solidFill>
                          <a:latin typeface="Calibri"/>
                        </a:rPr>
                        <a:t>redundancy-pass findings</a:t>
                      </a:r>
                    </a:p>
                  </a:txBody>
                  <a:tcPr marT="18288" marB="18288" marL="54864" marR="54864">
                    <a:solidFill>
                      <a:srgbClr val="EEF1F5"/>
                    </a:solidFill>
                  </a:tcPr>
                </a:tc>
                <a:tc>
                  <a:txBody>
                    <a:bodyPr wrap="square"/>
                    <a:lstStyle/>
                    <a:p>
                      <a:r>
                        <a:rPr sz="1150" b="0" i="0">
                          <a:solidFill>
                            <a:srgbClr val="333333"/>
                          </a:solidFill>
                          <a:latin typeface="Calibri"/>
                        </a:rPr>
                        <a:t>log sec 6g; RedundancyPass-Walk.md</a:t>
                      </a:r>
                    </a:p>
                  </a:txBody>
                  <a:tcPr marT="18288" marB="18288" marL="54864" marR="54864">
                    <a:solidFill>
                      <a:srgbClr val="EEF1F5"/>
                    </a:solidFill>
                  </a:tcPr>
                </a:tc>
              </a:tr>
              <a:tr h="352044">
                <a:tc>
                  <a:txBody>
                    <a:bodyPr wrap="square"/>
                    <a:lstStyle/>
                    <a:p>
                      <a:r>
                        <a:rPr sz="1150" b="0" i="0">
                          <a:solidFill>
                            <a:srgbClr val="333333"/>
                          </a:solidFill>
                          <a:latin typeface="Calibri"/>
                        </a:rPr>
                        <a:t>G</a:t>
                      </a:r>
                    </a:p>
                  </a:txBody>
                  <a:tcPr marT="18288" marB="18288" marL="54864" marR="54864">
                    <a:solidFill>
                      <a:srgbClr val="FFFFFF"/>
                    </a:solidFill>
                  </a:tcPr>
                </a:tc>
                <a:tc>
                  <a:txBody>
                    <a:bodyPr wrap="square"/>
                    <a:lstStyle/>
                    <a:p>
                      <a:r>
                        <a:rPr sz="1150" b="0" i="0">
                          <a:solidFill>
                            <a:srgbClr val="333333"/>
                          </a:solidFill>
                          <a:latin typeface="Calibri"/>
                        </a:rPr>
                        <a:t>sourced-scenario + validation findings</a:t>
                      </a:r>
                    </a:p>
                  </a:txBody>
                  <a:tcPr marT="18288" marB="18288" marL="54864" marR="54864">
                    <a:solidFill>
                      <a:srgbClr val="FFFFFF"/>
                    </a:solidFill>
                  </a:tcPr>
                </a:tc>
                <a:tc>
                  <a:txBody>
                    <a:bodyPr wrap="square"/>
                    <a:lstStyle/>
                    <a:p>
                      <a:r>
                        <a:rPr sz="1150" b="0" i="0">
                          <a:solidFill>
                            <a:srgbClr val="333333"/>
                          </a:solidFill>
                          <a:latin typeface="Calibri"/>
                        </a:rPr>
                        <a:t>log secs 6h-6j; SourcedScenarios- / ValidationEvidence-Walk.md</a:t>
                      </a:r>
                    </a:p>
                  </a:txBody>
                  <a:tcPr marT="18288" marB="18288" marL="54864" marR="54864">
                    <a:solidFill>
                      <a:srgbClr val="FFFFFF"/>
                    </a:solidFill>
                  </a:tcPr>
                </a:tc>
              </a:tr>
              <a:tr h="352044">
                <a:tc>
                  <a:txBody>
                    <a:bodyPr wrap="square"/>
                    <a:lstStyle/>
                    <a:p>
                      <a:r>
                        <a:rPr sz="1150" b="0" i="0">
                          <a:solidFill>
                            <a:srgbClr val="333333"/>
                          </a:solidFill>
                          <a:latin typeface="Calibri"/>
                        </a:rPr>
                        <a:t>Q-A .. Q-V</a:t>
                      </a:r>
                    </a:p>
                  </a:txBody>
                  <a:tcPr marT="18288" marB="18288" marL="54864" marR="54864">
                    <a:solidFill>
                      <a:srgbClr val="EEF1F5"/>
                    </a:solidFill>
                  </a:tcPr>
                </a:tc>
                <a:tc>
                  <a:txBody>
                    <a:bodyPr wrap="square"/>
                    <a:lstStyle/>
                    <a:p>
                      <a:r>
                        <a:rPr sz="1150" b="0" i="0">
                          <a:solidFill>
                            <a:srgbClr val="333333"/>
                          </a:solidFill>
                          <a:latin typeface="Calibri"/>
                        </a:rPr>
                        <a:t>the 22 decisions this review puts to the group</a:t>
                      </a:r>
                    </a:p>
                  </a:txBody>
                  <a:tcPr marT="18288" marB="18288" marL="54864" marR="54864">
                    <a:solidFill>
                      <a:srgbClr val="EEF1F5"/>
                    </a:solidFill>
                  </a:tcPr>
                </a:tc>
                <a:tc>
                  <a:txBody>
                    <a:bodyPr wrap="square"/>
                    <a:lstStyle/>
                    <a:p>
                      <a:r>
                        <a:rPr sz="1150" b="0" i="0">
                          <a:solidFill>
                            <a:srgbClr val="333333"/>
                          </a:solidFill>
                          <a:latin typeface="Calibri"/>
                        </a:rPr>
                        <a:t>log sec 7 - full text + what each resolves</a:t>
                      </a:r>
                    </a:p>
                  </a:txBody>
                  <a:tcPr marT="18288" marB="18288" marL="54864" marR="54864">
                    <a:solidFill>
                      <a:srgbClr val="EEF1F5"/>
                    </a:solidFill>
                  </a:tcPr>
                </a:tc>
              </a:tr>
            </a:tbl>
          </a:graphicData>
        </a:graphic>
      </p:graphicFrame>
      <p:sp>
        <p:nvSpPr>
          <p:cNvPr id="6" name="TextBox 5"/>
          <p:cNvSpPr txBox="1"/>
          <p:nvPr/>
        </p:nvSpPr>
        <p:spPr>
          <a:xfrm>
            <a:off x="640080" y="6053328"/>
            <a:ext cx="10972800" cy="301752"/>
          </a:xfrm>
          <a:prstGeom prst="rect">
            <a:avLst/>
          </a:prstGeom>
          <a:noFill/>
        </p:spPr>
        <p:txBody>
          <a:bodyPr wrap="square">
            <a:spAutoFit/>
          </a:bodyPr>
          <a:lstStyle/>
          <a:p>
            <a:pPr>
              <a:spcBef>
                <a:spcPts val="200"/>
              </a:spcBef>
              <a:spcAft>
                <a:spcPts val="600"/>
              </a:spcAft>
            </a:pPr>
            <a:r>
              <a:rPr sz="1150" b="0" i="0">
                <a:solidFill>
                  <a:srgbClr val="1F3A5F"/>
                </a:solidFill>
                <a:latin typeface="Calibri"/>
              </a:rPr>
              <a:t>•  An unfamiliar ID in any document is a pointer, not jargon - the right column lands on its definition, evidence, and status.</a:t>
            </a:r>
          </a:p>
        </p:txBody>
      </p:sp>
      <p:sp>
        <p:nvSpPr>
          <p:cNvPr id="7" name="TextBox 6"/>
          <p:cNvSpPr txBox="1"/>
          <p:nvPr/>
        </p:nvSpPr>
        <p:spPr>
          <a:xfrm>
            <a:off x="502920" y="6419088"/>
            <a:ext cx="11155680" cy="320040"/>
          </a:xfrm>
          <a:prstGeom prst="rect">
            <a:avLst/>
          </a:prstGeom>
          <a:noFill/>
        </p:spPr>
        <p:txBody>
          <a:bodyPr wrap="square">
            <a:spAutoFit/>
          </a:bodyPr>
          <a:lstStyle/>
          <a:p>
            <a:r>
              <a:rPr sz="900" b="0" i="0">
                <a:solidFill>
                  <a:srgbClr val="666666"/>
                </a:solidFill>
                <a:latin typeface="Calibri"/>
              </a:rPr>
              <a:t>C2SIM ASX Sub-group   |   Hyssos   |   July 2026</a:t>
            </a:r>
          </a:p>
        </p:txBody>
      </p:sp>
      <p:sp>
        <p:nvSpPr>
          <p:cNvPr id="8" name="TextBox 7"/>
          <p:cNvSpPr txBox="1"/>
          <p:nvPr/>
        </p:nvSpPr>
        <p:spPr>
          <a:xfrm>
            <a:off x="11338560" y="6419088"/>
            <a:ext cx="640080" cy="320040"/>
          </a:xfrm>
          <a:prstGeom prst="rect">
            <a:avLst/>
          </a:prstGeom>
          <a:noFill/>
        </p:spPr>
        <p:txBody>
          <a:bodyPr wrap="square">
            <a:spAutoFit/>
          </a:bodyPr>
          <a:lstStyle/>
          <a:p>
            <a:pPr algn="r"/>
            <a:r>
              <a:rPr sz="900" b="0" i="0">
                <a:solidFill>
                  <a:srgbClr val="666666"/>
                </a:solidFill>
                <a:latin typeface="Calibri"/>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1170432"/>
            <a:ext cx="2011680" cy="38100"/>
          </a:xfrm>
          <a:prstGeom prst="rect">
            <a:avLst/>
          </a:prstGeom>
          <a:solidFill>
            <a:srgbClr val="2E8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11155680" cy="822960"/>
          </a:xfrm>
          <a:prstGeom prst="rect">
            <a:avLst/>
          </a:prstGeom>
          <a:noFill/>
        </p:spPr>
        <p:txBody>
          <a:bodyPr wrap="square">
            <a:spAutoFit/>
          </a:bodyPr>
          <a:lstStyle/>
          <a:p>
            <a:r>
              <a:rPr sz="3000" b="1" i="0">
                <a:solidFill>
                  <a:srgbClr val="1F3A5F"/>
                </a:solidFill>
                <a:latin typeface="Calibri"/>
              </a:rPr>
              <a:t>Where to dig deeper</a:t>
            </a:r>
          </a:p>
        </p:txBody>
      </p:sp>
      <p:sp>
        <p:nvSpPr>
          <p:cNvPr id="4" name="TextBox 3"/>
          <p:cNvSpPr txBox="1"/>
          <p:nvPr/>
        </p:nvSpPr>
        <p:spPr>
          <a:xfrm>
            <a:off x="548640" y="914400"/>
            <a:ext cx="10972800" cy="320040"/>
          </a:xfrm>
          <a:prstGeom prst="rect">
            <a:avLst/>
          </a:prstGeom>
          <a:noFill/>
        </p:spPr>
        <p:txBody>
          <a:bodyPr wrap="square">
            <a:spAutoFit/>
          </a:bodyPr>
          <a:lstStyle/>
          <a:p>
            <a:r>
              <a:rPr sz="1300" b="0" i="1">
                <a:solidFill>
                  <a:srgbClr val="2E869A"/>
                </a:solidFill>
                <a:latin typeface="Calibri"/>
              </a:rPr>
              <a:t>Branch asx-diffable-spreadsheets: docs in ASX/InstantiationReview, workbooks in ASX/Proposed Extension Working Materials</a:t>
            </a:r>
          </a:p>
        </p:txBody>
      </p:sp>
      <p:sp>
        <p:nvSpPr>
          <p:cNvPr id="5" name="TextBox 4"/>
          <p:cNvSpPr txBox="1"/>
          <p:nvPr/>
        </p:nvSpPr>
        <p:spPr>
          <a:xfrm>
            <a:off x="640080" y="1508760"/>
            <a:ext cx="10972800" cy="4754880"/>
          </a:xfrm>
          <a:prstGeom prst="rect">
            <a:avLst/>
          </a:prstGeom>
          <a:noFill/>
        </p:spPr>
        <p:txBody>
          <a:bodyPr wrap="square">
            <a:spAutoFit/>
          </a:bodyPr>
          <a:lstStyle/>
          <a:p>
            <a:pPr>
              <a:spcBef>
                <a:spcPts val="200"/>
              </a:spcBef>
              <a:spcAft>
                <a:spcPts val="500"/>
              </a:spcAft>
            </a:pPr>
            <a:r>
              <a:rPr sz="1200" b="1" i="0">
                <a:solidFill>
                  <a:srgbClr val="1F3A5F"/>
                </a:solidFill>
                <a:latin typeface="Calibri"/>
              </a:rPr>
              <a:t>•  Master evidence log:  </a:t>
            </a:r>
            <a:r>
              <a:rPr sz="1200" b="0" i="0">
                <a:solidFill>
                  <a:srgbClr val="333333"/>
                </a:solidFill>
                <a:latin typeface="Calibri"/>
              </a:rPr>
              <a:t>Issues-And-Comments-Log.md - every finding, the 22 decisions (sec 7), v0.0.3 reconciliation (sec 9), why gaps remain (sec 8).</a:t>
            </a:r>
          </a:p>
          <a:p>
            <a:pPr>
              <a:spcBef>
                <a:spcPts val="200"/>
              </a:spcBef>
              <a:spcAft>
                <a:spcPts val="500"/>
              </a:spcAft>
            </a:pPr>
            <a:r>
              <a:rPr sz="1200" b="1" i="0">
                <a:solidFill>
                  <a:srgbClr val="1F3A5F"/>
                </a:solidFill>
                <a:latin typeface="Calibri"/>
              </a:rPr>
              <a:t>•  Briefing / Q&amp;A / talk track:  </a:t>
            </a:r>
            <a:r>
              <a:rPr sz="1200" b="0" i="0">
                <a:solidFill>
                  <a:srgbClr val="333333"/>
                </a:solidFill>
                <a:latin typeface="Calibri"/>
              </a:rPr>
              <a:t>Group-Briefing.md (one page); Anticipated-QA.md; Presenter-Notes.md.</a:t>
            </a:r>
          </a:p>
          <a:p>
            <a:pPr>
              <a:spcBef>
                <a:spcPts val="200"/>
              </a:spcBef>
              <a:spcAft>
                <a:spcPts val="500"/>
              </a:spcAft>
            </a:pPr>
            <a:r>
              <a:rPr sz="1200" b="1" i="0">
                <a:solidFill>
                  <a:srgbClr val="1F3A5F"/>
                </a:solidFill>
                <a:latin typeface="Calibri"/>
              </a:rPr>
              <a:t>•  Coverage + the actual messages:  </a:t>
            </a:r>
            <a:r>
              <a:rPr sz="1200" b="0" i="0">
                <a:solidFill>
                  <a:srgbClr val="333333"/>
                </a:solidFill>
                <a:latin typeface="Calibri"/>
              </a:rPr>
              <a:t>Message-Instantiation-Coverage.md; the three 'ASX Sample *.xml' workbooks (the ~33 instantiations, diff-able).</a:t>
            </a:r>
          </a:p>
          <a:p>
            <a:pPr>
              <a:spcBef>
                <a:spcPts val="200"/>
              </a:spcBef>
              <a:spcAft>
                <a:spcPts val="500"/>
              </a:spcAft>
            </a:pPr>
            <a:r>
              <a:rPr sz="1200" b="1" i="0">
                <a:solidFill>
                  <a:srgbClr val="1F3A5F"/>
                </a:solidFill>
                <a:latin typeface="Calibri"/>
              </a:rPr>
              <a:t>•  Initialization &amp; entity typing (P1/P2/P7):  </a:t>
            </a:r>
            <a:r>
              <a:rPr sz="1200" b="0" i="0">
                <a:solidFill>
                  <a:srgbClr val="333333"/>
                </a:solidFill>
                <a:latin typeface="Calibri"/>
              </a:rPr>
              <a:t>Initialization-Walk.md; log sec 5.</a:t>
            </a:r>
          </a:p>
          <a:p>
            <a:pPr>
              <a:spcBef>
                <a:spcPts val="200"/>
              </a:spcBef>
              <a:spcAft>
                <a:spcPts val="500"/>
              </a:spcAft>
            </a:pPr>
            <a:r>
              <a:rPr sz="1200" b="1" i="0">
                <a:solidFill>
                  <a:srgbClr val="1F3A5F"/>
                </a:solidFill>
                <a:latin typeface="Calibri"/>
              </a:rPr>
              <a:t>•  CASEVAC (X1/X2 -&gt; Q-G/Q-H):  </a:t>
            </a:r>
            <a:r>
              <a:rPr sz="1200" b="0" i="0">
                <a:solidFill>
                  <a:srgbClr val="333333"/>
                </a:solidFill>
                <a:latin typeface="Calibri"/>
              </a:rPr>
              <a:t>CASEVAC-Walk.md; log sec 6b.</a:t>
            </a:r>
          </a:p>
          <a:p>
            <a:pPr>
              <a:spcBef>
                <a:spcPts val="200"/>
              </a:spcBef>
              <a:spcAft>
                <a:spcPts val="500"/>
              </a:spcAft>
            </a:pPr>
            <a:r>
              <a:rPr sz="1200" b="1" i="0">
                <a:solidFill>
                  <a:srgbClr val="1F3A5F"/>
                </a:solidFill>
                <a:latin typeface="Calibri"/>
              </a:rPr>
              <a:t>•  Sensors &amp; swarm (Y / Z series):  </a:t>
            </a:r>
            <a:r>
              <a:rPr sz="1200" b="0" i="0">
                <a:solidFill>
                  <a:srgbClr val="333333"/>
                </a:solidFill>
                <a:latin typeface="Calibri"/>
              </a:rPr>
              <a:t>NonVideoSensors-Walk.md; Swarm-Walk.md; log sec 6c / 6d.</a:t>
            </a:r>
          </a:p>
          <a:p>
            <a:pPr>
              <a:spcBef>
                <a:spcPts val="200"/>
              </a:spcBef>
              <a:spcAft>
                <a:spcPts val="500"/>
              </a:spcAft>
            </a:pPr>
            <a:r>
              <a:rPr sz="1200" b="1" i="0">
                <a:solidFill>
                  <a:srgbClr val="1F3A5F"/>
                </a:solidFill>
                <a:latin typeface="Calibri"/>
              </a:rPr>
              <a:t>•  Task / effect &amp; engagement (W / L, Q-K/Q-L):  </a:t>
            </a:r>
            <a:r>
              <a:rPr sz="1200" b="0" i="0">
                <a:solidFill>
                  <a:srgbClr val="333333"/>
                </a:solidFill>
                <a:latin typeface="Calibri"/>
              </a:rPr>
              <a:t>FireSupport-Walk.md; TaskEffect-Batch-Walk.md; log sec 6e / 6f.</a:t>
            </a:r>
          </a:p>
          <a:p>
            <a:pPr>
              <a:spcBef>
                <a:spcPts val="200"/>
              </a:spcBef>
              <a:spcAft>
                <a:spcPts val="500"/>
              </a:spcAft>
            </a:pPr>
            <a:r>
              <a:rPr sz="1200" b="1" i="0">
                <a:solidFill>
                  <a:srgbClr val="1F3A5F"/>
                </a:solidFill>
                <a:latin typeface="Calibri"/>
              </a:rPr>
              <a:t>•  Sourced &amp; validation missions:  </a:t>
            </a:r>
            <a:r>
              <a:rPr sz="1200" b="0" i="0">
                <a:solidFill>
                  <a:srgbClr val="333333"/>
                </a:solidFill>
                <a:latin typeface="Calibri"/>
              </a:rPr>
              <a:t>SourcedScenarios-Walk.md; ValidationEvidence-Walk.md; Documents-Found.md; log sec 6h / 6j.</a:t>
            </a:r>
          </a:p>
          <a:p>
            <a:pPr>
              <a:spcBef>
                <a:spcPts val="200"/>
              </a:spcBef>
              <a:spcAft>
                <a:spcPts val="500"/>
              </a:spcAft>
            </a:pPr>
            <a:r>
              <a:rPr sz="1200" b="1" i="0">
                <a:solidFill>
                  <a:srgbClr val="1F3A5F"/>
                </a:solidFill>
                <a:latin typeface="Calibri"/>
              </a:rPr>
              <a:t>•  Redundancy screen (N1):  </a:t>
            </a:r>
            <a:r>
              <a:rPr sz="1200" b="0" i="0">
                <a:solidFill>
                  <a:srgbClr val="333333"/>
                </a:solidFill>
                <a:latin typeface="Calibri"/>
              </a:rPr>
              <a:t>RedundancyPass-Walk.md; log sec 6g.</a:t>
            </a:r>
          </a:p>
        </p:txBody>
      </p:sp>
      <p:sp>
        <p:nvSpPr>
          <p:cNvPr id="6" name="TextBox 5"/>
          <p:cNvSpPr txBox="1"/>
          <p:nvPr/>
        </p:nvSpPr>
        <p:spPr>
          <a:xfrm>
            <a:off x="502920" y="6419088"/>
            <a:ext cx="11155680" cy="320040"/>
          </a:xfrm>
          <a:prstGeom prst="rect">
            <a:avLst/>
          </a:prstGeom>
          <a:noFill/>
        </p:spPr>
        <p:txBody>
          <a:bodyPr wrap="square">
            <a:spAutoFit/>
          </a:bodyPr>
          <a:lstStyle/>
          <a:p>
            <a:r>
              <a:rPr sz="900" b="0" i="0">
                <a:solidFill>
                  <a:srgbClr val="666666"/>
                </a:solidFill>
                <a:latin typeface="Calibri"/>
              </a:rPr>
              <a:t>C2SIM ASX Sub-group   |   Hyssos   |   July 2026</a:t>
            </a:r>
          </a:p>
        </p:txBody>
      </p:sp>
      <p:sp>
        <p:nvSpPr>
          <p:cNvPr id="7" name="TextBox 6"/>
          <p:cNvSpPr txBox="1"/>
          <p:nvPr/>
        </p:nvSpPr>
        <p:spPr>
          <a:xfrm>
            <a:off x="11338560" y="6419088"/>
            <a:ext cx="640080" cy="320040"/>
          </a:xfrm>
          <a:prstGeom prst="rect">
            <a:avLst/>
          </a:prstGeom>
          <a:noFill/>
        </p:spPr>
        <p:txBody>
          <a:bodyPr wrap="square">
            <a:spAutoFit/>
          </a:bodyPr>
          <a:lstStyle/>
          <a:p>
            <a:pPr algn="r"/>
            <a:r>
              <a:rPr sz="900" b="0" i="0">
                <a:solidFill>
                  <a:srgbClr val="666666"/>
                </a:solidFill>
                <a:latin typeface="Calibri"/>
              </a:rPr>
              <a:t>28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