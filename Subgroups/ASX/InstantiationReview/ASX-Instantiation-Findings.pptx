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is: for each scenario, we tried to write the actual messages it needs, using C2SIM plus the proposed ASX elements. Where a message would not build cleanly, that is a concrete item to define. The review builds on the proposed extension and Elizabeth's sample-message work; everything in it is a proposal - nothing has been applied to the model or the workbooks.</a:t>
            </a:r>
          </a:p>
          <a:p>
            <a:r>
              <a:t>Time plan for a 30-minute slot: opening (slides 1-2) ~3 min; how it was produced + deliverables (3-4) ~4 min; where the instantiation stands (5-6) ~4 min; model state + the structural block (7-11) ~7 min; findings by theme (12-15) ~6 min; the decision register (16-19) ~4 min; close (20) ~1 min. Slides 21-23 are the reading guide - point at them, do not present them.</a:t>
            </a:r>
          </a:p>
          <a:p>
            <a:r>
              <a:t>If the slot is 20 minutes: slides 1-2, 4, 7-11, the decisions grouping (16), and next steps (20); everything else is handout material.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one-slide version of the talk. If discussion takes over later, this slide plus the decision register (slides 16-18) is the minimum to land. New since July: the three structural decisions are made (recorded 2026-10-14) and the model is v0.0.4 - so the structural block (slides 8-11) is now decided-state plus residual, and the ask is implementation.</a:t>
            </a:r>
          </a:p>
          <a:p>
            <a:r>
              <a:t>Grounding for the numbers: the counts are the coverage rows in log sec 6 (C1-C9). The re-adopt items were verified against the RDF, not recalled: WhoMeasuredType is in C2SIM's BML lineage; LOX carries 446 TaskActionCode verbs; ROE, routes, resources, and a neutral hostility value (smx#NEUTRL) exist in the base standard.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3-4, about 4 minutes.</a:t>
            </a:r>
          </a:p>
          <a:p>
            <a:r>
              <a:t>The method in one sentence (the dedicated method slide was dropped as familiar ground): write the messages each scenario actually needs; where an element is not yet defined enough to instantiate cleanly, that marks a concrete thing to specify next - not a defect. Scope note: the sample-message workbooks were converted to a diff-able .xml format so instantiations can be reviewed in git; the original .xlsx are untouched.</a:t>
            </a:r>
          </a:p>
          <a:p>
            <a:r>
              <a:t>Three coordinated sessions plus an independent check: document mining hunts primary mission documents; scenario extraction distills each into a standardized record with the locked v2.2 prompt; ontology application walks each scenario into concrete messages against the proposed elements. The verification pass then re-checked every RDF-grounded claim, the workbook fidelity, and the citations, with corrections logged (issues log change log, 2026-07-12).</a:t>
            </a:r>
          </a:p>
          <a:p>
            <a:r>
              <a:t>The stages iterate: the walk writes the sourcing brief (Documents-Needed), mining answers it (Documents-Found), extraction feeds the walk. Nothing rests on an LLM's memory - every claim is grounded in the RDF, the workbooks, or a named source, and was independently re-verified.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deliverables: ~34 new message instantiations in diff-able workbooks; a 15-record sourced scenario corpus; a findings log distilled into 24 decisions; a finding-by-finding reconciliation with v0.0.3 and v0.0.4 (plus the group's decisions); and the prior-art discoveries (BML WhoMeasuredType first among them). All proposal-only.</a:t>
            </a:r>
          </a:p>
          <a:p>
            <a:r>
              <a:t>This slide frames the rest of the talk: each later section shows where one of these deliverables came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5-6, about 4 minutes.</a:t>
            </a:r>
          </a:p>
          <a:p>
            <a:r>
              <a:t>The baseline was 4 worked instances (2 Reports, 2 Orders, 0 Initialization) - Elizabeth's sample-message workbooks. This review drafted ~34 more, to ~38: Initialization 0 -&gt; 7, Orders 2 -&gt; 17, Reports 2 -&gt; 14. The breadth - not any single message - is what surfaced the to-define items.</a:t>
            </a:r>
          </a:p>
          <a:p>
            <a:r>
              <a:t>CASEVAC, the one contributed (human-authored) scenario, had no messages; it is now walked end to end: Init -&gt; tasking Order -&gt; robot-to-robot hand-off -&gt; status / threat / explainable Reports.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named + contributed scenarios instantiated end to end; capability stress-tests (non-video sensors, swarm, task/effect); missions sourced from real documents by the parallel sourcing effort (Cooperative MCM, SubT, sustainment, plus nine documented missions that closed the validation holes); and a redundancy screen that still yielded one new finding (N1).</a:t>
            </a:r>
          </a:p>
          <a:p>
            <a:r>
              <a:t>The pedigree line matters: every gap the findings slides raise is grounded in a documented mission - the 15 sourced extraction records - and the validation pass turned the asserted-but-untested holes (explainability via DroneResponse, CBRN, EW geolocation, persistence via MDARS) into evidenced ones.</a:t>
            </a:r>
          </a:p>
          <a:p>
            <a:r>
              <a:t>Provenance, stated precisely: the MUTT-derived scenarios are LLM-generated; CASEVAC is human-authored; the sourced missions come from real papers - two carry fidelity caveats (EW and the robotic breach), noted in their extraction records.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7-11, about 7 minutes - the core of the talk.</a:t>
            </a:r>
          </a:p>
          <a:p>
            <a:r>
              <a:t>The outlook in one line: the OWL (v0.0.1, January) and the spreadsheets (June) evolved separately, so several findings look like drift rather than gaps; v0.0.3 (July) showed the model moving - first datatype properties, the Video Detection Report folded in, an AutonomyLevelCode model - and brought P1 concretely into the model by declaring both typing trees. v0.0.4 (August) starts reconciling the tracks from the OWL side: five spreadsheet attributes become properties, the autonomy facet lands on smx#Vehicle, Task gets a per-task autonomy level, the circular import is fixed, and the Concept Mapping workbook tracks per attribute what is done.</a:t>
            </a:r>
          </a:p>
          <a:p>
            <a:r>
              <a:t>The catch-up list is short and known: the rest of the attribute layer (Payload / Mobility / Swarm Parameters), stating the one autonomy vocabulary (nearly done), the sensor rework (P2 - direction decided, next section), and the wiring items (four new properties with no home, hasAutonomousRoleCode's range, Robot still in the XSD's ActorEntity choice). Everything else still to define - taskable collective (decided, not yet applied), generic Detection Report, rationale / robot-to-robot / area content, the typos (one fixed, three new) - appears on its own slide later. Full reconciliation: log sec 9 (v0.0.3) and sec 10 (v0.0.4 +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foundational decisions, all entity-typing: P1 - a UAV/UGV was typed two incompatible ways (ASX Robot tree vs SMX Platform tree); P2 - a sensor had no agreed representation (class vs enum vs equipment); P7 - a swarm was not taskable as modeled. The sub-group has decided all three: autonomy as a role/facet on the Platform subtree; sensors reworked on existing standards; the collective from CollectiveEntity.</a:t>
            </a:r>
          </a:p>
          <a:p>
            <a:r>
              <a:t>The point to land: the decisions are made, the OWL does not yet reflect them (v0.0.4 has P1's shape on the Vehicle side only). The next three slides take P1, P2, and P7 one at a time - each as decided state plus what remains to apply.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Robot class tree runs parallel to the existing SMX Platform tree, both under ActorEntity - two incompatible types for the same real drone. Type it as Robot and it loses the Platform machinery; type it as Aircraft or Vehicle and the ASX classes go unused.</a:t>
            </a:r>
          </a:p>
          <a:p>
            <a:r>
              <a:t>Decided by the sub-group: autonomy is a role/facet on the existing Platform subtree. v0.0.4 already has that shape on the Vehicle side - hasControlMode on smx#Vehicle, the four Unmanned*Vehicle classes under it - but the Robot/UAV/UGV tree is still declared (and still a fourth ActorEntity choice in the derived XSD; its maritime classes still sit under Vehicle rather than SurfaceVessel/SubsurfaceVessel). What remains is implementation: retire the Robot tree, pick Vehicle-vs-Platform for the facet, re-parent the maritime pair, and give the four floating v0.0.4 properties a domain on the subtree.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sensor has no agreed representation: an OWL Sensor class, a SensorType enum, and SensorCapability as associated equipment - three incompatible models of the same physical device (D2).</a:t>
            </a:r>
          </a:p>
          <a:p>
            <a:r>
              <a:t>Initialization is what forces the choice: an Init message must declare what a platform carries, so it has to pick one representation; the Report side only consumes sensor output (log P2). The same carried-equipment pattern returns in weapon / manipulator / cargo typing (W2/E2/L1 -&gt; Q-L) and in non-imaging sensor reports (Y1 -&gt; Q-I/Q-Q).</a:t>
            </a:r>
          </a:p>
          <a:p>
            <a:r>
              <a:t>Decided in direction by the sub-group: sensors are reworked on existing standards - which is what the sensor-characterization slice proposed (Curt's item). v0.0.4 only stakes placeholders: SensorTypeCode with no individuals, and hasSensorCapability typed by MediaTypeCode rather than SensorTypeCode. So the residual is the standards survey itself, then re-pointing the property; Q-Y (own extension or ASX section) is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swarm classes derive from the device/artifact side (PhysicalEntity), but orders are addressed to - and reports come from - an ActorEntity. The fix is already in the base standard: derive the collective from CollectiveEntity. Membership and command relations already exist (C2SIM hasSubordinate, SMX hasCommandRelation), so the residual swarm work is small.</a:t>
            </a:r>
          </a:p>
          <a:p>
            <a:r>
              <a:t>Decided by the sub-group: derive the collective/Swarm from CollectiveEntity. Current state: v0.0.3 dropped the Swarm class and v0.0.4 leaves the collective class under PhysicalEntity (its O1 misspelling is fixed in PR #9) - so this is the first thing to apply, and the cheapest: one re-parenting axiom. Membership and command relations already exist, so the residual swarm work after that is small (Q-J).</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12-15, about 6 minutes - one beat per theme: re-adopt, missing content types, missing typing, missing authority. Each slide's Dig deeper line names the walk docs and log sections with the full detail.</a:t>
            </a:r>
          </a:p>
          <a:p>
            <a:r>
              <a:t>Open the findings block with the good news, aggregated: the measurement report flagged as missing already exists in C2SIM's own BML lineage (WhoMeasuredType); LOX already carries 446 task verbs; effects, targets, ROE, resources, routes, phased planning, and position reporting all exist; membership and command relations exist; a neutral hostility value exists (smx#NEUTRL; an untyped NeutralSide individual too); and the capability-declaration pattern exists (WhoHoldingType). All verified in the RDF, not recalled.</a:t>
            </a:r>
          </a:p>
          <a:p>
            <a:r>
              <a:t>The framing to land: the gap list is shorter than it looks - a large share of the 24 decisions is re-adopt / where-to-hang, not invent.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content-type gaps, each named by every scenario that hit it rather than by the scenario that happened to surface it first. The generic detection report carries the most evidence - five sensor modalities converge on it. The rationale report and robot-to-robot coordination each carry two independent sources (CASEVAC plus a documented mission).</a:t>
            </a:r>
          </a:p>
          <a:p>
            <a:r>
              <a:t>Also from MUM-T: collective-task decomposition and report aggregation (Z1 -&gt; Q-J). The CASEVAC end-to-end story itself is on slides 5-6 and in CASEVAC-Walk.md - here it appears as two evidence citations (X1, X2).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typing gaps share one pattern: the model can name the action (the verbs exist) but not the thing - what is carried or wielded (Q-L), what a hybrid platform-munition is (Q-X), what subtype of platform (Q-R), or an area as the object of tasking (Q-M). Environment and formation attributes (Q-T/Q-U) round it out.</a:t>
            </a:r>
          </a:p>
          <a:p>
            <a:r>
              <a:t>This slide is the counterpart of the re-adopt slide: the verbs and order machinery exist; the typed nouns do not. The validation pass also supplied a concrete schema here: an area map with per-cell value + variance (Q-M/Q-Q).</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authority block: W1 is the safety-critical gap - the standard cannot express who authorized an engagement, or whether a FullAuto system may act unsupervised. AuthorizationHeader was checked: it is message-sender authentication, not command authorization of fires - so who-approved-the-engagement is part of the gap, not covered.</a:t>
            </a:r>
          </a:p>
          <a:p>
            <a:r>
              <a:t>The answer came from doctrine, not invention: the SME drone-warfare thread's LIRC scenario supplies a weapons-control status (hold/tight/free) plus the kill box - an authorization-bearing area gated by geography, a time window, a civilian-clearance state, and permitted target types (G14 -&gt; Q-W). It unifies engagement authority (Q-K) with area-as-subject (Q-M).</a:t>
            </a:r>
          </a:p>
          <a:p>
            <a:r>
              <a:t>Around it: on-the-loop supervision verbs (configure / suspend / acknowledge / override), the denied-comms operating mode + relay entity, and the decoy / threat-aware annotations.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16-19, about 4 minutes; the decision slides are presented as a grouping, not read row by row.</a:t>
            </a:r>
          </a:p>
          <a:p>
            <a:r>
              <a:t>Part 1 - structure, now decided: Q-A autonomy as a facet on the Platform subtree, Q-B the collective from CollectiveEntity, Q-C sensors reworked on existing standards; Q-D is settled in practice by v0.0.4 and only needs stating. These four settle the shape of the model; applying them in the OWL unblocks Initialization.</a:t>
            </a:r>
          </a:p>
          <a:p>
            <a:r>
              <a:t>The full text of all 24 decisions, each with what it resolves, is log sec 7 - present the grouping and point at the log rather than reading the register 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new content types, mostly report and order payloads: inline entity definition, media identity, robot-to-robot coordination, rationale reports, media-independent sensor readings, swarm residuals, engagement authority, payload/effector/weapon typing, area as subject.</a:t>
            </a:r>
          </a:p>
          <a:p>
            <a:r>
              <a:t>Each of these traces back to a walk finding on an earlier slide - the CASEVAC pair (Q-G, Q-H) and the sensor pair (Q-I with Q-Q) carry the most scenario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 decisions raised by the sourced scenarios: exploration goals, denied-comms relay, cross-cueing, the generic detection report, locomotion subtypes, decoy/deception, environment conditions, formation geometry, capability self-report, plus the SME drone-warfare thread - Q-W (weapons-control/kill-box engagement authority, the headline answer to W1) and Q-X (loitering-munition/counter-UAS typing).</a:t>
            </a:r>
          </a:p>
          <a:p>
            <a:r>
              <a:t>Several of these re-adopt existing vocabulary (search verbs, lox#COMREL, BML WhoHoldingType) rather than invent - the decision is where to hang the structure, not whether the words exist.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budget: slides 19-20, about 1 minute - the close.</a:t>
            </a:r>
          </a:p>
          <a:p>
            <a:r>
              <a:t>The same decisions, grouped by commitment level: safe corrections (typos, the UUIDBase slip) are unambiguous; the structural decisions are now made and need applying in the OWL; content types need design. Apart from the typo fixes (PR #9, pending merge), nothing has been applied to the model or the workbooks by this review - the structural items are the group's decisions, the rest are proposals pending buy-in.</a:t>
            </a:r>
          </a:p>
          <a:p>
            <a:r>
              <a:t>The M-series instantiation items fold in here and into the decisions: the typos and the UUIDBase slip (M7) are safe corrections; M1 and M2/M5 resolve via Q-E and Q-F. All cheapest to fix before messages are built on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recommended order now that the structural decisions are made: apply P7 (cheapest, one axiom), apply P1 (retire the Robot tree and home the new properties), run the sensor survey, merge the typo fixes (PR #9) and finish the attribute layer, then re-cut the Initialization tabs and add the two CASEVAC content types; optionally adopt the diff-able workbooks so message edits can be reviewed in git.</a:t>
            </a:r>
          </a:p>
          <a:p>
            <a:r>
              <a:t>Where the ball is: sourcing is essentially complete - every gap this review raised is grounded in a real mission (one nice-to-have left: a dedicated autonomous-CASEVAC mission). The structural decisions are made; the remaining work - applying them, the attribute layer, the ~20 content-type decisions - is modeling work; more scenarios will not fill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paths by time budget. The 5-minute path (Group-Briefing.md) is the default pointer for anyone who missed the meeting; the half-day path is for reviewers who want to challenge the evidence.</a:t>
            </a:r>
          </a:p>
          <a:p>
            <a:r>
              <a:t>Every ID on these slides resolves to exactly one log row - the decoder ring on the next slide maps each family.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ID family, what it names, and where it resolves. An unfamiliar ID in any document is a pointer, not jargon - each one lands on a definition, its evidence, and its current status.</a:t>
            </a:r>
          </a:p>
          <a:p>
            <a:r>
              <a:t>This slide plus the next one are the handout scaffolding: leave them with the group.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topic-to-doc map. Everything is on branch asx-diffable-spreadsheets: review docs in Subgroups/ASX/InstantiationReview, workbooks in Subgroups/ASX/Proposed Extension Working Materials. The .md files render directly on GitHub - switch branch and browse; no tooling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148840"/>
            <a:ext cx="12191695" cy="2286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31720"/>
            <a:ext cx="10698480" cy="1280160"/>
          </a:xfrm>
          <a:prstGeom prst="rect">
            <a:avLst/>
          </a:prstGeom>
          <a:noFill/>
        </p:spPr>
        <p:txBody>
          <a:bodyPr wrap="square">
            <a:spAutoFit/>
          </a:bodyPr>
          <a:lstStyle/>
          <a:p>
            <a:r>
              <a:rPr sz="3400" b="1" i="0">
                <a:solidFill>
                  <a:srgbClr val="FFFFFF"/>
                </a:solidFill>
                <a:latin typeface="Calibri"/>
              </a:rPr>
              <a:t>ASX Extension: Findings from Scenario Instantiation</a:t>
            </a:r>
          </a:p>
        </p:txBody>
      </p:sp>
      <p:sp>
        <p:nvSpPr>
          <p:cNvPr id="4" name="TextBox 3"/>
          <p:cNvSpPr txBox="1"/>
          <p:nvPr/>
        </p:nvSpPr>
        <p:spPr>
          <a:xfrm>
            <a:off x="731520" y="3429000"/>
            <a:ext cx="10698480" cy="640080"/>
          </a:xfrm>
          <a:prstGeom prst="rect">
            <a:avLst/>
          </a:prstGeom>
          <a:noFill/>
        </p:spPr>
        <p:txBody>
          <a:bodyPr wrap="square">
            <a:spAutoFit/>
          </a:bodyPr>
          <a:lstStyle/>
          <a:p>
            <a:r>
              <a:rPr sz="1700" b="0" i="0">
                <a:solidFill>
                  <a:srgbClr val="CFE0EA"/>
                </a:solidFill>
                <a:latin typeface="Calibri"/>
              </a:rPr>
              <a:t>Testing the proposed ontology elements by walking scenarios into real messages</a:t>
            </a:r>
          </a:p>
        </p:txBody>
      </p:sp>
      <p:sp>
        <p:nvSpPr>
          <p:cNvPr id="5" name="TextBox 4"/>
          <p:cNvSpPr txBox="1"/>
          <p:nvPr/>
        </p:nvSpPr>
        <p:spPr>
          <a:xfrm>
            <a:off x="731520" y="4709160"/>
            <a:ext cx="10698480" cy="457200"/>
          </a:xfrm>
          <a:prstGeom prst="rect">
            <a:avLst/>
          </a:prstGeom>
          <a:noFill/>
        </p:spPr>
        <p:txBody>
          <a:bodyPr wrap="square">
            <a:spAutoFit/>
          </a:bodyPr>
          <a:lstStyle/>
          <a:p>
            <a:r>
              <a:rPr sz="1300" b="0" i="0">
                <a:solidFill>
                  <a:srgbClr val="666666"/>
                </a:solidFill>
                <a:latin typeface="Calibri"/>
              </a:rPr>
              <a:t>C2SIM ASX Sub-group    -    Hyssos    -    October 2026 (v0.0.4 re-baseline; P1 / P2 / P7 decided)</a:t>
            </a:r>
          </a:p>
        </p:txBody>
      </p:sp>
      <p:sp>
        <p:nvSpPr>
          <p:cNvPr id="6" name="TextBox 5"/>
          <p:cNvSpPr txBox="1"/>
          <p:nvPr/>
        </p:nvSpPr>
        <p:spPr>
          <a:xfrm>
            <a:off x="731520" y="5257800"/>
            <a:ext cx="10698480" cy="457200"/>
          </a:xfrm>
          <a:prstGeom prst="rect">
            <a:avLst/>
          </a:prstGeom>
          <a:noFill/>
        </p:spPr>
        <p:txBody>
          <a:bodyPr wrap="square">
            <a:spAutoFit/>
          </a:bodyPr>
          <a:lstStyle/>
          <a:p>
            <a:r>
              <a:rPr sz="1150" b="0" i="1">
                <a:solidFill>
                  <a:srgbClr val="666666"/>
                </a:solidFill>
                <a:latin typeface="Calibri"/>
              </a:rPr>
              <a:t>Reading this outside the meeting: every slide carries speaker notes with the talk track; the last three slides are the reading guide.</a:t>
            </a:r>
          </a:p>
        </p:txBody>
      </p:sp>
      <p:sp>
        <p:nvSpPr>
          <p:cNvPr id="7" name="Rectangle 6"/>
          <p:cNvSpPr/>
          <p:nvPr/>
        </p:nvSpPr>
        <p:spPr>
          <a:xfrm>
            <a:off x="731520" y="2148840"/>
            <a:ext cx="2194560" cy="635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The whole review in one slide</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The 90-second version - everything after this is detail</a:t>
            </a:r>
          </a:p>
        </p:txBody>
      </p:sp>
      <p:sp>
        <p:nvSpPr>
          <p:cNvPr id="5" name="TextBox 4"/>
          <p:cNvSpPr txBox="1"/>
          <p:nvPr/>
        </p:nvSpPr>
        <p:spPr>
          <a:xfrm>
            <a:off x="640080" y="1463040"/>
            <a:ext cx="10972800" cy="4754880"/>
          </a:xfrm>
          <a:prstGeom prst="rect">
            <a:avLst/>
          </a:prstGeom>
          <a:noFill/>
        </p:spPr>
        <p:txBody>
          <a:bodyPr wrap="square">
            <a:spAutoFit/>
          </a:bodyPr>
          <a:lstStyle/>
          <a:p>
            <a:pPr>
              <a:spcBef>
                <a:spcPts val="200"/>
              </a:spcBef>
              <a:spcAft>
                <a:spcPts val="900"/>
              </a:spcAft>
            </a:pPr>
            <a:r>
              <a:rPr sz="1350" b="1" i="0">
                <a:solidFill>
                  <a:srgbClr val="1F3A5F"/>
                </a:solidFill>
                <a:latin typeface="Calibri"/>
              </a:rPr>
              <a:t>•  What was done:  </a:t>
            </a:r>
            <a:r>
              <a:rPr sz="1350" b="0" i="0">
                <a:solidFill>
                  <a:srgbClr val="333333"/>
                </a:solidFill>
                <a:latin typeface="Calibri"/>
              </a:rPr>
              <a:t>walked 20+ scenarios into ~34 new worked messages (4 -&gt; ~38) using C2SIM + the proposed ASX elements, in diff-able workbooks - Initialization 0 -&gt; 7, Orders 2 -&gt; 17, Reports 2 -&gt; 14.</a:t>
            </a:r>
          </a:p>
          <a:p>
            <a:pPr>
              <a:spcBef>
                <a:spcPts val="200"/>
              </a:spcBef>
              <a:spcAft>
                <a:spcPts val="900"/>
              </a:spcAft>
            </a:pPr>
            <a:r>
              <a:rPr sz="1350" b="1" i="0">
                <a:solidFill>
                  <a:srgbClr val="1F3A5F"/>
                </a:solidFill>
                <a:latin typeface="Calibri"/>
              </a:rPr>
              <a:t>•  What it surfaced:  </a:t>
            </a:r>
            <a:r>
              <a:rPr sz="1350" b="0" i="0">
                <a:solidFill>
                  <a:srgbClr val="333333"/>
                </a:solidFill>
                <a:latin typeface="Calibri"/>
              </a:rPr>
              <a:t>three structural typing decisions came first - UAV/robot typing (P1), sensor representation (P2), a taskable swarm (P7) - and behind them an attribute layer still being built (v0.0.1 had 0 datatype properties; v0.0.3 starts it, v0.0.4 adds five platform attributes).</a:t>
            </a:r>
          </a:p>
          <a:p>
            <a:pPr>
              <a:spcBef>
                <a:spcPts val="200"/>
              </a:spcBef>
              <a:spcAft>
                <a:spcPts val="900"/>
              </a:spcAft>
            </a:pPr>
            <a:r>
              <a:rPr sz="1350" b="1" i="0">
                <a:solidFill>
                  <a:srgbClr val="2E7D32"/>
                </a:solidFill>
                <a:latin typeface="Calibri"/>
              </a:rPr>
              <a:t>•  Decided since:  </a:t>
            </a:r>
            <a:r>
              <a:rPr sz="1350" b="0" i="0">
                <a:solidFill>
                  <a:srgbClr val="333333"/>
                </a:solidFill>
                <a:latin typeface="Calibri"/>
              </a:rPr>
              <a:t>the sub-group settled all three - autonomy is a role/facet on the existing Platform subtree (P1); the collective/Swarm derives from CollectiveEntity (P7); sensors are reworked on existing standards (P2). v0.0.4 carries P1's shape on the Vehicle side; P7 and the sensor rework are still to apply.</a:t>
            </a:r>
          </a:p>
          <a:p>
            <a:pPr>
              <a:spcBef>
                <a:spcPts val="200"/>
              </a:spcBef>
              <a:spcAft>
                <a:spcPts val="900"/>
              </a:spcAft>
            </a:pPr>
            <a:r>
              <a:rPr sz="1350" b="1" i="0">
                <a:solidFill>
                  <a:srgbClr val="2E7D32"/>
                </a:solidFill>
                <a:latin typeface="Calibri"/>
              </a:rPr>
              <a:t>•  The good news:  </a:t>
            </a:r>
            <a:r>
              <a:rPr sz="1350" b="0" i="0">
                <a:solidFill>
                  <a:srgbClr val="333333"/>
                </a:solidFill>
                <a:latin typeface="Calibri"/>
              </a:rPr>
              <a:t>much of what is missing is re-adopt, not invent - BML WhoMeasuredType for measurements, 446 LOX task verbs, ROE / routes / resources already in the base standard.</a:t>
            </a:r>
          </a:p>
          <a:p>
            <a:pPr>
              <a:spcBef>
                <a:spcPts val="200"/>
              </a:spcBef>
              <a:spcAft>
                <a:spcPts val="900"/>
              </a:spcAft>
            </a:pPr>
            <a:r>
              <a:rPr sz="1350" b="1" i="0">
                <a:solidFill>
                  <a:srgbClr val="2E869A"/>
                </a:solidFill>
                <a:latin typeface="Calibri"/>
              </a:rPr>
              <a:t>•  The ask:  </a:t>
            </a:r>
            <a:r>
              <a:rPr sz="1350" b="0" i="0">
                <a:solidFill>
                  <a:srgbClr val="333333"/>
                </a:solidFill>
                <a:latin typeface="Calibri"/>
              </a:rPr>
              <a:t>apply the three decided items in the OWL (P7, then P1, then the sensor survey), then the ~20 remaining content-type decisions (Q-E..Q-X, log sec 7).</a:t>
            </a:r>
          </a:p>
          <a:p>
            <a:pPr>
              <a:spcBef>
                <a:spcPts val="200"/>
              </a:spcBef>
              <a:spcAft>
                <a:spcPts val="900"/>
              </a:spcAft>
            </a:pPr>
            <a:r>
              <a:rPr sz="1350" b="1" i="0">
                <a:solidFill>
                  <a:srgbClr val="C87F0A"/>
                </a:solidFill>
                <a:latin typeface="Calibri"/>
              </a:rPr>
              <a:t>•  Status:  </a:t>
            </a:r>
            <a:r>
              <a:rPr sz="1350" b="0" i="0">
                <a:solidFill>
                  <a:srgbClr val="333333"/>
                </a:solidFill>
                <a:latin typeface="Calibri"/>
              </a:rPr>
              <a:t>everything is a proposal - nothing applied to the OWL or the .xlsx; every RDF-grounded claim was independently re-verified.</a:t>
            </a:r>
          </a:p>
        </p:txBody>
      </p:sp>
      <p:sp>
        <p:nvSpPr>
          <p:cNvPr id="6" name="TextBox 5"/>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Group-Briefing.md is the one-page prose version of this slide  -  log sec 10 (v0.0.4 + the decisions)</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How this was produced: three sessions + a verification pass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LLM-assisted, human-directed - each stage grounded in the artifacts, not memory</a:t>
            </a:r>
          </a:p>
        </p:txBody>
      </p:sp>
      <p:sp>
        <p:nvSpPr>
          <p:cNvPr id="5" name="Rounded Rectangle 4"/>
          <p:cNvSpPr/>
          <p:nvPr/>
        </p:nvSpPr>
        <p:spPr>
          <a:xfrm>
            <a:off x="640080" y="1737360"/>
            <a:ext cx="3383280" cy="15544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Calibri"/>
              </a:rPr>
              <a:t>1  -  Document mining
Hunt primary mission documents (theses, tech reports, AARs) for missing domains + validation holes</a:t>
            </a:r>
          </a:p>
        </p:txBody>
      </p:sp>
      <p:sp>
        <p:nvSpPr>
          <p:cNvPr id="6" name="Rounded Rectangle 5"/>
          <p:cNvSpPr/>
          <p:nvPr/>
        </p:nvSpPr>
        <p:spPr>
          <a:xfrm>
            <a:off x="4389120" y="1737360"/>
            <a:ext cx="3383280" cy="15544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Calibri"/>
              </a:rPr>
              <a:t>2  -  Scenario extraction
A locked v2.2 prompt distills each document into a standardized scenario record (15 records)</a:t>
            </a:r>
          </a:p>
        </p:txBody>
      </p:sp>
      <p:sp>
        <p:nvSpPr>
          <p:cNvPr id="7" name="Rounded Rectangle 6"/>
          <p:cNvSpPr/>
          <p:nvPr/>
        </p:nvSpPr>
        <p:spPr>
          <a:xfrm>
            <a:off x="8138160" y="1737360"/>
            <a:ext cx="3383280" cy="15544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Calibri"/>
              </a:rPr>
              <a:t>3  -  Ontology application
Walk each scenario into concrete Init / Order / Report messages using the proposed ASX elements</a:t>
            </a:r>
          </a:p>
        </p:txBody>
      </p:sp>
      <p:cxnSp>
        <p:nvCxnSpPr>
          <p:cNvPr id="8" name="Connector 7"/>
          <p:cNvCxnSpPr/>
          <p:nvPr/>
        </p:nvCxnSpPr>
        <p:spPr>
          <a:xfrm>
            <a:off x="4023360" y="2514600"/>
            <a:ext cx="365760" cy="0"/>
          </a:xfrm>
          <a:prstGeom prst="line">
            <a:avLst/>
          </a:prstGeom>
          <a:ln w="19050">
            <a:solidFill>
              <a:srgbClr val="2E869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2514600"/>
            <a:ext cx="365760" cy="0"/>
          </a:xfrm>
          <a:prstGeom prst="line">
            <a:avLst/>
          </a:prstGeom>
          <a:ln w="19050">
            <a:solidFill>
              <a:srgbClr val="2E869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3611880"/>
            <a:ext cx="10881360" cy="9601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4  -  Independent verification pass: every RDF-grounded claim re-checked against C2SIM / SMX / LOX and v0.0.3; workbooks re-compared cell-for-cell; citations traced; deck regenerated. Corrections logged (issues log, 2026-07-12).</a:t>
            </a:r>
          </a:p>
        </p:txBody>
      </p:sp>
      <p:sp>
        <p:nvSpPr>
          <p:cNvPr id="11" name="TextBox 10"/>
          <p:cNvSpPr txBox="1"/>
          <p:nvPr/>
        </p:nvSpPr>
        <p:spPr>
          <a:xfrm>
            <a:off x="640080" y="4800600"/>
            <a:ext cx="10972800" cy="1554480"/>
          </a:xfrm>
          <a:prstGeom prst="rect">
            <a:avLst/>
          </a:prstGeom>
          <a:noFill/>
        </p:spPr>
        <p:txBody>
          <a:bodyPr wrap="square">
            <a:spAutoFit/>
          </a:bodyPr>
          <a:lstStyle/>
          <a:p>
            <a:pPr>
              <a:spcBef>
                <a:spcPts val="200"/>
              </a:spcBef>
              <a:spcAft>
                <a:spcPts val="700"/>
              </a:spcAft>
            </a:pPr>
            <a:r>
              <a:rPr sz="1300" b="0" i="0">
                <a:solidFill>
                  <a:srgbClr val="333333"/>
                </a:solidFill>
                <a:latin typeface="Calibri"/>
              </a:rPr>
              <a:t>•  The loop iterates: the ontology walk (3) writes the sourcing brief (Documents-Needed), mining (1) answers it (Documents-Found), extraction (2) turns the finds into records, and the walk integrates them - until every raised gap is grounded in a real mission.</a:t>
            </a:r>
          </a:p>
          <a:p>
            <a:pPr>
              <a:spcBef>
                <a:spcPts val="200"/>
              </a:spcBef>
              <a:spcAft>
                <a:spcPts val="700"/>
              </a:spcAft>
            </a:pPr>
            <a:r>
              <a:rPr sz="1300" b="0" i="0">
                <a:solidFill>
                  <a:srgbClr val="666666"/>
                </a:solidFill>
                <a:latin typeface="Calibri"/>
              </a:rPr>
              <a:t>•  Artifacts per stage: References corpus + Documents-Needed/Found (1); PromptV2 + V2Extractions (2); the .xml workbooks, walk docs, and issues log (3).</a:t>
            </a:r>
          </a:p>
        </p:txBody>
      </p:sp>
      <p:sp>
        <p:nvSpPr>
          <p:cNvPr id="12" name="TextBox 11"/>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Documents-Needed/Found.md (mining)  -  PromptV2.md + V2-HeadToHead.md (extraction)  -  the walk docs (application)  -  log change-log 2026-07-12 (verification)</a:t>
            </a:r>
          </a:p>
        </p:txBody>
      </p:sp>
      <p:sp>
        <p:nvSpPr>
          <p:cNvPr id="13" name="TextBox 12"/>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14" name="TextBox 13"/>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What this review contributes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Five deliverables - all proposals, nothing applied to the OWL or the .xlsx</a:t>
            </a:r>
          </a:p>
        </p:txBody>
      </p:sp>
      <p:sp>
        <p:nvSpPr>
          <p:cNvPr id="5" name="TextBox 4"/>
          <p:cNvSpPr txBox="1"/>
          <p:nvPr/>
        </p:nvSpPr>
        <p:spPr>
          <a:xfrm>
            <a:off x="640080" y="1554480"/>
            <a:ext cx="10972800" cy="4754880"/>
          </a:xfrm>
          <a:prstGeom prst="rect">
            <a:avLst/>
          </a:prstGeom>
          <a:noFill/>
        </p:spPr>
        <p:txBody>
          <a:bodyPr wrap="square">
            <a:spAutoFit/>
          </a:bodyPr>
          <a:lstStyle/>
          <a:p>
            <a:pPr>
              <a:spcBef>
                <a:spcPts val="200"/>
              </a:spcBef>
              <a:spcAft>
                <a:spcPts val="1200"/>
              </a:spcAft>
            </a:pPr>
            <a:r>
              <a:rPr sz="1450" b="1" i="0">
                <a:solidFill>
                  <a:srgbClr val="1F3A5F"/>
                </a:solidFill>
                <a:latin typeface="Calibri"/>
              </a:rPr>
              <a:t>•  1  Message instantiations:  </a:t>
            </a:r>
            <a:r>
              <a:rPr sz="1450" b="0" i="0">
                <a:solidFill>
                  <a:srgbClr val="333333"/>
                </a:solidFill>
                <a:latin typeface="Calibri"/>
              </a:rPr>
              <a:t>~34 new worked messages (4 -&gt; ~38; Initialization 0 -&gt; 7) in diff-able .xml workbooks - one tab per message, with open items flagged [!]/[Q] in the Notes column, keyed to log IDs.</a:t>
            </a:r>
          </a:p>
          <a:p>
            <a:pPr>
              <a:spcBef>
                <a:spcPts val="200"/>
              </a:spcBef>
              <a:spcAft>
                <a:spcPts val="1200"/>
              </a:spcAft>
            </a:pPr>
            <a:r>
              <a:rPr sz="1450" b="1" i="0">
                <a:solidFill>
                  <a:srgbClr val="1F3A5F"/>
                </a:solidFill>
                <a:latin typeface="Calibri"/>
              </a:rPr>
              <a:t>•  2  Sourced scenario corpus:  </a:t>
            </a:r>
            <a:r>
              <a:rPr sz="1450" b="0" i="0">
                <a:solidFill>
                  <a:srgbClr val="333333"/>
                </a:solidFill>
                <a:latin typeface="Calibri"/>
              </a:rPr>
              <a:t>15 standardized extraction records from real missions (subterranean, maritime MCM, sustainment, explainability, CBRN, EW, persistence, counter-UAS, MUM-T, SAR, formation, breach, + the SME drone-warfare thread: LIRC baseline / update / OPFOR targeting) + the source PDFs - every gap this review raised is grounded in a documented mission.</a:t>
            </a:r>
          </a:p>
          <a:p>
            <a:pPr>
              <a:spcBef>
                <a:spcPts val="200"/>
              </a:spcBef>
              <a:spcAft>
                <a:spcPts val="1200"/>
              </a:spcAft>
            </a:pPr>
            <a:r>
              <a:rPr sz="1450" b="1" i="0">
                <a:solidFill>
                  <a:srgbClr val="1F3A5F"/>
                </a:solidFill>
                <a:latin typeface="Calibri"/>
              </a:rPr>
              <a:t>•  3  Findings -&gt; decisions:  </a:t>
            </a:r>
            <a:r>
              <a:rPr sz="1450" b="0" i="0">
                <a:solidFill>
                  <a:srgbClr val="333333"/>
                </a:solidFill>
                <a:latin typeface="Calibri"/>
              </a:rPr>
              <a:t>a consolidated issues log (severity / status / RDF-verified evidence per finding) distilled into 24 concrete decisions for the group (Q-A..Q-X).</a:t>
            </a:r>
          </a:p>
          <a:p>
            <a:pPr>
              <a:spcBef>
                <a:spcPts val="200"/>
              </a:spcBef>
              <a:spcAft>
                <a:spcPts val="1200"/>
              </a:spcAft>
            </a:pPr>
            <a:r>
              <a:rPr sz="1450" b="1" i="0">
                <a:solidFill>
                  <a:srgbClr val="1F3A5F"/>
                </a:solidFill>
                <a:latin typeface="Calibri"/>
              </a:rPr>
              <a:t>•  4  v0.0.3 / v0.0.4 reconciliation:  </a:t>
            </a:r>
            <a:r>
              <a:rPr sz="1450" b="0" i="0">
                <a:solidFill>
                  <a:srgbClr val="333333"/>
                </a:solidFill>
                <a:latin typeface="Calibri"/>
              </a:rPr>
              <a:t>how each finding moves against Michael's updates (log secs 9-10) - what they adopt, what they make concrete, what remains - and what the group's P1 / P7 / P2 decisions change (which findings close, the implementation order).</a:t>
            </a:r>
          </a:p>
          <a:p>
            <a:pPr>
              <a:spcBef>
                <a:spcPts val="200"/>
              </a:spcBef>
              <a:spcAft>
                <a:spcPts val="1200"/>
              </a:spcAft>
            </a:pPr>
            <a:r>
              <a:rPr sz="1450" b="1" i="0">
                <a:solidFill>
                  <a:srgbClr val="1F3A5F"/>
                </a:solidFill>
                <a:latin typeface="Calibri"/>
              </a:rPr>
              <a:t>•  5  Prior art to re-adopt:  </a:t>
            </a:r>
            <a:r>
              <a:rPr sz="1450" b="0" i="0">
                <a:solidFill>
                  <a:srgbClr val="333333"/>
                </a:solidFill>
                <a:latin typeface="Calibri"/>
              </a:rPr>
              <a:t>the measurement report exists in C2SIM's own BML lineage (WhoMeasuredType); ROE, routes, resources, membership/command, maritime vessels, and 446 task verbs already exist in the base standard - several decisions are re-adopt, not invent.</a:t>
            </a:r>
          </a:p>
        </p:txBody>
      </p:sp>
      <p:sp>
        <p:nvSpPr>
          <p:cNvPr id="6" name="TextBox 5"/>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the full artifact map is on the final three slides ('How to use this material' / decoder ring / 'Where to dig deeper')</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Where the instantiation stands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From 4 worked messages to ~38 - this review is the bulk of that</a:t>
            </a:r>
          </a:p>
        </p:txBody>
      </p:sp>
      <p:sp>
        <p:nvSpPr>
          <p:cNvPr id="5" name="TextBox 4"/>
          <p:cNvSpPr txBox="1"/>
          <p:nvPr/>
        </p:nvSpPr>
        <p:spPr>
          <a:xfrm>
            <a:off x="640080" y="1600200"/>
            <a:ext cx="10972800" cy="4754880"/>
          </a:xfrm>
          <a:prstGeom prst="rect">
            <a:avLst/>
          </a:prstGeom>
          <a:noFill/>
        </p:spPr>
        <p:txBody>
          <a:bodyPr wrap="square">
            <a:spAutoFit/>
          </a:bodyPr>
          <a:lstStyle/>
          <a:p>
            <a:pPr>
              <a:spcBef>
                <a:spcPts val="200"/>
              </a:spcBef>
              <a:spcAft>
                <a:spcPts val="900"/>
              </a:spcAft>
            </a:pPr>
            <a:r>
              <a:rPr sz="1500" b="1" i="0">
                <a:solidFill>
                  <a:srgbClr val="333333"/>
                </a:solidFill>
                <a:latin typeface="Calibri"/>
              </a:rPr>
              <a:t>•  Start: 4 worked instances (2 Reports, 2 Orders, 0 Initialization) - Elizabeth's baseline. This review drafted ~34 more, to ~38 across Init / Order / Report (on the branch, pending group review).</a:t>
            </a:r>
          </a:p>
          <a:p>
            <a:pPr lvl="1">
              <a:spcBef>
                <a:spcPts val="200"/>
              </a:spcBef>
              <a:spcAft>
                <a:spcPts val="900"/>
              </a:spcAft>
            </a:pPr>
            <a:r>
              <a:rPr sz="1500" b="0" i="0">
                <a:solidFill>
                  <a:srgbClr val="333333"/>
                </a:solidFill>
                <a:latin typeface="Calibri"/>
              </a:rPr>
              <a:t>–  Initialization   0 -&gt; 7   (the 3 named scenarios + CASEVAC / MCM / SubT / LIRC) - was the least-developed; now seeded.</a:t>
            </a:r>
          </a:p>
          <a:p>
            <a:pPr lvl="1">
              <a:spcBef>
                <a:spcPts val="200"/>
              </a:spcBef>
              <a:spcAft>
                <a:spcPts val="900"/>
              </a:spcAft>
            </a:pPr>
            <a:r>
              <a:rPr sz="1500" b="0" i="0">
                <a:solidFill>
                  <a:srgbClr val="333333"/>
                </a:solidFill>
                <a:latin typeface="Calibri"/>
              </a:rPr>
              <a:t>–  Orders   2 -&gt; 17   (CASEVAC, swarm, fire support, logistics / engineering / rescue, route clearance, MCM, explore, resupply, MUM-T, kill-box engagement, counter-UAS, OPFOR targeting).</a:t>
            </a:r>
          </a:p>
          <a:p>
            <a:pPr lvl="1">
              <a:spcBef>
                <a:spcPts val="200"/>
              </a:spcBef>
              <a:spcAft>
                <a:spcPts val="900"/>
              </a:spcAft>
            </a:pPr>
            <a:r>
              <a:rPr sz="1500" b="0" i="0">
                <a:solidFill>
                  <a:srgbClr val="333333"/>
                </a:solidFill>
                <a:latin typeface="Calibri"/>
              </a:rPr>
              <a:t>–  Reports   2 -&gt; 14   (swarm, CASEVAC status / explainable, CBRN / EW / GPR, BDA, delivery, naval mine, generic detection, hazard area, LIRC strike BDA).</a:t>
            </a:r>
          </a:p>
          <a:p>
            <a:pPr>
              <a:spcBef>
                <a:spcPts val="200"/>
              </a:spcBef>
              <a:spcAft>
                <a:spcPts val="900"/>
              </a:spcAft>
            </a:pPr>
            <a:r>
              <a:rPr sz="1500" b="1" i="0">
                <a:solidFill>
                  <a:srgbClr val="333333"/>
                </a:solidFill>
                <a:latin typeface="Calibri"/>
              </a:rPr>
              <a:t>•  CASEVAC - the one contributed scenario - had no messages; now walked end-to-end (Init + Orders + Reports).</a:t>
            </a:r>
          </a:p>
          <a:p>
            <a:pPr lvl="1">
              <a:spcBef>
                <a:spcPts val="200"/>
              </a:spcBef>
              <a:spcAft>
                <a:spcPts val="900"/>
              </a:spcAft>
            </a:pPr>
            <a:r>
              <a:rPr sz="1500" b="0" i="0">
                <a:solidFill>
                  <a:srgbClr val="333333"/>
                </a:solidFill>
                <a:latin typeface="Calibri"/>
              </a:rPr>
              <a:t>–  The breadth is the point: each new instance exercises a proposed element and surfaces what is still to define.</a:t>
            </a:r>
          </a:p>
        </p:txBody>
      </p:sp>
      <p:sp>
        <p:nvSpPr>
          <p:cNvPr id="6" name="TextBox 5"/>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Message-Instantiation-Coverage.md (the pre-walk baseline)  -  log sec 6 rows C1-C9 (current state)  -  the three ASX Sample *.xml workbooks (the messages themselves)</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Scenarios analyzed</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20+ scenarios walked into ~38 message instances - Init / Order / Report</a:t>
            </a:r>
          </a:p>
        </p:txBody>
      </p:sp>
      <p:sp>
        <p:nvSpPr>
          <p:cNvPr id="5" name="TextBox 4"/>
          <p:cNvSpPr txBox="1"/>
          <p:nvPr/>
        </p:nvSpPr>
        <p:spPr>
          <a:xfrm>
            <a:off x="640080" y="1554480"/>
            <a:ext cx="10972800" cy="4754880"/>
          </a:xfrm>
          <a:prstGeom prst="rect">
            <a:avLst/>
          </a:prstGeom>
          <a:noFill/>
        </p:spPr>
        <p:txBody>
          <a:bodyPr wrap="square">
            <a:spAutoFit/>
          </a:bodyPr>
          <a:lstStyle/>
          <a:p>
            <a:pPr>
              <a:spcBef>
                <a:spcPts val="200"/>
              </a:spcBef>
              <a:spcAft>
                <a:spcPts val="700"/>
              </a:spcAft>
            </a:pPr>
            <a:r>
              <a:rPr sz="1300" b="1" i="0">
                <a:solidFill>
                  <a:srgbClr val="333333"/>
                </a:solidFill>
                <a:latin typeface="Calibri"/>
              </a:rPr>
              <a:t>•  Named + contributed - instantiated end-to-end:</a:t>
            </a:r>
          </a:p>
          <a:p>
            <a:pPr lvl="1">
              <a:spcBef>
                <a:spcPts val="200"/>
              </a:spcBef>
              <a:spcAft>
                <a:spcPts val="700"/>
              </a:spcAft>
            </a:pPr>
            <a:r>
              <a:rPr sz="1300" b="0" i="0">
                <a:solidFill>
                  <a:srgbClr val="333333"/>
                </a:solidFill>
                <a:latin typeface="Calibri"/>
              </a:rPr>
              <a:t>–  the 3 named Init scenarios (UAV video, UAV patrol, swarm) + CASEVAC, the one human-authored contributed scenario - walked Init -&gt; tasking Order -&gt; robot-to-robot hand-off -&gt; status/threat + explainable Reports.</a:t>
            </a:r>
          </a:p>
          <a:p>
            <a:pPr>
              <a:spcBef>
                <a:spcPts val="200"/>
              </a:spcBef>
              <a:spcAft>
                <a:spcPts val="700"/>
              </a:spcAft>
            </a:pPr>
            <a:r>
              <a:rPr sz="1300" b="1" i="0">
                <a:solidFill>
                  <a:srgbClr val="333333"/>
                </a:solidFill>
                <a:latin typeface="Calibri"/>
              </a:rPr>
              <a:t>•  Capability stress-tests - instantiated:</a:t>
            </a:r>
          </a:p>
          <a:p>
            <a:pPr lvl="1">
              <a:spcBef>
                <a:spcPts val="200"/>
              </a:spcBef>
              <a:spcAft>
                <a:spcPts val="700"/>
              </a:spcAft>
            </a:pPr>
            <a:r>
              <a:rPr sz="1300" b="0" i="0">
                <a:solidFill>
                  <a:srgbClr val="333333"/>
                </a:solidFill>
                <a:latin typeface="Calibri"/>
              </a:rPr>
              <a:t>–  non-video sensing (CBRN, EW emitter, GPR mine); swarm detect + coordinate; the task/effect axis (fire support + BDA, logistics delivery, engineering, USV rescue, route clearance).</a:t>
            </a:r>
          </a:p>
          <a:p>
            <a:pPr>
              <a:spcBef>
                <a:spcPts val="200"/>
              </a:spcBef>
              <a:spcAft>
                <a:spcPts val="700"/>
              </a:spcAft>
            </a:pPr>
            <a:r>
              <a:rPr sz="1300" b="1" i="0">
                <a:solidFill>
                  <a:srgbClr val="333333"/>
                </a:solidFill>
                <a:latin typeface="Calibri"/>
              </a:rPr>
              <a:t>•  Newly sourced from real missions, then analyzed:</a:t>
            </a:r>
          </a:p>
          <a:p>
            <a:pPr lvl="1">
              <a:spcBef>
                <a:spcPts val="200"/>
              </a:spcBef>
              <a:spcAft>
                <a:spcPts val="700"/>
              </a:spcAft>
            </a:pPr>
            <a:r>
              <a:rPr sz="1300" b="0" i="0">
                <a:solidFill>
                  <a:srgbClr val="333333"/>
                </a:solidFill>
                <a:latin typeface="Calibri"/>
              </a:rPr>
              <a:t>–  Cooperative MCM (maritime), Subterranean SubT, contested sustainment - plus nine documented missions that grounded the validation holes: explainability (DroneResponse), CBRN (UGV), EW geolocation, persistence (MDARS), counter-UAS, human-machine teaming (MUM-T), SAR, formation, robotic breach.</a:t>
            </a:r>
          </a:p>
          <a:p>
            <a:pPr>
              <a:spcBef>
                <a:spcPts val="200"/>
              </a:spcBef>
              <a:spcAft>
                <a:spcPts val="700"/>
              </a:spcAft>
            </a:pPr>
            <a:r>
              <a:rPr sz="1300" b="1" i="0">
                <a:solidFill>
                  <a:srgbClr val="333333"/>
                </a:solidFill>
                <a:latin typeface="Calibri"/>
              </a:rPr>
              <a:t>•  Screened for redundancy:</a:t>
            </a:r>
          </a:p>
          <a:p>
            <a:pPr lvl="1">
              <a:spcBef>
                <a:spcPts val="200"/>
              </a:spcBef>
              <a:spcAft>
                <a:spcPts val="700"/>
              </a:spcAft>
            </a:pPr>
            <a:r>
              <a:rPr sz="1300" b="0" i="0">
                <a:solidFill>
                  <a:srgbClr val="333333"/>
                </a:solidFill>
                <a:latin typeface="Calibri"/>
              </a:rPr>
              <a:t>–  route-clearance / companion / urban - confirmed ~80% redundant, but still yielded N1 (an area as the subject of a task/report).</a:t>
            </a:r>
          </a:p>
          <a:p>
            <a:pPr>
              <a:spcBef>
                <a:spcPts val="200"/>
              </a:spcBef>
              <a:spcAft>
                <a:spcPts val="700"/>
              </a:spcAft>
            </a:pPr>
            <a:r>
              <a:rPr sz="1300" b="1" i="0">
                <a:solidFill>
                  <a:srgbClr val="2E7D32"/>
                </a:solidFill>
                <a:latin typeface="Calibri"/>
              </a:rPr>
              <a:t>•  Evidence pedigree:  </a:t>
            </a:r>
            <a:r>
              <a:rPr sz="1300" b="0" i="0">
                <a:solidFill>
                  <a:srgbClr val="333333"/>
                </a:solidFill>
                <a:latin typeface="Calibri"/>
              </a:rPr>
              <a:t>every gap raised is grounded in a documented real mission - 15 sourced extraction records; the validation pass closed the asserted-but-untested holes (explainability, CBRN, EW, persistence).</a:t>
            </a:r>
          </a:p>
        </p:txBody>
      </p:sp>
      <p:sp>
        <p:nvSpPr>
          <p:cNvPr id="6" name="TextBox 5"/>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one walk doc per scenario family (see final slide)  -  the 15 sourced records: LLMExperiments/PaperSummaries/V2Extractions/  -  ValidationEvidence-Walk.md</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Where the model stands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Two tracks converging on one early model - moving, with a known catch-up list</a:t>
            </a:r>
          </a:p>
        </p:txBody>
      </p:sp>
      <p:sp>
        <p:nvSpPr>
          <p:cNvPr id="5" name="Rounded Rectangle 4"/>
          <p:cNvSpPr/>
          <p:nvPr/>
        </p:nvSpPr>
        <p:spPr>
          <a:xfrm>
            <a:off x="640080" y="1600200"/>
            <a:ext cx="2560320" cy="132588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OWL v0.0.1  (Jan 2026)
15 classes, 1 object prop,
0 datatype props</a:t>
            </a:r>
          </a:p>
        </p:txBody>
      </p:sp>
      <p:sp>
        <p:nvSpPr>
          <p:cNvPr id="6" name="Rounded Rectangle 5"/>
          <p:cNvSpPr/>
          <p:nvPr/>
        </p:nvSpPr>
        <p:spPr>
          <a:xfrm>
            <a:off x="3520440" y="1600200"/>
            <a:ext cx="2560320" cy="1325880"/>
          </a:xfrm>
          <a:prstGeom prst="round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Spreadsheets  (Feb-Jun)
the attribute layer: Payload,
Mobility, VehicleType, ...</a:t>
            </a:r>
          </a:p>
        </p:txBody>
      </p:sp>
      <p:sp>
        <p:nvSpPr>
          <p:cNvPr id="7" name="Rounded Rectangle 6"/>
          <p:cNvSpPr/>
          <p:nvPr/>
        </p:nvSpPr>
        <p:spPr>
          <a:xfrm>
            <a:off x="6400800" y="1600200"/>
            <a:ext cx="2560320" cy="13258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OWL v0.0.3  (Jul, Michael)
first datatype props, Video
Detection Report, AutonomyLevelCode</a:t>
            </a:r>
          </a:p>
        </p:txBody>
      </p:sp>
      <p:sp>
        <p:nvSpPr>
          <p:cNvPr id="8" name="Rounded Rectangle 7"/>
          <p:cNvSpPr/>
          <p:nvPr/>
        </p:nvSpPr>
        <p:spPr>
          <a:xfrm>
            <a:off x="9281160" y="1600200"/>
            <a:ext cx="2560320" cy="13258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OWL v0.0.4  (Aug, Michael)
5 spreadsheet attributes in; autonomy
facet on Vehicle; per-task level</a:t>
            </a:r>
          </a:p>
        </p:txBody>
      </p:sp>
      <p:cxnSp>
        <p:nvCxnSpPr>
          <p:cNvPr id="9" name="Connector 8"/>
          <p:cNvCxnSpPr/>
          <p:nvPr/>
        </p:nvCxnSpPr>
        <p:spPr>
          <a:xfrm>
            <a:off x="3200400" y="2240280"/>
            <a:ext cx="320040" cy="0"/>
          </a:xfrm>
          <a:prstGeom prst="line">
            <a:avLst/>
          </a:prstGeom>
          <a:ln w="19050">
            <a:solidFill>
              <a:srgbClr val="C87F0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0760" y="2240280"/>
            <a:ext cx="320040" cy="0"/>
          </a:xfrm>
          <a:prstGeom prst="line">
            <a:avLst/>
          </a:prstGeom>
          <a:ln w="1905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61120" y="2240280"/>
            <a:ext cx="320040" cy="0"/>
          </a:xfrm>
          <a:prstGeom prst="line">
            <a:avLst/>
          </a:prstGeom>
          <a:ln w="19050">
            <a:solidFill>
              <a:srgbClr val="2E7D3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108960"/>
            <a:ext cx="10972800" cy="3246120"/>
          </a:xfrm>
          <a:prstGeom prst="rect">
            <a:avLst/>
          </a:prstGeom>
          <a:noFill/>
        </p:spPr>
        <p:txBody>
          <a:bodyPr wrap="square">
            <a:spAutoFit/>
          </a:bodyPr>
          <a:lstStyle/>
          <a:p>
            <a:pPr>
              <a:spcBef>
                <a:spcPts val="200"/>
              </a:spcBef>
              <a:spcAft>
                <a:spcPts val="700"/>
              </a:spcAft>
            </a:pPr>
            <a:r>
              <a:rPr sz="1250" b="1" i="0">
                <a:solidFill>
                  <a:srgbClr val="2E7D32"/>
                </a:solidFill>
                <a:latin typeface="Calibri"/>
              </a:rPr>
              <a:t>•  Outlook:  </a:t>
            </a:r>
            <a:r>
              <a:rPr sz="1250" b="0" i="0">
                <a:solidFill>
                  <a:srgbClr val="333333"/>
                </a:solidFill>
                <a:latin typeface="Calibri"/>
              </a:rPr>
              <a:t>an early (v0.0.x) model whose two tracks evolved separately for ~5 months - expected. v0.0.3 put the key typing choice (P1) concretely in the model; v0.0.4 starts reconciling from the OWL side (the Concept Mapping now tracks per attribute what is done in 0.0.4) and fixes July's circular import.</a:t>
            </a:r>
          </a:p>
          <a:p>
            <a:pPr>
              <a:spcBef>
                <a:spcPts val="200"/>
              </a:spcBef>
              <a:spcAft>
                <a:spcPts val="700"/>
              </a:spcAft>
            </a:pPr>
            <a:r>
              <a:rPr sz="1250" b="1" i="0">
                <a:solidFill>
                  <a:srgbClr val="C87F0A"/>
                </a:solidFill>
                <a:latin typeface="Calibri"/>
              </a:rPr>
              <a:t>•  Catching up - attribute layer:  </a:t>
            </a:r>
            <a:r>
              <a:rPr sz="1250" b="0" i="0">
                <a:solidFill>
                  <a:srgbClr val="333333"/>
                </a:solidFill>
                <a:latin typeface="Calibri"/>
              </a:rPr>
              <a:t>v0.0.4 brings in Control Mode, SensorCapability, AutonomousMissionFunction, Autonomous Parameters, PassengerCapability + three empty code lists (SensorType / VehicleType / AlgorithmType); still absent: Payload, PayloadCapability, Mobility/Propulsion, Swarm Parameters (D3).</a:t>
            </a:r>
          </a:p>
          <a:p>
            <a:pPr>
              <a:spcBef>
                <a:spcPts val="200"/>
              </a:spcBef>
              <a:spcAft>
                <a:spcPts val="700"/>
              </a:spcAft>
            </a:pPr>
            <a:r>
              <a:rPr sz="1250" b="1" i="0">
                <a:solidFill>
                  <a:srgbClr val="2E7D32"/>
                </a:solidFill>
                <a:latin typeface="Calibri"/>
              </a:rPr>
              <a:t>•  Nearly done - one autonomy vocabulary:  </a:t>
            </a:r>
            <a:r>
              <a:rPr sz="1250" b="0" i="0">
                <a:solidFill>
                  <a:srgbClr val="333333"/>
                </a:solidFill>
                <a:latin typeface="Calibri"/>
              </a:rPr>
              <a:t>v0.0.4 values both hasControlMode (on smx#Vehicle) and hasAutonomyLevelCode (on Task) from the OWL's AutonomyLevelCode; the workbook marks NavigationAutonomy as covered - Q-D only needs stating (D1).</a:t>
            </a:r>
          </a:p>
          <a:p>
            <a:pPr>
              <a:spcBef>
                <a:spcPts val="200"/>
              </a:spcBef>
              <a:spcAft>
                <a:spcPts val="700"/>
              </a:spcAft>
            </a:pPr>
            <a:r>
              <a:rPr sz="1250" b="1" i="0">
                <a:solidFill>
                  <a:srgbClr val="C87F0A"/>
                </a:solidFill>
                <a:latin typeface="Calibri"/>
              </a:rPr>
              <a:t>•  Catching up - one sensor model:  </a:t>
            </a:r>
            <a:r>
              <a:rPr sz="1250" b="0" i="0">
                <a:solidFill>
                  <a:srgbClr val="333333"/>
                </a:solidFill>
                <a:latin typeface="Calibri"/>
              </a:rPr>
              <a:t>still three - Sensor class vs SensorType enum vs SensorCapability equipment (D2); v0.0.4 adds placeholders only (empty SensorTypeCode; hasSensorCapability typed by media format). Direction now decided: P2, next section.</a:t>
            </a:r>
          </a:p>
          <a:p>
            <a:pPr>
              <a:spcBef>
                <a:spcPts val="200"/>
              </a:spcBef>
              <a:spcAft>
                <a:spcPts val="700"/>
              </a:spcAft>
            </a:pPr>
            <a:r>
              <a:rPr sz="1250" b="1" i="0">
                <a:solidFill>
                  <a:srgbClr val="666666"/>
                </a:solidFill>
                <a:latin typeface="Calibri"/>
              </a:rPr>
              <a:t>•  Wiring to settle deliberately:  </a:t>
            </a:r>
            <a:r>
              <a:rPr sz="1250" b="0" i="0">
                <a:solidFill>
                  <a:srgbClr val="333333"/>
                </a:solidFill>
                <a:latin typeface="Calibri"/>
              </a:rPr>
              <a:t>four of the six new properties have no attachment point (V2) and hasAutonomousRoleCode still ranges over generic Code (P3); the derived XSD still offers Robot beside Platform as an ActorEntity (V5).</a:t>
            </a:r>
          </a:p>
        </p:txBody>
      </p:sp>
      <p:sp>
        <p:nvSpPr>
          <p:cNvPr id="13" name="TextBox 12"/>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log secs 1-2 (S2, D1-D5)  -  sec 9 (v0.0.3) + sec 10 (v0.0.4 + decisions, incl. V2-V6)  -  Ontology/C2SIM_ASX-v004.rdf on branch michael_d</a:t>
            </a:r>
          </a:p>
        </p:txBody>
      </p:sp>
      <p:sp>
        <p:nvSpPr>
          <p:cNvPr id="14" name="TextBox 13"/>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15" name="TextBox 14"/>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The three structural typing decisions - now decided</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Settled by the sub-group (recorded 2026-10-14); what remains is applying them in the OWL</a:t>
            </a:r>
          </a:p>
        </p:txBody>
      </p:sp>
      <p:sp>
        <p:nvSpPr>
          <p:cNvPr id="5" name="Rounded Rectangle 4"/>
          <p:cNvSpPr/>
          <p:nvPr/>
        </p:nvSpPr>
        <p:spPr>
          <a:xfrm>
            <a:off x="731520" y="1828800"/>
            <a:ext cx="3474720" cy="20116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P1  -  DECIDED
autonomy = a role/facet on
the existing Platform subtree</a:t>
            </a:r>
          </a:p>
        </p:txBody>
      </p:sp>
      <p:sp>
        <p:nvSpPr>
          <p:cNvPr id="6" name="Rounded Rectangle 5"/>
          <p:cNvSpPr/>
          <p:nvPr/>
        </p:nvSpPr>
        <p:spPr>
          <a:xfrm>
            <a:off x="4434840" y="1828800"/>
            <a:ext cx="3474720" cy="20116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P2  -  DIRECTION DECIDED
sensors reworked on
existing standards</a:t>
            </a:r>
          </a:p>
        </p:txBody>
      </p:sp>
      <p:sp>
        <p:nvSpPr>
          <p:cNvPr id="7" name="Rounded Rectangle 6"/>
          <p:cNvSpPr/>
          <p:nvPr/>
        </p:nvSpPr>
        <p:spPr>
          <a:xfrm>
            <a:off x="8138160" y="1828800"/>
            <a:ext cx="3337560" cy="20116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P7  -  DECIDED
collective / Swarm derives
from CollectiveEntity</a:t>
            </a:r>
          </a:p>
        </p:txBody>
      </p:sp>
      <p:sp>
        <p:nvSpPr>
          <p:cNvPr id="8" name="TextBox 7"/>
          <p:cNvSpPr txBox="1"/>
          <p:nvPr/>
        </p:nvSpPr>
        <p:spPr>
          <a:xfrm>
            <a:off x="640080" y="4206240"/>
            <a:ext cx="10972800" cy="2148840"/>
          </a:xfrm>
          <a:prstGeom prst="rect">
            <a:avLst/>
          </a:prstGeom>
          <a:noFill/>
        </p:spPr>
        <p:txBody>
          <a:bodyPr wrap="square">
            <a:spAutoFit/>
          </a:bodyPr>
          <a:lstStyle/>
          <a:p>
            <a:pPr>
              <a:spcBef>
                <a:spcPts val="200"/>
              </a:spcBef>
              <a:spcAft>
                <a:spcPts val="800"/>
              </a:spcAft>
            </a:pPr>
            <a:r>
              <a:rPr sz="1500" b="1" i="0">
                <a:solidFill>
                  <a:srgbClr val="333333"/>
                </a:solidFill>
                <a:latin typeface="Calibri"/>
              </a:rPr>
              <a:t>•  P1 and P7 are entity-typing (what a drone / a swarm IS); P2 is how a sensor is represented. They were the structural choices Initialization could not be built without - and they are now made.</a:t>
            </a:r>
          </a:p>
          <a:p>
            <a:pPr>
              <a:spcBef>
                <a:spcPts val="200"/>
              </a:spcBef>
              <a:spcAft>
                <a:spcPts val="800"/>
              </a:spcAft>
            </a:pPr>
            <a:r>
              <a:rPr sz="1500" b="1" i="0">
                <a:solidFill>
                  <a:srgbClr val="C87F0A"/>
                </a:solidFill>
                <a:latin typeface="Calibri"/>
              </a:rPr>
              <a:t>•  Where v0.0.4 stands against them:  </a:t>
            </a:r>
            <a:r>
              <a:rPr sz="1500" b="0" i="0">
                <a:solidFill>
                  <a:srgbClr val="333333"/>
                </a:solidFill>
                <a:latin typeface="Calibri"/>
              </a:rPr>
              <a:t>P1 half-applied (the facet exists on smx#Vehicle; the Robot tree is still declared); P7 not yet applied; P2 placeholders only. The next three slides show each decision and its residual.</a:t>
            </a:r>
          </a:p>
        </p:txBody>
      </p:sp>
      <p:sp>
        <p:nvSpPr>
          <p:cNvPr id="9" name="TextBox 8"/>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Initialization-Walk.md  -  log sec 5 (P-series) + sec 10 (decisions + residuals)</a:t>
            </a:r>
          </a:p>
        </p:txBody>
      </p:sp>
      <p:sp>
        <p:nvSpPr>
          <p:cNvPr id="10" name="TextBox 9"/>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11" name="TextBox 10"/>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P1  -  A UAV is typed twice</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Entity-typing decision</a:t>
            </a:r>
          </a:p>
        </p:txBody>
      </p:sp>
      <p:sp>
        <p:nvSpPr>
          <p:cNvPr id="5" name="Rounded Rectangle 4"/>
          <p:cNvSpPr/>
          <p:nvPr/>
        </p:nvSpPr>
        <p:spPr>
          <a:xfrm>
            <a:off x="4754880" y="1554480"/>
            <a:ext cx="2743200" cy="68580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ActorEntity</a:t>
            </a:r>
          </a:p>
        </p:txBody>
      </p:sp>
      <p:sp>
        <p:nvSpPr>
          <p:cNvPr id="6" name="Rounded Rectangle 5"/>
          <p:cNvSpPr/>
          <p:nvPr/>
        </p:nvSpPr>
        <p:spPr>
          <a:xfrm>
            <a:off x="2194560" y="2743200"/>
            <a:ext cx="2743200" cy="685800"/>
          </a:xfrm>
          <a:prstGeom prst="round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Platform  (SMX)</a:t>
            </a:r>
          </a:p>
        </p:txBody>
      </p:sp>
      <p:sp>
        <p:nvSpPr>
          <p:cNvPr id="7" name="Rounded Rectangle 6"/>
          <p:cNvSpPr/>
          <p:nvPr/>
        </p:nvSpPr>
        <p:spPr>
          <a:xfrm>
            <a:off x="2194560" y="3840480"/>
            <a:ext cx="2743200" cy="685800"/>
          </a:xfrm>
          <a:prstGeom prst="round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Aircraft  (SMX)</a:t>
            </a:r>
          </a:p>
        </p:txBody>
      </p:sp>
      <p:sp>
        <p:nvSpPr>
          <p:cNvPr id="8" name="Rounded Rectangle 7"/>
          <p:cNvSpPr/>
          <p:nvPr/>
        </p:nvSpPr>
        <p:spPr>
          <a:xfrm>
            <a:off x="7315200" y="2743200"/>
            <a:ext cx="2743200" cy="68580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Robot  (ASX)</a:t>
            </a:r>
          </a:p>
        </p:txBody>
      </p:sp>
      <p:sp>
        <p:nvSpPr>
          <p:cNvPr id="9" name="Rounded Rectangle 8"/>
          <p:cNvSpPr/>
          <p:nvPr/>
        </p:nvSpPr>
        <p:spPr>
          <a:xfrm>
            <a:off x="7315200" y="3840480"/>
            <a:ext cx="2743200" cy="68580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UAV  (ASX)</a:t>
            </a:r>
          </a:p>
        </p:txBody>
      </p:sp>
      <p:cxnSp>
        <p:nvCxnSpPr>
          <p:cNvPr id="10" name="Connector 9"/>
          <p:cNvCxnSpPr/>
          <p:nvPr/>
        </p:nvCxnSpPr>
        <p:spPr>
          <a:xfrm flipH="1">
            <a:off x="3566160" y="2240280"/>
            <a:ext cx="2103120" cy="50292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66160" y="3429000"/>
            <a:ext cx="0" cy="41148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2240280"/>
            <a:ext cx="2103120" cy="50292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86800" y="3429000"/>
            <a:ext cx="0" cy="41148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4572000"/>
            <a:ext cx="10972800" cy="1783080"/>
          </a:xfrm>
          <a:prstGeom prst="rect">
            <a:avLst/>
          </a:prstGeom>
          <a:noFill/>
        </p:spPr>
        <p:txBody>
          <a:bodyPr wrap="square">
            <a:spAutoFit/>
          </a:bodyPr>
          <a:lstStyle/>
          <a:p>
            <a:pPr>
              <a:spcBef>
                <a:spcPts val="200"/>
              </a:spcBef>
              <a:spcAft>
                <a:spcPts val="300"/>
              </a:spcAft>
            </a:pPr>
            <a:r>
              <a:rPr sz="1150" b="0" i="0">
                <a:solidFill>
                  <a:srgbClr val="333333"/>
                </a:solidFill>
                <a:latin typeface="Calibri"/>
              </a:rPr>
              <a:t>•  Two parallel sibling trees under ActorEntity model the same real drone.</a:t>
            </a:r>
          </a:p>
          <a:p>
            <a:pPr lvl="1">
              <a:spcBef>
                <a:spcPts val="200"/>
              </a:spcBef>
              <a:spcAft>
                <a:spcPts val="300"/>
              </a:spcAft>
            </a:pPr>
            <a:r>
              <a:rPr sz="1150" b="0" i="0">
                <a:solidFill>
                  <a:srgbClr val="333333"/>
                </a:solidFill>
                <a:latin typeface="Calibri"/>
              </a:rPr>
              <a:t>–  Type it as Robot and it loses all existing SMX Platform / LOX machinery; type it as Aircraft and the ASX Robot / UAV classes go unused.</a:t>
            </a:r>
          </a:p>
          <a:p>
            <a:pPr>
              <a:spcBef>
                <a:spcPts val="200"/>
              </a:spcBef>
              <a:spcAft>
                <a:spcPts val="300"/>
              </a:spcAft>
            </a:pPr>
            <a:r>
              <a:rPr sz="1150" b="1" i="0">
                <a:solidFill>
                  <a:srgbClr val="2E7D32"/>
                </a:solidFill>
                <a:latin typeface="Calibri"/>
              </a:rPr>
              <a:t>•  DECIDED (Q-A):  </a:t>
            </a:r>
            <a:r>
              <a:rPr sz="1150" b="0" i="0">
                <a:solidFill>
                  <a:srgbClr val="333333"/>
                </a:solidFill>
                <a:latin typeface="Calibri"/>
              </a:rPr>
              <a:t>ASX autonomy is a role/facet on the existing Platform subtree, not a parallel Robot tree.</a:t>
            </a:r>
          </a:p>
          <a:p>
            <a:pPr>
              <a:spcBef>
                <a:spcPts val="200"/>
              </a:spcBef>
              <a:spcAft>
                <a:spcPts val="300"/>
              </a:spcAft>
            </a:pPr>
            <a:r>
              <a:rPr sz="1150" b="1" i="0">
                <a:solidFill>
                  <a:srgbClr val="C87F0A"/>
                </a:solidFill>
                <a:latin typeface="Calibri"/>
              </a:rPr>
              <a:t>•  Now in v0.0.4:  </a:t>
            </a:r>
            <a:r>
              <a:rPr sz="1150" b="0" i="0">
                <a:solidFill>
                  <a:srgbClr val="333333"/>
                </a:solidFill>
                <a:latin typeface="Calibri"/>
              </a:rPr>
              <a:t>half there - smx#Vehicle carries hasControlMode (AutonomyLevelCode) with the four Unmanned*Vehicle classes under it; but Robot/UAV/UGV are still declared, and the derived XSD still offers Robot as a fourth ActorEntity choice beside Platform.</a:t>
            </a:r>
          </a:p>
          <a:p>
            <a:pPr>
              <a:spcBef>
                <a:spcPts val="200"/>
              </a:spcBef>
              <a:spcAft>
                <a:spcPts val="300"/>
              </a:spcAft>
            </a:pPr>
            <a:r>
              <a:rPr sz="1150" b="1" i="0">
                <a:solidFill>
                  <a:srgbClr val="2E869A"/>
                </a:solidFill>
                <a:latin typeface="Calibri"/>
              </a:rPr>
              <a:t>•  To apply:  </a:t>
            </a:r>
            <a:r>
              <a:rPr sz="1150" b="0" i="0">
                <a:solidFill>
                  <a:srgbClr val="333333"/>
                </a:solidFill>
                <a:latin typeface="Calibri"/>
              </a:rPr>
              <a:t>retire the Robot tree; decide Vehicle-vs-Platform for the facet (Concept Mapping says Platform); re-parent the maritime pair (V1); home the four floating v0.0.4 properties (V2) and hasAutonomousRoleCode (P3).</a:t>
            </a:r>
          </a:p>
        </p:txBody>
      </p:sp>
      <p:sp>
        <p:nvSpPr>
          <p:cNvPr id="15" name="TextBox 14"/>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Initialization-Walk.md  -  log P1 (sec 5) + sec 10 (v0.0.4 + decision)  -  Q-A (log sec 7, decided)</a:t>
            </a:r>
          </a:p>
        </p:txBody>
      </p:sp>
      <p:sp>
        <p:nvSpPr>
          <p:cNvPr id="16" name="TextBox 1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17" name="TextBox 1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P2  -  A sensor is modeled three ways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Representation decision</a:t>
            </a:r>
          </a:p>
        </p:txBody>
      </p:sp>
      <p:sp>
        <p:nvSpPr>
          <p:cNvPr id="5" name="Rounded Rectangle 4"/>
          <p:cNvSpPr/>
          <p:nvPr/>
        </p:nvSpPr>
        <p:spPr>
          <a:xfrm>
            <a:off x="4023360" y="1554480"/>
            <a:ext cx="4114800" cy="685800"/>
          </a:xfrm>
          <a:prstGeom prst="round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the same physical sensor
(EO camera, CBRN sniffer, GPR)</a:t>
            </a:r>
          </a:p>
        </p:txBody>
      </p:sp>
      <p:sp>
        <p:nvSpPr>
          <p:cNvPr id="6" name="Rounded Rectangle 5"/>
          <p:cNvSpPr/>
          <p:nvPr/>
        </p:nvSpPr>
        <p:spPr>
          <a:xfrm>
            <a:off x="822960" y="3017520"/>
            <a:ext cx="3291840" cy="77724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Sensor class
(OWL)</a:t>
            </a:r>
          </a:p>
        </p:txBody>
      </p:sp>
      <p:sp>
        <p:nvSpPr>
          <p:cNvPr id="7" name="Rounded Rectangle 6"/>
          <p:cNvSpPr/>
          <p:nvPr/>
        </p:nvSpPr>
        <p:spPr>
          <a:xfrm>
            <a:off x="4434840" y="3017520"/>
            <a:ext cx="3291840" cy="77724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SensorType enum
(Concept Mapping)</a:t>
            </a:r>
          </a:p>
        </p:txBody>
      </p:sp>
      <p:sp>
        <p:nvSpPr>
          <p:cNvPr id="8" name="Rounded Rectangle 7"/>
          <p:cNvSpPr/>
          <p:nvPr/>
        </p:nvSpPr>
        <p:spPr>
          <a:xfrm>
            <a:off x="8046720" y="3017520"/>
            <a:ext cx="3291840" cy="77724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SensorCapability as equipment
(Concept Mapping)</a:t>
            </a:r>
          </a:p>
        </p:txBody>
      </p:sp>
      <p:cxnSp>
        <p:nvCxnSpPr>
          <p:cNvPr id="9" name="Connector 8"/>
          <p:cNvCxnSpPr/>
          <p:nvPr/>
        </p:nvCxnSpPr>
        <p:spPr>
          <a:xfrm flipH="1">
            <a:off x="2468880" y="2240280"/>
            <a:ext cx="2651760" cy="77724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0760" y="2240280"/>
            <a:ext cx="0" cy="77724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040880" y="2240280"/>
            <a:ext cx="2651760" cy="77724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931920"/>
            <a:ext cx="10972800" cy="2423160"/>
          </a:xfrm>
          <a:prstGeom prst="rect">
            <a:avLst/>
          </a:prstGeom>
          <a:noFill/>
        </p:spPr>
        <p:txBody>
          <a:bodyPr wrap="square">
            <a:spAutoFit/>
          </a:bodyPr>
          <a:lstStyle/>
          <a:p>
            <a:pPr>
              <a:spcBef>
                <a:spcPts val="200"/>
              </a:spcBef>
              <a:spcAft>
                <a:spcPts val="400"/>
              </a:spcAft>
            </a:pPr>
            <a:r>
              <a:rPr sz="1200" b="0" i="0">
                <a:solidFill>
                  <a:srgbClr val="333333"/>
                </a:solidFill>
                <a:latin typeface="Calibri"/>
              </a:rPr>
              <a:t>•  Three incompatible representations of the same device across the two tracks (D2).</a:t>
            </a:r>
          </a:p>
          <a:p>
            <a:pPr lvl="1">
              <a:spcBef>
                <a:spcPts val="200"/>
              </a:spcBef>
              <a:spcAft>
                <a:spcPts val="400"/>
              </a:spcAft>
            </a:pPr>
            <a:r>
              <a:rPr sz="1200" b="0" i="0">
                <a:solidFill>
                  <a:srgbClr val="333333"/>
                </a:solidFill>
                <a:latin typeface="Calibri"/>
              </a:rPr>
              <a:t>–  An Initialization message must declare what a platform carries - it has to pick one representation; the Report side only consumes sensor output (log P2).</a:t>
            </a:r>
          </a:p>
          <a:p>
            <a:pPr>
              <a:spcBef>
                <a:spcPts val="200"/>
              </a:spcBef>
              <a:spcAft>
                <a:spcPts val="400"/>
              </a:spcAft>
            </a:pPr>
            <a:r>
              <a:rPr sz="1200" b="1" i="0">
                <a:solidFill>
                  <a:srgbClr val="2E7D32"/>
                </a:solidFill>
                <a:latin typeface="Calibri"/>
              </a:rPr>
              <a:t>•  DIRECTION DECIDED (Q-C):  </a:t>
            </a:r>
            <a:r>
              <a:rPr sz="1200" b="0" i="0">
                <a:solidFill>
                  <a:srgbClr val="333333"/>
                </a:solidFill>
                <a:latin typeface="Calibri"/>
              </a:rPr>
              <a:t>sensors are being reworked on existing standards - the premise of the sensor-characterization slice (SOSA/SSN + SSN-System first; log sec 6l), which is the candidate survey.</a:t>
            </a:r>
          </a:p>
          <a:p>
            <a:pPr>
              <a:spcBef>
                <a:spcPts val="200"/>
              </a:spcBef>
              <a:spcAft>
                <a:spcPts val="400"/>
              </a:spcAft>
            </a:pPr>
            <a:r>
              <a:rPr sz="1200" b="1" i="0">
                <a:solidFill>
                  <a:srgbClr val="C87F0A"/>
                </a:solidFill>
                <a:latin typeface="Calibri"/>
              </a:rPr>
              <a:t>•  Now in v0.0.4:  </a:t>
            </a:r>
            <a:r>
              <a:rPr sz="1200" b="0" i="0">
                <a:solidFill>
                  <a:srgbClr val="333333"/>
                </a:solidFill>
                <a:latin typeface="Calibri"/>
              </a:rPr>
              <a:t>placeholders only - an empty SensorTypeCode code list, and hasSensorCapability with range MediaTypeCode (a capability typed as a media format; V3) and no domain. The three representations still coexist.</a:t>
            </a:r>
          </a:p>
          <a:p>
            <a:pPr>
              <a:spcBef>
                <a:spcPts val="200"/>
              </a:spcBef>
              <a:spcAft>
                <a:spcPts val="400"/>
              </a:spcAft>
            </a:pPr>
            <a:r>
              <a:rPr sz="1200" b="1" i="0">
                <a:solidFill>
                  <a:srgbClr val="2E869A"/>
                </a:solidFill>
                <a:latin typeface="Calibri"/>
              </a:rPr>
              <a:t>•  To apply:  </a:t>
            </a:r>
            <a:r>
              <a:rPr sz="1200" b="0" i="0">
                <a:solidFill>
                  <a:srgbClr val="333333"/>
                </a:solidFill>
                <a:latin typeface="Calibri"/>
              </a:rPr>
              <a:t>run the survey (6l steps 1-2), re-point hasSensorCapability / fill SensorTypeCode from it, settle Q-Y (own extension vs ASX section). The same carried-equipment pattern returns in weapon (W2), manipulator (E2), cargo (L1) -&gt; Q-L.</a:t>
            </a:r>
          </a:p>
        </p:txBody>
      </p:sp>
      <p:sp>
        <p:nvSpPr>
          <p:cNvPr id="13" name="TextBox 12"/>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Initialization-Walk.md + NonVideoSensors-Walk.md + Sensor-Characterization-Slice.md  -  log P2 (sec 5) + D2 (sec 2) + sec 10  -  Q-C (decided in direction), Q-Y (open)</a:t>
            </a:r>
          </a:p>
        </p:txBody>
      </p:sp>
      <p:sp>
        <p:nvSpPr>
          <p:cNvPr id="14" name="TextBox 13"/>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15" name="TextBox 14"/>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P7  -  A swarm is not yet taskable</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Entity-typing decision</a:t>
            </a:r>
          </a:p>
        </p:txBody>
      </p:sp>
      <p:sp>
        <p:nvSpPr>
          <p:cNvPr id="5" name="Rounded Rectangle 4"/>
          <p:cNvSpPr/>
          <p:nvPr/>
        </p:nvSpPr>
        <p:spPr>
          <a:xfrm>
            <a:off x="822960" y="1828800"/>
            <a:ext cx="2834640" cy="64008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Swarm  (ASX)</a:t>
            </a:r>
          </a:p>
        </p:txBody>
      </p:sp>
      <p:sp>
        <p:nvSpPr>
          <p:cNvPr id="6" name="Rounded Rectangle 5"/>
          <p:cNvSpPr/>
          <p:nvPr/>
        </p:nvSpPr>
        <p:spPr>
          <a:xfrm>
            <a:off x="3931920" y="1828800"/>
            <a:ext cx="3291840" cy="640080"/>
          </a:xfrm>
          <a:prstGeom prst="round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CollectiveRoboticSystem</a:t>
            </a:r>
          </a:p>
        </p:txBody>
      </p:sp>
      <p:sp>
        <p:nvSpPr>
          <p:cNvPr id="7" name="Rounded Rectangle 6"/>
          <p:cNvSpPr/>
          <p:nvPr/>
        </p:nvSpPr>
        <p:spPr>
          <a:xfrm>
            <a:off x="7498079" y="1828800"/>
            <a:ext cx="3108960" cy="6400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 PhysicalEntity</a:t>
            </a:r>
          </a:p>
        </p:txBody>
      </p:sp>
      <p:cxnSp>
        <p:nvCxnSpPr>
          <p:cNvPr id="8" name="Connector 7"/>
          <p:cNvCxnSpPr/>
          <p:nvPr/>
        </p:nvCxnSpPr>
        <p:spPr>
          <a:xfrm>
            <a:off x="3657600" y="2148840"/>
            <a:ext cx="274320" cy="0"/>
          </a:xfrm>
          <a:prstGeom prst="line">
            <a:avLst/>
          </a:prstGeom>
          <a:ln w="1905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23760" y="2148840"/>
            <a:ext cx="274319" cy="0"/>
          </a:xfrm>
          <a:prstGeom prst="line">
            <a:avLst/>
          </a:prstGeom>
          <a:ln w="19050">
            <a:solidFill>
              <a:srgbClr val="C0392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79" y="2514600"/>
            <a:ext cx="3291840" cy="365760"/>
          </a:xfrm>
          <a:prstGeom prst="rect">
            <a:avLst/>
          </a:prstGeom>
          <a:noFill/>
        </p:spPr>
        <p:txBody>
          <a:bodyPr wrap="square">
            <a:spAutoFit/>
          </a:bodyPr>
          <a:lstStyle/>
          <a:p>
            <a:r>
              <a:rPr sz="1200" b="0" i="1">
                <a:solidFill>
                  <a:srgbClr val="C87F0A"/>
                </a:solidFill>
                <a:latin typeface="Calibri"/>
              </a:rPr>
              <a:t>not yet taskable (under PhysicalEntity)</a:t>
            </a:r>
          </a:p>
        </p:txBody>
      </p:sp>
      <p:sp>
        <p:nvSpPr>
          <p:cNvPr id="11" name="Rounded Rectangle 10"/>
          <p:cNvSpPr/>
          <p:nvPr/>
        </p:nvSpPr>
        <p:spPr>
          <a:xfrm>
            <a:off x="822960" y="3246120"/>
            <a:ext cx="283464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Swarm  (proposed)</a:t>
            </a:r>
          </a:p>
        </p:txBody>
      </p:sp>
      <p:sp>
        <p:nvSpPr>
          <p:cNvPr id="12" name="Rounded Rectangle 11"/>
          <p:cNvSpPr/>
          <p:nvPr/>
        </p:nvSpPr>
        <p:spPr>
          <a:xfrm>
            <a:off x="3931920" y="3246120"/>
            <a:ext cx="329184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CollectiveEntity  (C2SIM)</a:t>
            </a:r>
          </a:p>
        </p:txBody>
      </p:sp>
      <p:sp>
        <p:nvSpPr>
          <p:cNvPr id="13" name="Rounded Rectangle 12"/>
          <p:cNvSpPr/>
          <p:nvPr/>
        </p:nvSpPr>
        <p:spPr>
          <a:xfrm>
            <a:off x="7498079" y="3246120"/>
            <a:ext cx="310896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ActorEntity</a:t>
            </a:r>
          </a:p>
        </p:txBody>
      </p:sp>
      <p:cxnSp>
        <p:nvCxnSpPr>
          <p:cNvPr id="14" name="Connector 13"/>
          <p:cNvCxnSpPr/>
          <p:nvPr/>
        </p:nvCxnSpPr>
        <p:spPr>
          <a:xfrm>
            <a:off x="3657600" y="3566160"/>
            <a:ext cx="274320" cy="0"/>
          </a:xfrm>
          <a:prstGeom prst="line">
            <a:avLst/>
          </a:prstGeom>
          <a:ln w="1905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223760" y="3566160"/>
            <a:ext cx="274319" cy="0"/>
          </a:xfrm>
          <a:prstGeom prst="line">
            <a:avLst/>
          </a:prstGeom>
          <a:ln w="19050">
            <a:solidFill>
              <a:srgbClr val="2E7D3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79" y="3931920"/>
            <a:ext cx="3291840" cy="365760"/>
          </a:xfrm>
          <a:prstGeom prst="rect">
            <a:avLst/>
          </a:prstGeom>
          <a:noFill/>
        </p:spPr>
        <p:txBody>
          <a:bodyPr wrap="square">
            <a:spAutoFit/>
          </a:bodyPr>
          <a:lstStyle/>
          <a:p>
            <a:r>
              <a:rPr sz="1200" b="0" i="1">
                <a:solidFill>
                  <a:srgbClr val="2E7D32"/>
                </a:solidFill>
                <a:latin typeface="Calibri"/>
              </a:rPr>
              <a:t>taskable - receives orders, reports</a:t>
            </a:r>
          </a:p>
        </p:txBody>
      </p:sp>
      <p:sp>
        <p:nvSpPr>
          <p:cNvPr id="17" name="TextBox 16"/>
          <p:cNvSpPr txBox="1"/>
          <p:nvPr/>
        </p:nvSpPr>
        <p:spPr>
          <a:xfrm>
            <a:off x="640080" y="4389120"/>
            <a:ext cx="10972800" cy="1965960"/>
          </a:xfrm>
          <a:prstGeom prst="rect">
            <a:avLst/>
          </a:prstGeom>
          <a:noFill/>
        </p:spPr>
        <p:txBody>
          <a:bodyPr wrap="square">
            <a:spAutoFit/>
          </a:bodyPr>
          <a:lstStyle/>
          <a:p>
            <a:pPr>
              <a:spcBef>
                <a:spcPts val="200"/>
              </a:spcBef>
              <a:spcAft>
                <a:spcPts val="300"/>
              </a:spcAft>
            </a:pPr>
            <a:r>
              <a:rPr sz="1150" b="0" i="0">
                <a:solidFill>
                  <a:srgbClr val="333333"/>
                </a:solidFill>
                <a:latin typeface="Calibri"/>
              </a:rPr>
              <a:t>•  A swarm is what orders are addressed to and what sends reports - so it needs to be an ActorEntity.</a:t>
            </a:r>
          </a:p>
          <a:p>
            <a:pPr lvl="1">
              <a:spcBef>
                <a:spcPts val="200"/>
              </a:spcBef>
              <a:spcAft>
                <a:spcPts val="300"/>
              </a:spcAft>
            </a:pPr>
            <a:r>
              <a:rPr sz="1150" b="0" i="0">
                <a:solidFill>
                  <a:srgbClr val="333333"/>
                </a:solidFill>
                <a:latin typeface="Calibri"/>
              </a:rPr>
              <a:t>–  Membership and command already exist in the base standard (C2SIM hasSubordinate, SMX hasCommandRelation), so the residual swarm work is small.</a:t>
            </a:r>
          </a:p>
          <a:p>
            <a:pPr>
              <a:spcBef>
                <a:spcPts val="200"/>
              </a:spcBef>
              <a:spcAft>
                <a:spcPts val="300"/>
              </a:spcAft>
            </a:pPr>
            <a:r>
              <a:rPr sz="1150" b="1" i="0">
                <a:solidFill>
                  <a:srgbClr val="2E7D32"/>
                </a:solidFill>
                <a:latin typeface="Calibri"/>
              </a:rPr>
              <a:t>•  DECIDED (Q-B):  </a:t>
            </a:r>
            <a:r>
              <a:rPr sz="1150" b="0" i="0">
                <a:solidFill>
                  <a:srgbClr val="333333"/>
                </a:solidFill>
                <a:latin typeface="Calibri"/>
              </a:rPr>
              <a:t>derive the collective/Swarm from CollectiveEntity (already an ActorEntity) rather than the device/artifact tree.</a:t>
            </a:r>
          </a:p>
          <a:p>
            <a:pPr>
              <a:spcBef>
                <a:spcPts val="200"/>
              </a:spcBef>
              <a:spcAft>
                <a:spcPts val="300"/>
              </a:spcAft>
            </a:pPr>
            <a:r>
              <a:rPr sz="1150" b="1" i="0">
                <a:solidFill>
                  <a:srgbClr val="C87F0A"/>
                </a:solidFill>
                <a:latin typeface="Calibri"/>
              </a:rPr>
              <a:t>•  Now in v0.0.4:  </a:t>
            </a:r>
            <a:r>
              <a:rPr sz="1150" b="0" i="0">
                <a:solidFill>
                  <a:srgbClr val="333333"/>
                </a:solidFill>
                <a:latin typeface="Calibri"/>
              </a:rPr>
              <a:t>not yet applied - no Swarm class (dropped in v0.0.3); the collective class is still under RoboticSystem -&gt; Device -&gt; Artifact -&gt; PhysicalEntity (its O1 misspelling is fixed in PR #9).</a:t>
            </a:r>
          </a:p>
          <a:p>
            <a:pPr>
              <a:spcBef>
                <a:spcPts val="200"/>
              </a:spcBef>
              <a:spcAft>
                <a:spcPts val="300"/>
              </a:spcAft>
            </a:pPr>
            <a:r>
              <a:rPr sz="1150" b="1" i="0">
                <a:solidFill>
                  <a:srgbClr val="2E869A"/>
                </a:solidFill>
                <a:latin typeface="Calibri"/>
              </a:rPr>
              <a:t>•  To apply:  </a:t>
            </a:r>
            <a:r>
              <a:rPr sz="1150" b="0" i="0">
                <a:solidFill>
                  <a:srgbClr val="333333"/>
                </a:solidFill>
                <a:latin typeface="Calibri"/>
              </a:rPr>
              <a:t>re-parent the collective class under CollectiveEntity - one axiom - then the small residuals (Q-J: network params, leader role, aggregation Z1, lifecycle Z2); mixed membership (P10) becomes hasSubordinate over Platform subtypes.</a:t>
            </a:r>
          </a:p>
        </p:txBody>
      </p:sp>
      <p:sp>
        <p:nvSpPr>
          <p:cNvPr id="18" name="TextBox 17"/>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Swarm-Walk.md  -  log P7 (secs 5, 6d) + sec 10  -  Q-B (log sec 7, decided)</a:t>
            </a:r>
          </a:p>
        </p:txBody>
      </p:sp>
      <p:sp>
        <p:nvSpPr>
          <p:cNvPr id="19" name="TextBox 18"/>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20" name="TextBox 19"/>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Already in the standard - re-adopt, not invent</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Verified in the RDF - the gap list is shorter than it looks</a:t>
            </a:r>
          </a:p>
        </p:txBody>
      </p:sp>
      <p:sp>
        <p:nvSpPr>
          <p:cNvPr id="5" name="Rounded Rectangle 4"/>
          <p:cNvSpPr/>
          <p:nvPr/>
        </p:nvSpPr>
        <p:spPr>
          <a:xfrm>
            <a:off x="731520" y="1691640"/>
            <a:ext cx="10744200" cy="12801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The headline discovery: the measurement report already exists
BML lineage WhoMeasuredType {value, unit, phenomenon, sensor, time, place} - flagged as missing, found in C2SIM's own lineage. Re-adopt, not invent (Q-Q).</a:t>
            </a:r>
          </a:p>
        </p:txBody>
      </p:sp>
      <p:sp>
        <p:nvSpPr>
          <p:cNvPr id="6" name="TextBox 5"/>
          <p:cNvSpPr txBox="1"/>
          <p:nvPr/>
        </p:nvSpPr>
        <p:spPr>
          <a:xfrm>
            <a:off x="640080" y="3154680"/>
            <a:ext cx="10972800" cy="3200400"/>
          </a:xfrm>
          <a:prstGeom prst="rect">
            <a:avLst/>
          </a:prstGeom>
          <a:noFill/>
        </p:spPr>
        <p:txBody>
          <a:bodyPr wrap="square">
            <a:spAutoFit/>
          </a:bodyPr>
          <a:lstStyle/>
          <a:p>
            <a:pPr>
              <a:spcBef>
                <a:spcPts val="200"/>
              </a:spcBef>
              <a:spcAft>
                <a:spcPts val="800"/>
              </a:spcAft>
            </a:pPr>
            <a:r>
              <a:rPr sz="1300" b="1" i="0">
                <a:solidFill>
                  <a:srgbClr val="2E7D32"/>
                </a:solidFill>
                <a:latin typeface="Calibri"/>
              </a:rPr>
              <a:t>•  Task verbs:  </a:t>
            </a:r>
            <a:r>
              <a:rPr sz="1300" b="0" i="0">
                <a:solidFill>
                  <a:srgbClr val="333333"/>
                </a:solidFill>
                <a:latin typeface="Calibri"/>
              </a:rPr>
              <a:t>LOX already carries 446 TaskActionCode verbs - ENGAGE, ATTACK, BREACH, CONSTR, CLROBS, MINLAY, TRANS, RESUPL, RESCUE, RECOVR, ESCRT, RECCE, PATROL, COMREL + search verbs. Not a missing-verb problem.</a:t>
            </a:r>
          </a:p>
          <a:p>
            <a:pPr>
              <a:spcBef>
                <a:spcPts val="200"/>
              </a:spcBef>
              <a:spcAft>
                <a:spcPts val="800"/>
              </a:spcAft>
            </a:pPr>
            <a:r>
              <a:rPr sz="1300" b="1" i="0">
                <a:solidFill>
                  <a:srgbClr val="2E7D32"/>
                </a:solidFill>
                <a:latin typeface="Calibri"/>
              </a:rPr>
              <a:t>•  Order machinery:  </a:t>
            </a:r>
            <a:r>
              <a:rPr sz="1300" b="0" i="0">
                <a:solidFill>
                  <a:srgbClr val="333333"/>
                </a:solidFill>
                <a:latin typeface="Calibri"/>
              </a:rPr>
              <a:t>effects (DesiredEffectCode), targets (hasAffectedEntity), ROE (RuleOfEngagement, WeaponRuleOfEngagementCode), resources + quantities, routes + phased planning (PlanBody/PlanPhase), position reporting.</a:t>
            </a:r>
          </a:p>
          <a:p>
            <a:pPr>
              <a:spcBef>
                <a:spcPts val="200"/>
              </a:spcBef>
              <a:spcAft>
                <a:spcPts val="800"/>
              </a:spcAft>
            </a:pPr>
            <a:r>
              <a:rPr sz="1300" b="1" i="0">
                <a:solidFill>
                  <a:srgbClr val="2E7D32"/>
                </a:solidFill>
                <a:latin typeface="Calibri"/>
              </a:rPr>
              <a:t>•  Structure:  </a:t>
            </a:r>
            <a:r>
              <a:rPr sz="1300" b="0" i="0">
                <a:solidFill>
                  <a:srgbClr val="333333"/>
                </a:solidFill>
                <a:latin typeface="Calibri"/>
              </a:rPr>
              <a:t>membership + command exist (C2SIM hasSubordinate, SMX hasCommandRelation) - the swarm residual is small; platform types (Vehicle / Aircraft / SurfaceVessel); a neutral hostility value (smx#NEUTRL).</a:t>
            </a:r>
          </a:p>
          <a:p>
            <a:pPr>
              <a:spcBef>
                <a:spcPts val="200"/>
              </a:spcBef>
              <a:spcAft>
                <a:spcPts val="800"/>
              </a:spcAft>
            </a:pPr>
            <a:r>
              <a:rPr sz="1300" b="1" i="0">
                <a:solidFill>
                  <a:srgbClr val="2E7D32"/>
                </a:solidFill>
                <a:latin typeface="Calibri"/>
              </a:rPr>
              <a:t>•  Capability declaration:  </a:t>
            </a:r>
            <a:r>
              <a:rPr sz="1300" b="0" i="0">
                <a:solidFill>
                  <a:srgbClr val="333333"/>
                </a:solidFill>
                <a:latin typeface="Calibri"/>
              </a:rPr>
              <a:t>BML WhoHoldingType already covers the capability self-report pattern (Q-V).</a:t>
            </a:r>
          </a:p>
          <a:p>
            <a:pPr>
              <a:spcBef>
                <a:spcPts val="200"/>
              </a:spcBef>
              <a:spcAft>
                <a:spcPts val="800"/>
              </a:spcAft>
            </a:pPr>
            <a:r>
              <a:rPr sz="1300" b="1" i="0">
                <a:solidFill>
                  <a:srgbClr val="1F3A5F"/>
                </a:solidFill>
                <a:latin typeface="Calibri"/>
              </a:rPr>
              <a:t>•  What this means:  </a:t>
            </a:r>
            <a:r>
              <a:rPr sz="1300" b="0" i="0">
                <a:solidFill>
                  <a:srgbClr val="333333"/>
                </a:solidFill>
                <a:latin typeface="Calibri"/>
              </a:rPr>
              <a:t>a large share of the 24 decisions is where to hang existing vocabulary, not what to invent.</a:t>
            </a:r>
          </a:p>
        </p:txBody>
      </p:sp>
      <p:sp>
        <p:nvSpPr>
          <p:cNvPr id="7" name="TextBox 6"/>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verified against the RDF, not recalled (log change log 2026-07-12)  -  the 'checked - already exist' rows across log sec 6  -  OntologyConceptCoverage.md</a:t>
            </a:r>
          </a:p>
        </p:txBody>
      </p:sp>
      <p:sp>
        <p:nvSpPr>
          <p:cNvPr id="8" name="TextBox 7"/>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9" name="TextBox 8"/>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Missing content types - what a message cannot yet say</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Each gap named by every scenario that hit it</a:t>
            </a:r>
          </a:p>
        </p:txBody>
      </p:sp>
      <p:sp>
        <p:nvSpPr>
          <p:cNvPr id="5" name="Rounded Rectangle 4"/>
          <p:cNvSpPr/>
          <p:nvPr/>
        </p:nvSpPr>
        <p:spPr>
          <a:xfrm>
            <a:off x="731520" y="1691640"/>
            <a:ext cx="10744200" cy="1280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The biggest content gap: one generic Detection Report
confidence + error-bound + false-positive - needed by the video, CBRN, EW, GPR, and naval-mine walks (Y1/M3/M4/G4); one report subsumes all five (Q-I/Q-Q).</a:t>
            </a:r>
          </a:p>
        </p:txBody>
      </p:sp>
      <p:sp>
        <p:nvSpPr>
          <p:cNvPr id="6" name="TextBox 5"/>
          <p:cNvSpPr txBox="1"/>
          <p:nvPr/>
        </p:nvSpPr>
        <p:spPr>
          <a:xfrm>
            <a:off x="640080" y="3154680"/>
            <a:ext cx="10972800" cy="3200400"/>
          </a:xfrm>
          <a:prstGeom prst="rect">
            <a:avLst/>
          </a:prstGeom>
          <a:noFill/>
        </p:spPr>
        <p:txBody>
          <a:bodyPr wrap="square">
            <a:spAutoFit/>
          </a:bodyPr>
          <a:lstStyle/>
          <a:p>
            <a:pPr>
              <a:spcBef>
                <a:spcPts val="200"/>
              </a:spcBef>
              <a:spcAft>
                <a:spcPts val="600"/>
              </a:spcAft>
            </a:pPr>
            <a:r>
              <a:rPr sz="1250" b="1" i="0">
                <a:solidFill>
                  <a:srgbClr val="C0392B"/>
                </a:solidFill>
                <a:latin typeface="Calibri"/>
              </a:rPr>
              <a:t>•  Rationale / explanation report:  </a:t>
            </a:r>
            <a:r>
              <a:rPr sz="1250" b="0" i="0">
                <a:solidFill>
                  <a:srgbClr val="333333"/>
                </a:solidFill>
                <a:latin typeface="Calibri"/>
              </a:rPr>
              <a:t>systems report WHAT (TaskStatus) but not WHY a route changed or a mission failed - CASEVAC (X2) + the DroneResponse explainability mission; schema in hand {event, action, reasoning, change, confidence} (Q-H).</a:t>
            </a:r>
          </a:p>
          <a:p>
            <a:pPr>
              <a:spcBef>
                <a:spcPts val="200"/>
              </a:spcBef>
              <a:spcAft>
                <a:spcPts val="600"/>
              </a:spcAft>
            </a:pPr>
            <a:r>
              <a:rPr sz="1250" b="1" i="0">
                <a:solidFill>
                  <a:srgbClr val="C0392B"/>
                </a:solidFill>
                <a:latin typeface="Calibri"/>
              </a:rPr>
              <a:t>•  Robot-to-robot coordination:  </a:t>
            </a:r>
            <a:r>
              <a:rPr sz="1250" b="0" i="0">
                <a:solidFill>
                  <a:srgbClr val="333333"/>
                </a:solidFill>
                <a:latin typeface="Calibri"/>
              </a:rPr>
              <a:t>no content type for one robot to hand a verified safe route to another (envelope addressing exists; the content does not) - CASEVAC (X1) + maritime cross-cue with a shared track (G3) + MUM-T; extends to system-to-system tasking (Q-G/Q-P).</a:t>
            </a:r>
          </a:p>
          <a:p>
            <a:pPr>
              <a:spcBef>
                <a:spcPts val="200"/>
              </a:spcBef>
              <a:spcAft>
                <a:spcPts val="600"/>
              </a:spcAft>
            </a:pPr>
            <a:r>
              <a:rPr sz="1250" b="1" i="0">
                <a:solidFill>
                  <a:srgbClr val="C0392B"/>
                </a:solidFill>
                <a:latin typeface="Calibri"/>
              </a:rPr>
              <a:t>•  Effect-achieved / BDA report:  </a:t>
            </a:r>
            <a:r>
              <a:rPr sz="1250" b="0" i="0">
                <a:solidFill>
                  <a:srgbClr val="333333"/>
                </a:solidFill>
                <a:latin typeface="Calibri"/>
              </a:rPr>
              <a:t>TaskStatus says the task ran, not that the target was destroyed - fire support (W3) + LIRC strike BDA.</a:t>
            </a:r>
          </a:p>
          <a:p>
            <a:pPr>
              <a:spcBef>
                <a:spcPts val="200"/>
              </a:spcBef>
              <a:spcAft>
                <a:spcPts val="600"/>
              </a:spcAft>
            </a:pPr>
            <a:r>
              <a:rPr sz="1250" b="1" i="0">
                <a:solidFill>
                  <a:srgbClr val="C0392B"/>
                </a:solidFill>
                <a:latin typeface="Calibri"/>
              </a:rPr>
              <a:t>•  Capability self-report:  </a:t>
            </a:r>
            <a:r>
              <a:rPr sz="1250" b="0" i="0">
                <a:solidFill>
                  <a:srgbClr val="333333"/>
                </a:solidFill>
                <a:latin typeface="Calibri"/>
              </a:rPr>
              <a:t>a robot declares its mounted equipment so tasks can be assigned by capability - MUM-T (G13 -&gt; Q-V).</a:t>
            </a:r>
          </a:p>
          <a:p>
            <a:pPr>
              <a:spcBef>
                <a:spcPts val="200"/>
              </a:spcBef>
              <a:spcAft>
                <a:spcPts val="600"/>
              </a:spcAft>
            </a:pPr>
            <a:r>
              <a:rPr sz="1250" b="1" i="0">
                <a:solidFill>
                  <a:srgbClr val="C0392B"/>
                </a:solidFill>
                <a:latin typeface="Calibri"/>
              </a:rPr>
              <a:t>•  Inline entity definition:  </a:t>
            </a:r>
            <a:r>
              <a:rPr sz="1250" b="0" i="0">
                <a:solidFill>
                  <a:srgbClr val="333333"/>
                </a:solidFill>
                <a:latin typeface="Calibri"/>
              </a:rPr>
              <a:t>a report cannot introduce a newly-observed (uncooperative) entity it references (M1 -&gt; Q-E).</a:t>
            </a:r>
          </a:p>
          <a:p>
            <a:pPr>
              <a:spcBef>
                <a:spcPts val="200"/>
              </a:spcBef>
              <a:spcAft>
                <a:spcPts val="600"/>
              </a:spcAft>
            </a:pPr>
            <a:r>
              <a:rPr sz="1250" b="1" i="0">
                <a:solidFill>
                  <a:srgbClr val="C0392B"/>
                </a:solidFill>
                <a:latin typeface="Calibri"/>
              </a:rPr>
              <a:t>•  Media identity / modality split:  </a:t>
            </a:r>
            <a:r>
              <a:rPr sz="1250" b="0" i="0">
                <a:solidFill>
                  <a:srgbClr val="333333"/>
                </a:solidFill>
                <a:latin typeface="Calibri"/>
              </a:rPr>
              <a:t>MediaReference identity is undecided, and MediaTypeCode mixes media format with sensor modality - a 'thermal scan' rode the NOS value (M2/M5 -&gt; Q-F).</a:t>
            </a:r>
          </a:p>
        </p:txBody>
      </p:sp>
      <p:sp>
        <p:nvSpPr>
          <p:cNvPr id="7" name="TextBox 6"/>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CASEVAC-Walk.md, NonVideoSensors-Walk.md, FireSupport-Walk.md, SourcedScenarios-Walk.md, ValidationEvidence-Walk.md  -  log secs 6b/6c/6e/6h/6j  -  decisions Q-E/G/H/I/P/Q/V</a:t>
            </a:r>
          </a:p>
        </p:txBody>
      </p:sp>
      <p:sp>
        <p:nvSpPr>
          <p:cNvPr id="8" name="TextBox 7"/>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9" name="TextBox 8"/>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Missing typing - what a platform is and carries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One pattern, several instances</a:t>
            </a:r>
          </a:p>
        </p:txBody>
      </p:sp>
      <p:sp>
        <p:nvSpPr>
          <p:cNvPr id="5" name="Rounded Rectangle 4"/>
          <p:cNvSpPr/>
          <p:nvPr/>
        </p:nvSpPr>
        <p:spPr>
          <a:xfrm>
            <a:off x="731520" y="1691640"/>
            <a:ext cx="10744200" cy="1280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The core gap: nothing typed for what a platform carries or wields
Cargo (L1), manipulator (E2), weapon/munition (W2) are one missing piece - the typed payload / effector / weapon (Q-L). The verbs already exist in LOX.</a:t>
            </a:r>
          </a:p>
        </p:txBody>
      </p:sp>
      <p:sp>
        <p:nvSpPr>
          <p:cNvPr id="6" name="TextBox 5"/>
          <p:cNvSpPr txBox="1"/>
          <p:nvPr/>
        </p:nvSpPr>
        <p:spPr>
          <a:xfrm>
            <a:off x="640080" y="3154680"/>
            <a:ext cx="10972800" cy="3200400"/>
          </a:xfrm>
          <a:prstGeom prst="rect">
            <a:avLst/>
          </a:prstGeom>
          <a:noFill/>
        </p:spPr>
        <p:txBody>
          <a:bodyPr wrap="square">
            <a:spAutoFit/>
          </a:bodyPr>
          <a:lstStyle/>
          <a:p>
            <a:pPr>
              <a:spcBef>
                <a:spcPts val="200"/>
              </a:spcBef>
              <a:spcAft>
                <a:spcPts val="800"/>
              </a:spcAft>
            </a:pPr>
            <a:r>
              <a:rPr sz="1300" b="1" i="0">
                <a:solidFill>
                  <a:srgbClr val="C87F0A"/>
                </a:solidFill>
                <a:latin typeface="Calibri"/>
              </a:rPr>
              <a:t>•  Platform-munition hybrids:  </a:t>
            </a:r>
            <a:r>
              <a:rPr sz="1300" b="0" i="0">
                <a:solidFill>
                  <a:srgbClr val="333333"/>
                </a:solidFill>
                <a:latin typeface="Calibri"/>
              </a:rPr>
              <a:t>a loitering munition / FPV is platform + munition at once; counter-UAS needs the detect-&gt;defeat chain over existing air-defense verbs + an EW-vulnerability annotation (Q-X).</a:t>
            </a:r>
          </a:p>
          <a:p>
            <a:pPr>
              <a:spcBef>
                <a:spcPts val="200"/>
              </a:spcBef>
              <a:spcAft>
                <a:spcPts val="800"/>
              </a:spcAft>
            </a:pPr>
            <a:r>
              <a:rPr sz="1300" b="1" i="0">
                <a:solidFill>
                  <a:srgbClr val="C87F0A"/>
                </a:solidFill>
                <a:latin typeface="Calibri"/>
              </a:rPr>
              <a:t>•  Locomotion / role subtypes:  </a:t>
            </a:r>
            <a:r>
              <a:rPr sz="1300" b="0" i="0">
                <a:solidFill>
                  <a:srgbClr val="333333"/>
                </a:solidFill>
                <a:latin typeface="Calibri"/>
              </a:rPr>
              <a:t>wheeled / tracked / legged UGV; detector / neutralizer USV (Q-R, extends Q-A).</a:t>
            </a:r>
          </a:p>
          <a:p>
            <a:pPr>
              <a:spcBef>
                <a:spcPts val="200"/>
              </a:spcBef>
              <a:spcAft>
                <a:spcPts val="800"/>
              </a:spcAft>
            </a:pPr>
            <a:r>
              <a:rPr sz="1300" b="1" i="0">
                <a:solidFill>
                  <a:srgbClr val="C87F0A"/>
                </a:solidFill>
                <a:latin typeface="Calibri"/>
              </a:rPr>
              <a:t>•  Area as a subject:  </a:t>
            </a:r>
            <a:r>
              <a:rPr sz="1300" b="0" i="0">
                <a:solidFill>
                  <a:srgbClr val="333333"/>
                </a:solidFill>
                <a:latin typeface="Calibri"/>
              </a:rPr>
              <a:t>an area cannot yet be the subject of a task or report (N1 -&gt; Q-M) - surfaced by the redundancy screen, needed by the hazard-area, kill-box, and area-coverage walks; plus an explore-until-covered goal (G2 -&gt; Q-N, search verbs exist).</a:t>
            </a:r>
          </a:p>
          <a:p>
            <a:pPr>
              <a:spcBef>
                <a:spcPts val="200"/>
              </a:spcBef>
              <a:spcAft>
                <a:spcPts val="800"/>
              </a:spcAft>
            </a:pPr>
            <a:r>
              <a:rPr sz="1300" b="1" i="0">
                <a:solidFill>
                  <a:srgbClr val="C87F0A"/>
                </a:solidFill>
                <a:latin typeface="Calibri"/>
              </a:rPr>
              <a:t>•  Environment + geometry:  </a:t>
            </a:r>
            <a:r>
              <a:rPr sz="1300" b="0" i="0">
                <a:solidFill>
                  <a:srgbClr val="333333"/>
                </a:solidFill>
                <a:latin typeface="Calibri"/>
              </a:rPr>
              <a:t>operating-environment conditions (GPS-denied, illumination, sea-state, terrain - G11 -&gt; Q-T); formation / relative geometry beyond a single RelativeLocation (G12 -&gt; Q-U).</a:t>
            </a:r>
          </a:p>
          <a:p>
            <a:pPr>
              <a:spcBef>
                <a:spcPts val="200"/>
              </a:spcBef>
              <a:spcAft>
                <a:spcPts val="800"/>
              </a:spcAft>
            </a:pPr>
            <a:r>
              <a:rPr sz="1300" b="1" i="0">
                <a:solidFill>
                  <a:srgbClr val="666666"/>
                </a:solidFill>
                <a:latin typeface="Calibri"/>
              </a:rPr>
              <a:t>•  Small residual:  </a:t>
            </a:r>
            <a:r>
              <a:rPr sz="1300" b="0" i="0">
                <a:solidFill>
                  <a:srgbClr val="333333"/>
                </a:solidFill>
                <a:latin typeface="Calibri"/>
              </a:rPr>
              <a:t>a general-purpose tow/salvage verb (TOWTGT covers gunnery targets only).</a:t>
            </a:r>
          </a:p>
        </p:txBody>
      </p:sp>
      <p:sp>
        <p:nvSpPr>
          <p:cNvPr id="7" name="TextBox 6"/>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TaskEffect-Batch-Walk.md, RedundancyPass-Walk.md, SourcedScenarios-Walk.md  -  log secs 6f/6g/6h/6k  -  decisions Q-L/M/N/R/T/U/X</a:t>
            </a:r>
          </a:p>
        </p:txBody>
      </p:sp>
      <p:sp>
        <p:nvSpPr>
          <p:cNvPr id="8" name="TextBox 7"/>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9" name="TextBox 8"/>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Missing authority semantics - who may do what</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The safety-critical block - and doctrine already supplies the answer</a:t>
            </a:r>
          </a:p>
        </p:txBody>
      </p:sp>
      <p:sp>
        <p:nvSpPr>
          <p:cNvPr id="5" name="Rounded Rectangle 4"/>
          <p:cNvSpPr/>
          <p:nvPr/>
        </p:nvSpPr>
        <p:spPr>
          <a:xfrm>
            <a:off x="731520" y="1691640"/>
            <a:ext cx="10744200" cy="1280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W1  -  No link between autonomy level and permission to engage
The standard can say WHAT effect and WHICH ROE - but not WHO authorized the engagement, nor whether a FullAuto system may take lethal action unsupervised (AuthorizationHeader is sender authentication, not command authorization of fires).</a:t>
            </a:r>
          </a:p>
        </p:txBody>
      </p:sp>
      <p:sp>
        <p:nvSpPr>
          <p:cNvPr id="6" name="TextBox 5"/>
          <p:cNvSpPr txBox="1"/>
          <p:nvPr/>
        </p:nvSpPr>
        <p:spPr>
          <a:xfrm>
            <a:off x="640080" y="3154680"/>
            <a:ext cx="10972800" cy="3200400"/>
          </a:xfrm>
          <a:prstGeom prst="rect">
            <a:avLst/>
          </a:prstGeom>
          <a:noFill/>
        </p:spPr>
        <p:txBody>
          <a:bodyPr wrap="square">
            <a:spAutoFit/>
          </a:bodyPr>
          <a:lstStyle/>
          <a:p>
            <a:pPr>
              <a:spcBef>
                <a:spcPts val="200"/>
              </a:spcBef>
              <a:spcAft>
                <a:spcPts val="800"/>
              </a:spcAft>
            </a:pPr>
            <a:r>
              <a:rPr sz="1300" b="1" i="0">
                <a:solidFill>
                  <a:srgbClr val="2E7D32"/>
                </a:solidFill>
                <a:latin typeface="Calibri"/>
              </a:rPr>
              <a:t>•  The doctrine-grounded answer (Q-W):  </a:t>
            </a:r>
            <a:r>
              <a:rPr sz="1300" b="0" i="0">
                <a:solidFill>
                  <a:srgbClr val="333333"/>
                </a:solidFill>
                <a:latin typeface="Calibri"/>
              </a:rPr>
              <a:t>weapons-control status (hold / tight / free) + kill-box - an authorization-bearing area (geo + time window + civilian-clearance + permitted target types) gating autonomous lethal action; from the SME LIRC scenario (G14). Unifies Q-K with area-as-subject (Q-M).</a:t>
            </a:r>
          </a:p>
          <a:p>
            <a:pPr>
              <a:spcBef>
                <a:spcPts val="200"/>
              </a:spcBef>
              <a:spcAft>
                <a:spcPts val="800"/>
              </a:spcAft>
            </a:pPr>
            <a:r>
              <a:rPr sz="1300" b="1" i="0">
                <a:solidFill>
                  <a:srgbClr val="C87F0A"/>
                </a:solidFill>
                <a:latin typeface="Calibri"/>
              </a:rPr>
              <a:t>•  On-the-loop control:  </a:t>
            </a:r>
            <a:r>
              <a:rPr sz="1300" b="0" i="0">
                <a:solidFill>
                  <a:srgbClr val="333333"/>
                </a:solidFill>
                <a:latin typeface="Calibri"/>
              </a:rPr>
              <a:t>supervision verbs - configure / suspend / acknowledge / override - as engagement authority becomes a function of autonomy level (Q-K).</a:t>
            </a:r>
          </a:p>
          <a:p>
            <a:pPr>
              <a:spcBef>
                <a:spcPts val="200"/>
              </a:spcBef>
              <a:spcAft>
                <a:spcPts val="800"/>
              </a:spcAft>
            </a:pPr>
            <a:r>
              <a:rPr sz="1300" b="1" i="0">
                <a:solidFill>
                  <a:srgbClr val="C87F0A"/>
                </a:solidFill>
                <a:latin typeface="Calibri"/>
              </a:rPr>
              <a:t>•  Denied-comms operation:  </a:t>
            </a:r>
            <a:r>
              <a:rPr sz="1300" b="0" i="0">
                <a:solidFill>
                  <a:srgbClr val="333333"/>
                </a:solidFill>
                <a:latin typeface="Calibri"/>
              </a:rPr>
              <a:t>an operating mode + deployable relay entity for comms-denied autonomy - SubT + sustainment (G1 -&gt; Q-O; the relay verb lox#COMREL exists).</a:t>
            </a:r>
          </a:p>
          <a:p>
            <a:pPr>
              <a:spcBef>
                <a:spcPts val="200"/>
              </a:spcBef>
              <a:spcAft>
                <a:spcPts val="800"/>
              </a:spcAft>
            </a:pPr>
            <a:r>
              <a:rPr sz="1300" b="1" i="0">
                <a:solidFill>
                  <a:srgbClr val="C87F0A"/>
                </a:solidFill>
                <a:latin typeface="Calibri"/>
              </a:rPr>
              <a:t>•  Deception:  </a:t>
            </a:r>
            <a:r>
              <a:rPr sz="1300" b="0" i="0">
                <a:solidFill>
                  <a:srgbClr val="333333"/>
                </a:solidFill>
                <a:latin typeface="Calibri"/>
              </a:rPr>
              <a:t>decoy role + threat-aware order annotations - sustainment + OPFOR targeting (G8 -&gt; Q-S; deception verbs exist).</a:t>
            </a:r>
          </a:p>
        </p:txBody>
      </p:sp>
      <p:sp>
        <p:nvSpPr>
          <p:cNvPr id="7" name="TextBox 6"/>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FireSupport-Walk.md + DroneWarfare-LIRC-OPFOR-Walk.md  -  log secs 6e (W1-W3) / 6k (G14)  -  decisions Q-K/O/S/W  -  Fire Support Order + LIRC Kill-Box Engagement Order tabs</a:t>
            </a:r>
          </a:p>
        </p:txBody>
      </p:sp>
      <p:sp>
        <p:nvSpPr>
          <p:cNvPr id="8" name="TextBox 7"/>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9" name="TextBox 8"/>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Decisions (1/3): model structure - decided</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Full register - all 24, with what each resolves: log section 7; decisions + residuals: section 10</a:t>
            </a:r>
          </a:p>
        </p:txBody>
      </p:sp>
      <p:sp>
        <p:nvSpPr>
          <p:cNvPr id="5" name="TextBox 4"/>
          <p:cNvSpPr txBox="1"/>
          <p:nvPr/>
        </p:nvSpPr>
        <p:spPr>
          <a:xfrm>
            <a:off x="640080" y="1645920"/>
            <a:ext cx="10972800" cy="4709160"/>
          </a:xfrm>
          <a:prstGeom prst="rect">
            <a:avLst/>
          </a:prstGeom>
          <a:noFill/>
        </p:spPr>
        <p:txBody>
          <a:bodyPr wrap="square">
            <a:spAutoFit/>
          </a:bodyPr>
          <a:lstStyle/>
          <a:p>
            <a:pPr>
              <a:spcBef>
                <a:spcPts val="200"/>
              </a:spcBef>
              <a:spcAft>
                <a:spcPts val="1400"/>
              </a:spcAft>
            </a:pPr>
            <a:r>
              <a:rPr sz="1550" b="1" i="0">
                <a:solidFill>
                  <a:srgbClr val="2E7D32"/>
                </a:solidFill>
                <a:latin typeface="Calibri"/>
              </a:rPr>
              <a:t>•  Q-A  DECIDED  </a:t>
            </a:r>
            <a:r>
              <a:rPr sz="1550" b="0" i="0">
                <a:solidFill>
                  <a:srgbClr val="333333"/>
                </a:solidFill>
                <a:latin typeface="Calibri"/>
              </a:rPr>
              <a:t>UAV/robot typing: autonomy is a role/facet on the existing Platform subtree (not a parallel Robot tree). To apply: retire the Robot tree, home the new properties.</a:t>
            </a:r>
          </a:p>
          <a:p>
            <a:pPr>
              <a:spcBef>
                <a:spcPts val="200"/>
              </a:spcBef>
              <a:spcAft>
                <a:spcPts val="1400"/>
              </a:spcAft>
            </a:pPr>
            <a:r>
              <a:rPr sz="1550" b="1" i="0">
                <a:solidFill>
                  <a:srgbClr val="2E7D32"/>
                </a:solidFill>
                <a:latin typeface="Calibri"/>
              </a:rPr>
              <a:t>•  Q-B  DECIDED  </a:t>
            </a:r>
            <a:r>
              <a:rPr sz="1550" b="0" i="0">
                <a:solidFill>
                  <a:srgbClr val="333333"/>
                </a:solidFill>
                <a:latin typeface="Calibri"/>
              </a:rPr>
              <a:t>Swarm: the collective derives from CollectiveEntity (ActorEntity) so it can be tasked. To apply: re-parent + re-spell the class.</a:t>
            </a:r>
          </a:p>
          <a:p>
            <a:pPr>
              <a:spcBef>
                <a:spcPts val="200"/>
              </a:spcBef>
              <a:spcAft>
                <a:spcPts val="1400"/>
              </a:spcAft>
            </a:pPr>
            <a:r>
              <a:rPr sz="1550" b="1" i="0">
                <a:solidFill>
                  <a:srgbClr val="2E7D32"/>
                </a:solidFill>
                <a:latin typeface="Calibri"/>
              </a:rPr>
              <a:t>•  Q-C  DIRECTION DECIDED  </a:t>
            </a:r>
            <a:r>
              <a:rPr sz="1550" b="0" i="0">
                <a:solidFill>
                  <a:srgbClr val="333333"/>
                </a:solidFill>
                <a:latin typeface="Calibri"/>
              </a:rPr>
              <a:t>Sensor: reworked on existing standards (the sensor-characterization slice). To apply: the survey, then re-point hasSensorCapability.</a:t>
            </a:r>
          </a:p>
          <a:p>
            <a:pPr>
              <a:spcBef>
                <a:spcPts val="200"/>
              </a:spcBef>
              <a:spcAft>
                <a:spcPts val="1400"/>
              </a:spcAft>
            </a:pPr>
            <a:r>
              <a:rPr sz="1550" b="1" i="0">
                <a:solidFill>
                  <a:srgbClr val="C87F0A"/>
                </a:solidFill>
                <a:latin typeface="Calibri"/>
              </a:rPr>
              <a:t>•  Q-D  nearly done  </a:t>
            </a:r>
            <a:r>
              <a:rPr sz="1550" b="0" i="0">
                <a:solidFill>
                  <a:srgbClr val="333333"/>
                </a:solidFill>
                <a:latin typeface="Calibri"/>
              </a:rPr>
              <a:t>Autonomy: v0.0.4 values both new autonomy properties from AutonomyLevelCode and marks NavigationAutonomy as covered - state it and retire/map the two spreadsheet lists.</a:t>
            </a:r>
          </a:p>
        </p:txBody>
      </p:sp>
      <p:sp>
        <p:nvSpPr>
          <p:cNvPr id="6" name="TextBox 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7" name="TextBox 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Decisions (2/3): new content types needed</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continued - full text + grounding in log section 7</a:t>
            </a:r>
          </a:p>
        </p:txBody>
      </p:sp>
      <p:sp>
        <p:nvSpPr>
          <p:cNvPr id="5" name="TextBox 4"/>
          <p:cNvSpPr txBox="1"/>
          <p:nvPr/>
        </p:nvSpPr>
        <p:spPr>
          <a:xfrm>
            <a:off x="640080" y="1463040"/>
            <a:ext cx="10972800" cy="4754880"/>
          </a:xfrm>
          <a:prstGeom prst="rect">
            <a:avLst/>
          </a:prstGeom>
          <a:noFill/>
        </p:spPr>
        <p:txBody>
          <a:bodyPr wrap="square">
            <a:spAutoFit/>
          </a:bodyPr>
          <a:lstStyle/>
          <a:p>
            <a:pPr>
              <a:spcBef>
                <a:spcPts val="200"/>
              </a:spcBef>
              <a:spcAft>
                <a:spcPts val="800"/>
              </a:spcAft>
            </a:pPr>
            <a:r>
              <a:rPr sz="1350" b="1" i="0">
                <a:solidFill>
                  <a:srgbClr val="2E869A"/>
                </a:solidFill>
                <a:latin typeface="Calibri"/>
              </a:rPr>
              <a:t>•  Q-E  </a:t>
            </a:r>
            <a:r>
              <a:rPr sz="1350" b="0" i="0">
                <a:solidFill>
                  <a:srgbClr val="333333"/>
                </a:solidFill>
                <a:latin typeface="Calibri"/>
              </a:rPr>
              <a:t>Inline entity definition for newly-observed entities in reports.</a:t>
            </a:r>
          </a:p>
          <a:p>
            <a:pPr>
              <a:spcBef>
                <a:spcPts val="200"/>
              </a:spcBef>
              <a:spcAft>
                <a:spcPts val="800"/>
              </a:spcAft>
            </a:pPr>
            <a:r>
              <a:rPr sz="1350" b="1" i="0">
                <a:solidFill>
                  <a:srgbClr val="2E869A"/>
                </a:solidFill>
                <a:latin typeface="Calibri"/>
              </a:rPr>
              <a:t>•  Q-F  </a:t>
            </a:r>
            <a:r>
              <a:rPr sz="1350" b="0" i="0">
                <a:solidFill>
                  <a:srgbClr val="333333"/>
                </a:solidFill>
                <a:latin typeface="Calibri"/>
              </a:rPr>
              <a:t>MediaReference identity; separate media-format from sensor-modality.</a:t>
            </a:r>
          </a:p>
          <a:p>
            <a:pPr>
              <a:spcBef>
                <a:spcPts val="200"/>
              </a:spcBef>
              <a:spcAft>
                <a:spcPts val="800"/>
              </a:spcAft>
            </a:pPr>
            <a:r>
              <a:rPr sz="1350" b="1" i="0">
                <a:solidFill>
                  <a:srgbClr val="2E869A"/>
                </a:solidFill>
                <a:latin typeface="Calibri"/>
              </a:rPr>
              <a:t>•  Q-G  </a:t>
            </a:r>
            <a:r>
              <a:rPr sz="1350" b="0" i="0">
                <a:solidFill>
                  <a:srgbClr val="333333"/>
                </a:solidFill>
                <a:latin typeface="Calibri"/>
              </a:rPr>
              <a:t>Robot-to-robot coordination content type + issuing authority (CASEVAC).</a:t>
            </a:r>
          </a:p>
          <a:p>
            <a:pPr>
              <a:spcBef>
                <a:spcPts val="200"/>
              </a:spcBef>
              <a:spcAft>
                <a:spcPts val="800"/>
              </a:spcAft>
            </a:pPr>
            <a:r>
              <a:rPr sz="1350" b="1" i="0">
                <a:solidFill>
                  <a:srgbClr val="2E869A"/>
                </a:solidFill>
                <a:latin typeface="Calibri"/>
              </a:rPr>
              <a:t>•  Q-H  </a:t>
            </a:r>
            <a:r>
              <a:rPr sz="1350" b="0" i="0">
                <a:solidFill>
                  <a:srgbClr val="333333"/>
                </a:solidFill>
                <a:latin typeface="Calibri"/>
              </a:rPr>
              <a:t>Rationale/explanation ReportContent - report why, not just what (CASEVAC).</a:t>
            </a:r>
          </a:p>
          <a:p>
            <a:pPr>
              <a:spcBef>
                <a:spcPts val="200"/>
              </a:spcBef>
              <a:spcAft>
                <a:spcPts val="800"/>
              </a:spcAft>
            </a:pPr>
            <a:r>
              <a:rPr sz="1350" b="1" i="0">
                <a:solidFill>
                  <a:srgbClr val="2E869A"/>
                </a:solidFill>
                <a:latin typeface="Calibri"/>
              </a:rPr>
              <a:t>•  Q-I  </a:t>
            </a:r>
            <a:r>
              <a:rPr sz="1350" b="0" i="0">
                <a:solidFill>
                  <a:srgbClr val="333333"/>
                </a:solidFill>
                <a:latin typeface="Calibri"/>
              </a:rPr>
              <a:t>Media-independent sensor-reading (value+unit+modality) + full SensorType taxonomy.</a:t>
            </a:r>
          </a:p>
          <a:p>
            <a:pPr>
              <a:spcBef>
                <a:spcPts val="200"/>
              </a:spcBef>
              <a:spcAft>
                <a:spcPts val="800"/>
              </a:spcAft>
            </a:pPr>
            <a:r>
              <a:rPr sz="1350" b="1" i="0">
                <a:solidFill>
                  <a:srgbClr val="2E869A"/>
                </a:solidFill>
                <a:latin typeface="Calibri"/>
              </a:rPr>
              <a:t>•  Q-J  </a:t>
            </a:r>
            <a:r>
              <a:rPr sz="1350" b="0" i="0">
                <a:solidFill>
                  <a:srgbClr val="333333"/>
                </a:solidFill>
                <a:latin typeface="Calibri"/>
              </a:rPr>
              <a:t>Swarm residuals: network params, leader role, aggregation, member lifecycle.</a:t>
            </a:r>
          </a:p>
          <a:p>
            <a:pPr>
              <a:spcBef>
                <a:spcPts val="200"/>
              </a:spcBef>
              <a:spcAft>
                <a:spcPts val="800"/>
              </a:spcAft>
            </a:pPr>
            <a:r>
              <a:rPr sz="1350" b="1" i="0">
                <a:solidFill>
                  <a:srgbClr val="2E869A"/>
                </a:solidFill>
                <a:latin typeface="Calibri"/>
              </a:rPr>
              <a:t>•  Q-K  </a:t>
            </a:r>
            <a:r>
              <a:rPr sz="1350" b="0" i="0">
                <a:solidFill>
                  <a:srgbClr val="333333"/>
                </a:solidFill>
                <a:latin typeface="Calibri"/>
              </a:rPr>
              <a:t>Engagement authority as a function of autonomy level (Fire Support).</a:t>
            </a:r>
          </a:p>
          <a:p>
            <a:pPr>
              <a:spcBef>
                <a:spcPts val="200"/>
              </a:spcBef>
              <a:spcAft>
                <a:spcPts val="800"/>
              </a:spcAft>
            </a:pPr>
            <a:r>
              <a:rPr sz="1350" b="1" i="0">
                <a:solidFill>
                  <a:srgbClr val="2E869A"/>
                </a:solidFill>
                <a:latin typeface="Calibri"/>
              </a:rPr>
              <a:t>•  Q-L  </a:t>
            </a:r>
            <a:r>
              <a:rPr sz="1350" b="0" i="0">
                <a:solidFill>
                  <a:srgbClr val="333333"/>
                </a:solidFill>
                <a:latin typeface="Calibri"/>
              </a:rPr>
              <a:t>Typed payload/effector/weapon (the action verbs already exist in LOX; only tow/salvage is a residual).</a:t>
            </a:r>
          </a:p>
          <a:p>
            <a:pPr>
              <a:spcBef>
                <a:spcPts val="200"/>
              </a:spcBef>
              <a:spcAft>
                <a:spcPts val="800"/>
              </a:spcAft>
            </a:pPr>
            <a:r>
              <a:rPr sz="1350" b="1" i="0">
                <a:solidFill>
                  <a:srgbClr val="2E869A"/>
                </a:solidFill>
                <a:latin typeface="Calibri"/>
              </a:rPr>
              <a:t>•  Q-M  </a:t>
            </a:r>
            <a:r>
              <a:rPr sz="1350" b="0" i="0">
                <a:solidFill>
                  <a:srgbClr val="333333"/>
                </a:solidFill>
                <a:latin typeface="Calibri"/>
              </a:rPr>
              <a:t>Let an area be the subject of a task/report (hasAffectedArea + area-state).</a:t>
            </a:r>
          </a:p>
        </p:txBody>
      </p:sp>
      <p:sp>
        <p:nvSpPr>
          <p:cNvPr id="6" name="TextBox 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7" name="TextBox 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Decisions (3/3): from the sourced scenarios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continued - full text + grounding in log section 7</a:t>
            </a:r>
          </a:p>
        </p:txBody>
      </p:sp>
      <p:sp>
        <p:nvSpPr>
          <p:cNvPr id="5" name="TextBox 4"/>
          <p:cNvSpPr txBox="1"/>
          <p:nvPr/>
        </p:nvSpPr>
        <p:spPr>
          <a:xfrm>
            <a:off x="640080" y="1371600"/>
            <a:ext cx="10972800" cy="4754880"/>
          </a:xfrm>
          <a:prstGeom prst="rect">
            <a:avLst/>
          </a:prstGeom>
          <a:noFill/>
        </p:spPr>
        <p:txBody>
          <a:bodyPr wrap="square">
            <a:spAutoFit/>
          </a:bodyPr>
          <a:lstStyle/>
          <a:p>
            <a:pPr>
              <a:spcBef>
                <a:spcPts val="200"/>
              </a:spcBef>
              <a:spcAft>
                <a:spcPts val="600"/>
              </a:spcAft>
            </a:pPr>
            <a:r>
              <a:rPr sz="1200" b="1" i="0">
                <a:solidFill>
                  <a:srgbClr val="2E869A"/>
                </a:solidFill>
                <a:latin typeface="Calibri"/>
              </a:rPr>
              <a:t>•  Q-N  </a:t>
            </a:r>
            <a:r>
              <a:rPr sz="1200" b="0" i="0">
                <a:solidFill>
                  <a:srgbClr val="333333"/>
                </a:solidFill>
                <a:latin typeface="Calibri"/>
              </a:rPr>
              <a:t>Area-coverage / exploration goal (explore-until-covered) - search verbs already exist.</a:t>
            </a:r>
          </a:p>
          <a:p>
            <a:pPr>
              <a:spcBef>
                <a:spcPts val="200"/>
              </a:spcBef>
              <a:spcAft>
                <a:spcPts val="600"/>
              </a:spcAft>
            </a:pPr>
            <a:r>
              <a:rPr sz="1200" b="1" i="0">
                <a:solidFill>
                  <a:srgbClr val="2E869A"/>
                </a:solidFill>
                <a:latin typeface="Calibri"/>
              </a:rPr>
              <a:t>•  Q-O  </a:t>
            </a:r>
            <a:r>
              <a:rPr sz="1200" b="0" i="0">
                <a:solidFill>
                  <a:srgbClr val="333333"/>
                </a:solidFill>
                <a:latin typeface="Calibri"/>
              </a:rPr>
              <a:t>Denied-comms operating mode + deployable relay entity (the relay verb lox#COMREL already exists).</a:t>
            </a:r>
          </a:p>
          <a:p>
            <a:pPr>
              <a:spcBef>
                <a:spcPts val="200"/>
              </a:spcBef>
              <a:spcAft>
                <a:spcPts val="600"/>
              </a:spcAft>
            </a:pPr>
            <a:r>
              <a:rPr sz="1200" b="1" i="0">
                <a:solidFill>
                  <a:srgbClr val="2E869A"/>
                </a:solidFill>
                <a:latin typeface="Calibri"/>
              </a:rPr>
              <a:t>•  Q-P  </a:t>
            </a:r>
            <a:r>
              <a:rPr sz="1200" b="0" i="0">
                <a:solidFill>
                  <a:srgbClr val="333333"/>
                </a:solidFill>
                <a:latin typeface="Calibri"/>
              </a:rPr>
              <a:t>Cross-cueing: system-to-system tasking + shared classified track/contact (extends Q-G).</a:t>
            </a:r>
          </a:p>
          <a:p>
            <a:pPr>
              <a:spcBef>
                <a:spcPts val="200"/>
              </a:spcBef>
              <a:spcAft>
                <a:spcPts val="600"/>
              </a:spcAft>
            </a:pPr>
            <a:r>
              <a:rPr sz="1200" b="1" i="0">
                <a:solidFill>
                  <a:srgbClr val="2E869A"/>
                </a:solidFill>
                <a:latin typeface="Calibri"/>
              </a:rPr>
              <a:t>•  Q-Q  </a:t>
            </a:r>
            <a:r>
              <a:rPr sz="1200" b="0" i="0">
                <a:solidFill>
                  <a:srgbClr val="333333"/>
                </a:solidFill>
                <a:latin typeface="Calibri"/>
              </a:rPr>
              <a:t>One generic Detection Report (confidence + error-bound + false-positive) - resolves Y1/M3/M4 (extends Q-I).</a:t>
            </a:r>
          </a:p>
          <a:p>
            <a:pPr>
              <a:spcBef>
                <a:spcPts val="200"/>
              </a:spcBef>
              <a:spcAft>
                <a:spcPts val="600"/>
              </a:spcAft>
            </a:pPr>
            <a:r>
              <a:rPr sz="1200" b="1" i="0">
                <a:solidFill>
                  <a:srgbClr val="2E869A"/>
                </a:solidFill>
                <a:latin typeface="Calibri"/>
              </a:rPr>
              <a:t>•  Q-R  </a:t>
            </a:r>
            <a:r>
              <a:rPr sz="1200" b="0" i="0">
                <a:solidFill>
                  <a:srgbClr val="333333"/>
                </a:solidFill>
                <a:latin typeface="Calibri"/>
              </a:rPr>
              <a:t>Platform locomotion/role subtypes: wheeled/tracked/legged UGV; detector/neutralizer USV (extends Q-A).</a:t>
            </a:r>
          </a:p>
          <a:p>
            <a:pPr>
              <a:spcBef>
                <a:spcPts val="200"/>
              </a:spcBef>
              <a:spcAft>
                <a:spcPts val="600"/>
              </a:spcAft>
            </a:pPr>
            <a:r>
              <a:rPr sz="1200" b="1" i="0">
                <a:solidFill>
                  <a:srgbClr val="2E869A"/>
                </a:solidFill>
                <a:latin typeface="Calibri"/>
              </a:rPr>
              <a:t>•  Q-S  </a:t>
            </a:r>
            <a:r>
              <a:rPr sz="1200" b="0" i="0">
                <a:solidFill>
                  <a:srgbClr val="333333"/>
                </a:solidFill>
                <a:latin typeface="Calibri"/>
              </a:rPr>
              <a:t>Decoy/deception behavior + threat-aware order annotations.</a:t>
            </a:r>
          </a:p>
          <a:p>
            <a:pPr>
              <a:spcBef>
                <a:spcPts val="200"/>
              </a:spcBef>
              <a:spcAft>
                <a:spcPts val="600"/>
              </a:spcAft>
            </a:pPr>
            <a:r>
              <a:rPr sz="1200" b="1" i="0">
                <a:solidFill>
                  <a:srgbClr val="2E869A"/>
                </a:solidFill>
                <a:latin typeface="Calibri"/>
              </a:rPr>
              <a:t>•  Q-T  </a:t>
            </a:r>
            <a:r>
              <a:rPr sz="1200" b="0" i="0">
                <a:solidFill>
                  <a:srgbClr val="333333"/>
                </a:solidFill>
                <a:latin typeface="Calibri"/>
              </a:rPr>
              <a:t>Operating-environment condition attributes (GPS-denied, illumination, sea-state, terrain).</a:t>
            </a:r>
          </a:p>
          <a:p>
            <a:pPr>
              <a:spcBef>
                <a:spcPts val="200"/>
              </a:spcBef>
              <a:spcAft>
                <a:spcPts val="600"/>
              </a:spcAft>
            </a:pPr>
            <a:r>
              <a:rPr sz="1200" b="1" i="0">
                <a:solidFill>
                  <a:srgbClr val="2E869A"/>
                </a:solidFill>
                <a:latin typeface="Calibri"/>
              </a:rPr>
              <a:t>•  Q-U  </a:t>
            </a:r>
            <a:r>
              <a:rPr sz="1200" b="0" i="0">
                <a:solidFill>
                  <a:srgbClr val="333333"/>
                </a:solidFill>
                <a:latin typeface="Calibri"/>
              </a:rPr>
              <a:t>Formation / relative-geometry construct (orbit, convoy spacing) beyond single RelativeLocation.</a:t>
            </a:r>
          </a:p>
          <a:p>
            <a:pPr>
              <a:spcBef>
                <a:spcPts val="200"/>
              </a:spcBef>
              <a:spcAft>
                <a:spcPts val="600"/>
              </a:spcAft>
            </a:pPr>
            <a:r>
              <a:rPr sz="1200" b="1" i="0">
                <a:solidFill>
                  <a:srgbClr val="2E869A"/>
                </a:solidFill>
                <a:latin typeface="Calibri"/>
              </a:rPr>
              <a:t>•  Q-V  </a:t>
            </a:r>
            <a:r>
              <a:rPr sz="1200" b="0" i="0">
                <a:solidFill>
                  <a:srgbClr val="333333"/>
                </a:solidFill>
                <a:latin typeface="Calibri"/>
              </a:rPr>
              <a:t>Capability self-report (robot declares mounted equipment; assign by capability) - BML WhoHoldingType.</a:t>
            </a:r>
          </a:p>
          <a:p>
            <a:pPr>
              <a:spcBef>
                <a:spcPts val="200"/>
              </a:spcBef>
              <a:spcAft>
                <a:spcPts val="600"/>
              </a:spcAft>
            </a:pPr>
            <a:r>
              <a:rPr sz="1200" b="1" i="0">
                <a:solidFill>
                  <a:srgbClr val="2E869A"/>
                </a:solidFill>
                <a:latin typeface="Calibri"/>
              </a:rPr>
              <a:t>•  Q-W  </a:t>
            </a:r>
            <a:r>
              <a:rPr sz="1200" b="0" i="0">
                <a:solidFill>
                  <a:srgbClr val="333333"/>
                </a:solidFill>
                <a:latin typeface="Calibri"/>
              </a:rPr>
              <a:t>Weapons-control-status + kill-box authorization area gating autonomous lethal action - unifies Q-K + Q-M (the drone-warfare headline, G14).</a:t>
            </a:r>
          </a:p>
          <a:p>
            <a:pPr>
              <a:spcBef>
                <a:spcPts val="200"/>
              </a:spcBef>
              <a:spcAft>
                <a:spcPts val="600"/>
              </a:spcAft>
            </a:pPr>
            <a:r>
              <a:rPr sz="1200" b="1" i="0">
                <a:solidFill>
                  <a:srgbClr val="2E869A"/>
                </a:solidFill>
                <a:latin typeface="Calibri"/>
              </a:rPr>
              <a:t>•  Q-X  </a:t>
            </a:r>
            <a:r>
              <a:rPr sz="1200" b="0" i="0">
                <a:solidFill>
                  <a:srgbClr val="333333"/>
                </a:solidFill>
                <a:latin typeface="Calibri"/>
              </a:rPr>
              <a:t>Loitering-munition/FPV platform-munition typing + counter-UAS (detect-&gt;defeat over existing air-defense verbs) + EW-vulnerability annotation.</a:t>
            </a:r>
          </a:p>
        </p:txBody>
      </p:sp>
      <p:sp>
        <p:nvSpPr>
          <p:cNvPr id="6" name="TextBox 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7" name="TextBox 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Proposed refinements</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Pending group buy-in - only the typo fixes are written (PR #9)</a:t>
            </a:r>
          </a:p>
        </p:txBody>
      </p:sp>
      <p:sp>
        <p:nvSpPr>
          <p:cNvPr id="5" name="TextBox 4"/>
          <p:cNvSpPr txBox="1"/>
          <p:nvPr/>
        </p:nvSpPr>
        <p:spPr>
          <a:xfrm>
            <a:off x="640080" y="1554480"/>
            <a:ext cx="10972800" cy="4754880"/>
          </a:xfrm>
          <a:prstGeom prst="rect">
            <a:avLst/>
          </a:prstGeom>
          <a:noFill/>
        </p:spPr>
        <p:txBody>
          <a:bodyPr wrap="square">
            <a:spAutoFit/>
          </a:bodyPr>
          <a:lstStyle/>
          <a:p>
            <a:pPr>
              <a:spcBef>
                <a:spcPts val="200"/>
              </a:spcBef>
              <a:spcAft>
                <a:spcPts val="1300"/>
              </a:spcAft>
            </a:pPr>
            <a:r>
              <a:rPr sz="1400" b="1" i="0">
                <a:solidFill>
                  <a:srgbClr val="2E7D32"/>
                </a:solidFill>
                <a:latin typeface="Calibri"/>
              </a:rPr>
              <a:t>•  Safe corrections (unambiguous):  </a:t>
            </a:r>
            <a:r>
              <a:rPr sz="1400" b="0" i="0">
                <a:solidFill>
                  <a:srgbClr val="333333"/>
                </a:solidFill>
                <a:latin typeface="Calibri"/>
              </a:rPr>
              <a:t>typos fixed in PR #9 - CollectiveRoboticSystem (O1), hasAutonomousParameters (O4), versionInfo (O5), Operator comment (O6), pointer to the live file (O3); O2 already gone in v0.0.4. Still to apply: hasStartTime UUIDBase -&gt; TimeInstant (M7); unify namespace label ASX / C2SIM_ASX (M8).</a:t>
            </a:r>
          </a:p>
          <a:p>
            <a:pPr>
              <a:spcBef>
                <a:spcPts val="200"/>
              </a:spcBef>
              <a:spcAft>
                <a:spcPts val="1300"/>
              </a:spcAft>
            </a:pPr>
            <a:r>
              <a:rPr sz="1400" b="1" i="0">
                <a:solidFill>
                  <a:srgbClr val="2E7D32"/>
                </a:solidFill>
                <a:latin typeface="Calibri"/>
              </a:rPr>
              <a:t>•  Structural (decided - apply in the OWL):  </a:t>
            </a:r>
            <a:r>
              <a:rPr sz="1400" b="0" i="0">
                <a:solidFill>
                  <a:srgbClr val="333333"/>
                </a:solidFill>
                <a:latin typeface="Calibri"/>
              </a:rPr>
              <a:t>autonomy as a facet on the Platform subtree, Robot tree retired (Q-A); collective -&gt; CollectiveEntity (Q-B); sensors reworked on existing standards (Q-C); state the one autonomy vocabulary (Q-D). Plus the four floating properties (V2).</a:t>
            </a:r>
          </a:p>
          <a:p>
            <a:pPr>
              <a:spcBef>
                <a:spcPts val="200"/>
              </a:spcBef>
              <a:spcAft>
                <a:spcPts val="1300"/>
              </a:spcAft>
            </a:pPr>
            <a:r>
              <a:rPr sz="1400" b="1" i="0">
                <a:solidFill>
                  <a:srgbClr val="2E869A"/>
                </a:solidFill>
                <a:latin typeface="Calibri"/>
              </a:rPr>
              <a:t>•  New content (design):  </a:t>
            </a:r>
            <a:r>
              <a:rPr sz="1400" b="0" i="0">
                <a:solidFill>
                  <a:srgbClr val="333333"/>
                </a:solidFill>
                <a:latin typeface="Calibri"/>
              </a:rPr>
              <a:t>inline entity def (Q-E), MediaReference (Q-F), robot-to-robot + cross-cue (Q-G/Q-P), rationale report (Q-H), generic detection report (Q-I/Q-Q), swarm residuals (Q-J), engagement authority (Q-K), payload/effector/weapon typing (Q-L), area subject (Q-M), explore order (Q-N), denied-comms/relay (Q-O), locomotion subtypes (Q-R), decoy/threat-aware (Q-S), environment conditions (Q-T), formation geometry (Q-U), weapons-control/kill-box authority (Q-W), loitering-munition + counter-UAS typing (Q-X).</a:t>
            </a:r>
          </a:p>
          <a:p>
            <a:pPr>
              <a:spcBef>
                <a:spcPts val="200"/>
              </a:spcBef>
              <a:spcAft>
                <a:spcPts val="1300"/>
              </a:spcAft>
            </a:pPr>
            <a:r>
              <a:rPr sz="1400" b="1" i="0">
                <a:solidFill>
                  <a:srgbClr val="333333"/>
                </a:solidFill>
                <a:latin typeface="Calibri"/>
              </a:rPr>
              <a:t>•  Only the typo fixes are written (PR #9, pending merge into main); everything else is a proposal for group buy-in.</a:t>
            </a:r>
          </a:p>
        </p:txBody>
      </p:sp>
      <p:sp>
        <p:nvSpPr>
          <p:cNvPr id="6" name="TextBox 5"/>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log secs 3-4 (the safe corrections)  -  sec 7 (every decision, with what it resolves)</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Recommended next steps</a:t>
            </a:r>
          </a:p>
        </p:txBody>
      </p:sp>
      <p:sp>
        <p:nvSpPr>
          <p:cNvPr id="4" name="TextBox 3"/>
          <p:cNvSpPr txBox="1"/>
          <p:nvPr/>
        </p:nvSpPr>
        <p:spPr>
          <a:xfrm>
            <a:off x="640080" y="1554480"/>
            <a:ext cx="10972800" cy="4754880"/>
          </a:xfrm>
          <a:prstGeom prst="rect">
            <a:avLst/>
          </a:prstGeom>
          <a:noFill/>
        </p:spPr>
        <p:txBody>
          <a:bodyPr wrap="square">
            <a:spAutoFit/>
          </a:bodyPr>
          <a:lstStyle/>
          <a:p>
            <a:pPr>
              <a:spcBef>
                <a:spcPts val="200"/>
              </a:spcBef>
              <a:spcAft>
                <a:spcPts val="1000"/>
              </a:spcAft>
            </a:pPr>
            <a:r>
              <a:rPr sz="1500" b="1" i="0">
                <a:solidFill>
                  <a:srgbClr val="333333"/>
                </a:solidFill>
                <a:latin typeface="Calibri"/>
              </a:rPr>
              <a:t>•  Apply P7 in the OWL: re-parent the collective class under CollectiveEntity - one axiom (its re-spelling is in PR #9).</a:t>
            </a:r>
          </a:p>
          <a:p>
            <a:pPr>
              <a:spcBef>
                <a:spcPts val="200"/>
              </a:spcBef>
              <a:spcAft>
                <a:spcPts val="1000"/>
              </a:spcAft>
            </a:pPr>
            <a:r>
              <a:rPr sz="1500" b="1" i="0">
                <a:solidFill>
                  <a:srgbClr val="333333"/>
                </a:solidFill>
                <a:latin typeface="Calibri"/>
              </a:rPr>
              <a:t>•  Apply P1: retire the Robot/UAV/UGV tree, pick Vehicle-vs-Platform for the autonomy facet, re-parent the maritime pair, give the four floating v0.0.4 properties a domain.</a:t>
            </a:r>
          </a:p>
          <a:p>
            <a:pPr>
              <a:spcBef>
                <a:spcPts val="200"/>
              </a:spcBef>
              <a:spcAft>
                <a:spcPts val="1000"/>
              </a:spcAft>
            </a:pPr>
            <a:r>
              <a:rPr sz="1500" b="0" i="0">
                <a:solidFill>
                  <a:srgbClr val="333333"/>
                </a:solidFill>
                <a:latin typeface="Calibri"/>
              </a:rPr>
              <a:t>•  Run the sensor standards survey (slice 6l, steps 1-2) and re-point hasSensorCapability / fill SensorTypeCode from it; settle Q-Y.</a:t>
            </a:r>
          </a:p>
          <a:p>
            <a:pPr>
              <a:spcBef>
                <a:spcPts val="200"/>
              </a:spcBef>
              <a:spcAft>
                <a:spcPts val="1000"/>
              </a:spcAft>
            </a:pPr>
            <a:r>
              <a:rPr sz="1500" b="0" i="0">
                <a:solidFill>
                  <a:srgbClr val="333333"/>
                </a:solidFill>
                <a:latin typeface="Calibri"/>
              </a:rPr>
              <a:t>•  Merge the typo fixes (PR #9: O1, O4, O5, O6); finish the attribute layer still marked x in the Concept Mapping (Payload, Mobility, Swarm Parameters).</a:t>
            </a:r>
          </a:p>
          <a:p>
            <a:pPr>
              <a:spcBef>
                <a:spcPts val="200"/>
              </a:spcBef>
              <a:spcAft>
                <a:spcPts val="1000"/>
              </a:spcAft>
            </a:pPr>
            <a:r>
              <a:rPr sz="1500" b="0" i="0">
                <a:solidFill>
                  <a:srgbClr val="333333"/>
                </a:solidFill>
                <a:latin typeface="Calibri"/>
              </a:rPr>
              <a:t>•  Then re-cut the Initialization tabs (the [!] P1/P2/P7 rows become real rows) and add the two CASEVAC content types (Q-G robot-to-robot, Q-H rationale).</a:t>
            </a:r>
          </a:p>
          <a:p>
            <a:pPr>
              <a:spcBef>
                <a:spcPts val="200"/>
              </a:spcBef>
              <a:spcAft>
                <a:spcPts val="1000"/>
              </a:spcAft>
            </a:pPr>
            <a:r>
              <a:rPr sz="1500" b="0" i="0">
                <a:solidFill>
                  <a:srgbClr val="333333"/>
                </a:solidFill>
                <a:latin typeface="Calibri"/>
              </a:rPr>
              <a:t>•  Optional: adopt the diff-able (.xml) workbooks so edits can be reviewed and merged in git.</a:t>
            </a:r>
          </a:p>
        </p:txBody>
      </p:sp>
      <p:sp>
        <p:nvSpPr>
          <p:cNvPr id="5" name="TextBox 4"/>
          <p:cNvSpPr txBox="1"/>
          <p:nvPr/>
        </p:nvSpPr>
        <p:spPr>
          <a:xfrm>
            <a:off x="502920" y="6126480"/>
            <a:ext cx="11155680" cy="274320"/>
          </a:xfrm>
          <a:prstGeom prst="rect">
            <a:avLst/>
          </a:prstGeom>
          <a:noFill/>
        </p:spPr>
        <p:txBody>
          <a:bodyPr wrap="square">
            <a:spAutoFit/>
          </a:bodyPr>
          <a:lstStyle/>
          <a:p>
            <a:r>
              <a:rPr sz="1000" b="1" i="1">
                <a:solidFill>
                  <a:srgbClr val="2E869A"/>
                </a:solidFill>
                <a:latin typeface="Calibri"/>
              </a:rPr>
              <a:t>Dig deeper:  </a:t>
            </a:r>
            <a:r>
              <a:rPr sz="1000" b="0" i="1">
                <a:solidFill>
                  <a:srgbClr val="666666"/>
                </a:solidFill>
                <a:latin typeface="Calibri"/>
              </a:rPr>
              <a:t>Group-Briefing.md ('Status and next step')  -  log sec 10d (implementation order)  -  sec 7 for the full decision register</a:t>
            </a:r>
          </a:p>
        </p:txBody>
      </p:sp>
      <p:sp>
        <p:nvSpPr>
          <p:cNvPr id="6" name="TextBox 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7" name="TextBox 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How to use this material</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Reading paths by time budget - each level builds on the previous</a:t>
            </a:r>
          </a:p>
        </p:txBody>
      </p:sp>
      <p:graphicFrame>
        <p:nvGraphicFramePr>
          <p:cNvPr id="5" name="Table 4"/>
          <p:cNvGraphicFramePr>
            <a:graphicFrameLocks noGrp="1"/>
          </p:cNvGraphicFramePr>
          <p:nvPr/>
        </p:nvGraphicFramePr>
        <p:xfrm>
          <a:off x="640080" y="1508760"/>
          <a:ext cx="10972800" cy="3566160"/>
        </p:xfrm>
        <a:graphic>
          <a:graphicData uri="http://schemas.openxmlformats.org/drawingml/2006/table">
            <a:tbl>
              <a:tblPr firstRow="1" bandRow="1">
                <a:tableStyleId>{5C22544A-7EE6-4342-B048-85BDC9FD1C3A}</a:tableStyleId>
              </a:tblPr>
              <a:tblGrid>
                <a:gridCol w="1371600"/>
                <a:gridCol w="5943600"/>
                <a:gridCol w="3657600"/>
              </a:tblGrid>
              <a:tr h="713232">
                <a:tc>
                  <a:txBody>
                    <a:bodyPr wrap="square"/>
                    <a:lstStyle/>
                    <a:p>
                      <a:r>
                        <a:rPr sz="1250" b="1" i="0">
                          <a:solidFill>
                            <a:srgbClr val="FFFFFF"/>
                          </a:solidFill>
                          <a:latin typeface="Calibri"/>
                        </a:rPr>
                        <a:t>Budget</a:t>
                      </a:r>
                    </a:p>
                  </a:txBody>
                  <a:tcPr marT="18288" marB="18288" marL="54864" marR="54864">
                    <a:solidFill>
                      <a:srgbClr val="1F3A5F"/>
                    </a:solidFill>
                  </a:tcPr>
                </a:tc>
                <a:tc>
                  <a:txBody>
                    <a:bodyPr wrap="square"/>
                    <a:lstStyle/>
                    <a:p>
                      <a:r>
                        <a:rPr sz="1250" b="1" i="0">
                          <a:solidFill>
                            <a:srgbClr val="FFFFFF"/>
                          </a:solidFill>
                          <a:latin typeface="Calibri"/>
                        </a:rPr>
                        <a:t>Read this</a:t>
                      </a:r>
                    </a:p>
                  </a:txBody>
                  <a:tcPr marT="18288" marB="18288" marL="54864" marR="54864">
                    <a:solidFill>
                      <a:srgbClr val="1F3A5F"/>
                    </a:solidFill>
                  </a:tcPr>
                </a:tc>
                <a:tc>
                  <a:txBody>
                    <a:bodyPr wrap="square"/>
                    <a:lstStyle/>
                    <a:p>
                      <a:r>
                        <a:rPr sz="1250" b="1" i="0">
                          <a:solidFill>
                            <a:srgbClr val="FFFFFF"/>
                          </a:solidFill>
                          <a:latin typeface="Calibri"/>
                        </a:rPr>
                        <a:t>You come away with</a:t>
                      </a:r>
                    </a:p>
                  </a:txBody>
                  <a:tcPr marT="18288" marB="18288" marL="54864" marR="54864">
                    <a:solidFill>
                      <a:srgbClr val="1F3A5F"/>
                    </a:solidFill>
                  </a:tcPr>
                </a:tc>
              </a:tr>
              <a:tr h="713232">
                <a:tc>
                  <a:txBody>
                    <a:bodyPr wrap="square"/>
                    <a:lstStyle/>
                    <a:p>
                      <a:r>
                        <a:rPr sz="1200" b="0" i="0">
                          <a:solidFill>
                            <a:srgbClr val="333333"/>
                          </a:solidFill>
                          <a:latin typeface="Calibri"/>
                        </a:rPr>
                        <a:t>5 minutes</a:t>
                      </a:r>
                    </a:p>
                  </a:txBody>
                  <a:tcPr marT="18288" marB="18288" marL="54864" marR="54864">
                    <a:solidFill>
                      <a:srgbClr val="FFFFFF"/>
                    </a:solidFill>
                  </a:tcPr>
                </a:tc>
                <a:tc>
                  <a:txBody>
                    <a:bodyPr wrap="square"/>
                    <a:lstStyle/>
                    <a:p>
                      <a:r>
                        <a:rPr sz="1200" b="0" i="0">
                          <a:solidFill>
                            <a:srgbClr val="333333"/>
                          </a:solidFill>
                          <a:latin typeface="Calibri"/>
                        </a:rPr>
                        <a:t>Group-Briefing.md - one page</a:t>
                      </a:r>
                    </a:p>
                  </a:txBody>
                  <a:tcPr marT="18288" marB="18288" marL="54864" marR="54864">
                    <a:solidFill>
                      <a:srgbClr val="FFFFFF"/>
                    </a:solidFill>
                  </a:tcPr>
                </a:tc>
                <a:tc>
                  <a:txBody>
                    <a:bodyPr wrap="square"/>
                    <a:lstStyle/>
                    <a:p>
                      <a:r>
                        <a:rPr sz="1200" b="0" i="0">
                          <a:solidFill>
                            <a:srgbClr val="333333"/>
                          </a:solidFill>
                          <a:latin typeface="Calibri"/>
                        </a:rPr>
                        <a:t>what this is, what was found, the ~24 decisions, where the ball is</a:t>
                      </a:r>
                    </a:p>
                  </a:txBody>
                  <a:tcPr marT="18288" marB="18288" marL="54864" marR="54864">
                    <a:solidFill>
                      <a:srgbClr val="FFFFFF"/>
                    </a:solidFill>
                  </a:tcPr>
                </a:tc>
              </a:tr>
              <a:tr h="713232">
                <a:tc>
                  <a:txBody>
                    <a:bodyPr wrap="square"/>
                    <a:lstStyle/>
                    <a:p>
                      <a:r>
                        <a:rPr sz="1200" b="0" i="0">
                          <a:solidFill>
                            <a:srgbClr val="333333"/>
                          </a:solidFill>
                          <a:latin typeface="Calibri"/>
                        </a:rPr>
                        <a:t>30 minutes</a:t>
                      </a:r>
                    </a:p>
                  </a:txBody>
                  <a:tcPr marT="18288" marB="18288" marL="54864" marR="54864">
                    <a:solidFill>
                      <a:srgbClr val="EEF1F5"/>
                    </a:solidFill>
                  </a:tcPr>
                </a:tc>
                <a:tc>
                  <a:txBody>
                    <a:bodyPr wrap="square"/>
                    <a:lstStyle/>
                    <a:p>
                      <a:r>
                        <a:rPr sz="1200" b="0" i="0">
                          <a:solidFill>
                            <a:srgbClr val="333333"/>
                          </a:solidFill>
                          <a:latin typeface="Calibri"/>
                        </a:rPr>
                        <a:t>this deck - the speaker notes on each slide carry the talk track; the structural block (slides 8-11) is decided state + residual, the ask is the Decisions slides (Q-E..Q-X) and the next-steps order</a:t>
                      </a:r>
                    </a:p>
                  </a:txBody>
                  <a:tcPr marT="18288" marB="18288" marL="54864" marR="54864">
                    <a:solidFill>
                      <a:srgbClr val="EEF1F5"/>
                    </a:solidFill>
                  </a:tcPr>
                </a:tc>
                <a:tc>
                  <a:txBody>
                    <a:bodyPr wrap="square"/>
                    <a:lstStyle/>
                    <a:p>
                      <a:r>
                        <a:rPr sz="1200" b="0" i="0">
                          <a:solidFill>
                            <a:srgbClr val="333333"/>
                          </a:solidFill>
                          <a:latin typeface="Calibri"/>
                        </a:rPr>
                        <a:t>the full findings picture and what the group is asked to settle</a:t>
                      </a:r>
                    </a:p>
                  </a:txBody>
                  <a:tcPr marT="18288" marB="18288" marL="54864" marR="54864">
                    <a:solidFill>
                      <a:srgbClr val="EEF1F5"/>
                    </a:solidFill>
                  </a:tcPr>
                </a:tc>
              </a:tr>
              <a:tr h="713232">
                <a:tc>
                  <a:txBody>
                    <a:bodyPr wrap="square"/>
                    <a:lstStyle/>
                    <a:p>
                      <a:r>
                        <a:rPr sz="1200" b="0" i="0">
                          <a:solidFill>
                            <a:srgbClr val="333333"/>
                          </a:solidFill>
                          <a:latin typeface="Calibri"/>
                        </a:rPr>
                        <a:t>1-2 hours</a:t>
                      </a:r>
                    </a:p>
                  </a:txBody>
                  <a:tcPr marT="18288" marB="18288" marL="54864" marR="54864">
                    <a:solidFill>
                      <a:srgbClr val="FFFFFF"/>
                    </a:solidFill>
                  </a:tcPr>
                </a:tc>
                <a:tc>
                  <a:txBody>
                    <a:bodyPr wrap="square"/>
                    <a:lstStyle/>
                    <a:p>
                      <a:r>
                        <a:rPr sz="1200" b="0" i="0">
                          <a:solidFill>
                            <a:srgbClr val="333333"/>
                          </a:solidFill>
                          <a:latin typeface="Calibri"/>
                        </a:rPr>
                        <a:t>the walk doc for your topic (map on the final slide), then the log section it feeds - every ID resolves to one row with severity, status, and evidence</a:t>
                      </a:r>
                    </a:p>
                  </a:txBody>
                  <a:tcPr marT="18288" marB="18288" marL="54864" marR="54864">
                    <a:solidFill>
                      <a:srgbClr val="FFFFFF"/>
                    </a:solidFill>
                  </a:tcPr>
                </a:tc>
                <a:tc>
                  <a:txBody>
                    <a:bodyPr wrap="square"/>
                    <a:lstStyle/>
                    <a:p>
                      <a:r>
                        <a:rPr sz="1200" b="0" i="0">
                          <a:solidFill>
                            <a:srgbClr val="333333"/>
                          </a:solidFill>
                          <a:latin typeface="Calibri"/>
                        </a:rPr>
                        <a:t>a reviewer-grade view of one finding family, with its evidence</a:t>
                      </a:r>
                    </a:p>
                  </a:txBody>
                  <a:tcPr marT="18288" marB="18288" marL="54864" marR="54864">
                    <a:solidFill>
                      <a:srgbClr val="FFFFFF"/>
                    </a:solidFill>
                  </a:tcPr>
                </a:tc>
              </a:tr>
              <a:tr h="713232">
                <a:tc>
                  <a:txBody>
                    <a:bodyPr wrap="square"/>
                    <a:lstStyle/>
                    <a:p>
                      <a:r>
                        <a:rPr sz="1200" b="0" i="0">
                          <a:solidFill>
                            <a:srgbClr val="333333"/>
                          </a:solidFill>
                          <a:latin typeface="Calibri"/>
                        </a:rPr>
                        <a:t>Half a day</a:t>
                      </a:r>
                    </a:p>
                  </a:txBody>
                  <a:tcPr marT="18288" marB="18288" marL="54864" marR="54864">
                    <a:solidFill>
                      <a:srgbClr val="EEF1F5"/>
                    </a:solidFill>
                  </a:tcPr>
                </a:tc>
                <a:tc>
                  <a:txBody>
                    <a:bodyPr wrap="square"/>
                    <a:lstStyle/>
                    <a:p>
                      <a:r>
                        <a:rPr sz="1200" b="0" i="0">
                          <a:solidFill>
                            <a:srgbClr val="333333"/>
                          </a:solidFill>
                          <a:latin typeface="Calibri"/>
                        </a:rPr>
                        <a:t>Issues-And-Comments-Log.md end to end, with the three ASX Sample *.xml workbooks and Anticipated-QA.md beside it</a:t>
                      </a:r>
                    </a:p>
                  </a:txBody>
                  <a:tcPr marT="18288" marB="18288" marL="54864" marR="54864">
                    <a:solidFill>
                      <a:srgbClr val="EEF1F5"/>
                    </a:solidFill>
                  </a:tcPr>
                </a:tc>
                <a:tc>
                  <a:txBody>
                    <a:bodyPr wrap="square"/>
                    <a:lstStyle/>
                    <a:p>
                      <a:r>
                        <a:rPr sz="1200" b="0" i="0">
                          <a:solidFill>
                            <a:srgbClr val="333333"/>
                          </a:solidFill>
                          <a:latin typeface="Calibri"/>
                        </a:rPr>
                        <a:t>command of the full evidence trail - every claim, message, and decision</a:t>
                      </a:r>
                    </a:p>
                  </a:txBody>
                  <a:tcPr marT="18288" marB="18288" marL="54864" marR="54864">
                    <a:solidFill>
                      <a:srgbClr val="EEF1F5"/>
                    </a:solidFill>
                  </a:tcPr>
                </a:tc>
              </a:tr>
            </a:tbl>
          </a:graphicData>
        </a:graphic>
      </p:graphicFrame>
      <p:sp>
        <p:nvSpPr>
          <p:cNvPr id="6" name="TextBox 5"/>
          <p:cNvSpPr txBox="1"/>
          <p:nvPr/>
        </p:nvSpPr>
        <p:spPr>
          <a:xfrm>
            <a:off x="640080" y="5257800"/>
            <a:ext cx="10972800" cy="1097280"/>
          </a:xfrm>
          <a:prstGeom prst="rect">
            <a:avLst/>
          </a:prstGeom>
          <a:noFill/>
        </p:spPr>
        <p:txBody>
          <a:bodyPr wrap="square">
            <a:spAutoFit/>
          </a:bodyPr>
          <a:lstStyle/>
          <a:p>
            <a:pPr>
              <a:spcBef>
                <a:spcPts val="200"/>
              </a:spcBef>
              <a:spcAft>
                <a:spcPts val="500"/>
              </a:spcAft>
            </a:pPr>
            <a:r>
              <a:rPr sz="1200" b="1" i="0">
                <a:solidFill>
                  <a:srgbClr val="2E869A"/>
                </a:solidFill>
                <a:latin typeface="Calibri"/>
              </a:rPr>
              <a:t>•  Seeing the actual messages:  </a:t>
            </a:r>
            <a:r>
              <a:rPr sz="1200" b="0" i="0">
                <a:solidFill>
                  <a:srgbClr val="333333"/>
                </a:solidFill>
                <a:latin typeface="Calibri"/>
              </a:rPr>
              <a:t>open the three ASX Sample *.xml workbooks in Excel - one tab per message, same columns as the originals; the Notes column flags open items [!] and questions [Q], keyed to log IDs.</a:t>
            </a:r>
          </a:p>
          <a:p>
            <a:pPr>
              <a:spcBef>
                <a:spcPts val="200"/>
              </a:spcBef>
              <a:spcAft>
                <a:spcPts val="500"/>
              </a:spcAft>
            </a:pPr>
            <a:r>
              <a:rPr sz="1200" b="1" i="0">
                <a:solidFill>
                  <a:srgbClr val="C87F0A"/>
                </a:solidFill>
                <a:latin typeface="Calibri"/>
              </a:rPr>
              <a:t>•  Challenging a claim:  </a:t>
            </a:r>
            <a:r>
              <a:rPr sz="1200" b="0" i="0">
                <a:solidFill>
                  <a:srgbClr val="333333"/>
                </a:solidFill>
                <a:latin typeface="Calibri"/>
              </a:rPr>
              <a:t>the log's evidence column cites the exact RDF entity (C2SIM / SMX / LOX / v0.0.3 / v0.0.4) - grep it; every claim was independently re-verified (log change log, 2026-07-12; v0.0.4 re-check 2026-10-14).</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Finding-ID decoder ring - Issues-And-Comments-Log.md</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Every ID resolves to one row or section - nothing is free-floating</a:t>
            </a:r>
          </a:p>
        </p:txBody>
      </p:sp>
      <p:graphicFrame>
        <p:nvGraphicFramePr>
          <p:cNvPr id="5" name="Table 4"/>
          <p:cNvGraphicFramePr>
            <a:graphicFrameLocks noGrp="1"/>
          </p:cNvGraphicFramePr>
          <p:nvPr/>
        </p:nvGraphicFramePr>
        <p:xfrm>
          <a:off x="640080" y="1463040"/>
          <a:ext cx="10972800" cy="3950208"/>
        </p:xfrm>
        <a:graphic>
          <a:graphicData uri="http://schemas.openxmlformats.org/drawingml/2006/table">
            <a:tbl>
              <a:tblPr firstRow="1" bandRow="1">
                <a:tableStyleId>{5C22544A-7EE6-4342-B048-85BDC9FD1C3A}</a:tableStyleId>
              </a:tblPr>
              <a:tblGrid>
                <a:gridCol w="1737360"/>
                <a:gridCol w="5303520"/>
                <a:gridCol w="3931920"/>
              </a:tblGrid>
              <a:tr h="329184">
                <a:tc>
                  <a:txBody>
                    <a:bodyPr wrap="square"/>
                    <a:lstStyle/>
                    <a:p>
                      <a:r>
                        <a:rPr sz="1200" b="1" i="0">
                          <a:solidFill>
                            <a:srgbClr val="FFFFFF"/>
                          </a:solidFill>
                          <a:latin typeface="Calibri"/>
                        </a:rPr>
                        <a:t>ID family</a:t>
                      </a:r>
                    </a:p>
                  </a:txBody>
                  <a:tcPr marT="18288" marB="18288" marL="54864" marR="54864">
                    <a:solidFill>
                      <a:srgbClr val="1F3A5F"/>
                    </a:solidFill>
                  </a:tcPr>
                </a:tc>
                <a:tc>
                  <a:txBody>
                    <a:bodyPr wrap="square"/>
                    <a:lstStyle/>
                    <a:p>
                      <a:r>
                        <a:rPr sz="1200" b="1" i="0">
                          <a:solidFill>
                            <a:srgbClr val="FFFFFF"/>
                          </a:solidFill>
                          <a:latin typeface="Calibri"/>
                        </a:rPr>
                        <a:t>What it names</a:t>
                      </a:r>
                    </a:p>
                  </a:txBody>
                  <a:tcPr marT="18288" marB="18288" marL="54864" marR="54864">
                    <a:solidFill>
                      <a:srgbClr val="1F3A5F"/>
                    </a:solidFill>
                  </a:tcPr>
                </a:tc>
                <a:tc>
                  <a:txBody>
                    <a:bodyPr wrap="square"/>
                    <a:lstStyle/>
                    <a:p>
                      <a:r>
                        <a:rPr sz="1200" b="1" i="0">
                          <a:solidFill>
                            <a:srgbClr val="FFFFFF"/>
                          </a:solidFill>
                          <a:latin typeface="Calibri"/>
                        </a:rPr>
                        <a:t>Where it resolves</a:t>
                      </a:r>
                    </a:p>
                  </a:txBody>
                  <a:tcPr marT="18288" marB="18288" marL="54864" marR="54864">
                    <a:solidFill>
                      <a:srgbClr val="1F3A5F"/>
                    </a:solidFill>
                  </a:tcPr>
                </a:tc>
              </a:tr>
              <a:tr h="329184">
                <a:tc>
                  <a:txBody>
                    <a:bodyPr wrap="square"/>
                    <a:lstStyle/>
                    <a:p>
                      <a:r>
                        <a:rPr sz="1100" b="0" i="0">
                          <a:solidFill>
                            <a:srgbClr val="333333"/>
                          </a:solidFill>
                          <a:latin typeface="Calibri"/>
                        </a:rPr>
                        <a:t>P1 - P7</a:t>
                      </a:r>
                    </a:p>
                  </a:txBody>
                  <a:tcPr marT="18288" marB="18288" marL="54864" marR="54864">
                    <a:solidFill>
                      <a:srgbClr val="FFFFFF"/>
                    </a:solidFill>
                  </a:tcPr>
                </a:tc>
                <a:tc>
                  <a:txBody>
                    <a:bodyPr wrap="square"/>
                    <a:lstStyle/>
                    <a:p>
                      <a:r>
                        <a:rPr sz="1100" b="0" i="0">
                          <a:solidFill>
                            <a:srgbClr val="333333"/>
                          </a:solidFill>
                          <a:latin typeface="Calibri"/>
                        </a:rPr>
                        <a:t>entity-typing findings: UAV (P1), sensor (P2), swarm (P7) - all three decided 2026-10</a:t>
                      </a:r>
                    </a:p>
                  </a:txBody>
                  <a:tcPr marT="18288" marB="18288" marL="54864" marR="54864">
                    <a:solidFill>
                      <a:srgbClr val="FFFFFF"/>
                    </a:solidFill>
                  </a:tcPr>
                </a:tc>
                <a:tc>
                  <a:txBody>
                    <a:bodyPr wrap="square"/>
                    <a:lstStyle/>
                    <a:p>
                      <a:r>
                        <a:rPr sz="1100" b="0" i="0">
                          <a:solidFill>
                            <a:srgbClr val="333333"/>
                          </a:solidFill>
                          <a:latin typeface="Calibri"/>
                        </a:rPr>
                        <a:t>log sec 5 + sec 10; Initialization-Walk.md</a:t>
                      </a:r>
                    </a:p>
                  </a:txBody>
                  <a:tcPr marT="18288" marB="18288" marL="54864" marR="54864">
                    <a:solidFill>
                      <a:srgbClr val="FFFFFF"/>
                    </a:solidFill>
                  </a:tcPr>
                </a:tc>
              </a:tr>
              <a:tr h="329184">
                <a:tc>
                  <a:txBody>
                    <a:bodyPr wrap="square"/>
                    <a:lstStyle/>
                    <a:p>
                      <a:r>
                        <a:rPr sz="1100" b="0" i="0">
                          <a:solidFill>
                            <a:srgbClr val="333333"/>
                          </a:solidFill>
                          <a:latin typeface="Calibri"/>
                        </a:rPr>
                        <a:t>D / O / M</a:t>
                      </a:r>
                    </a:p>
                  </a:txBody>
                  <a:tcPr marT="18288" marB="18288" marL="54864" marR="54864">
                    <a:solidFill>
                      <a:srgbClr val="EEF1F5"/>
                    </a:solidFill>
                  </a:tcPr>
                </a:tc>
                <a:tc>
                  <a:txBody>
                    <a:bodyPr wrap="square"/>
                    <a:lstStyle/>
                    <a:p>
                      <a:r>
                        <a:rPr sz="1100" b="0" i="0">
                          <a:solidFill>
                            <a:srgbClr val="333333"/>
                          </a:solidFill>
                          <a:latin typeface="Calibri"/>
                        </a:rPr>
                        <a:t>track alignment / OWL typos / sample-message items</a:t>
                      </a:r>
                    </a:p>
                  </a:txBody>
                  <a:tcPr marT="18288" marB="18288" marL="54864" marR="54864">
                    <a:solidFill>
                      <a:srgbClr val="EEF1F5"/>
                    </a:solidFill>
                  </a:tcPr>
                </a:tc>
                <a:tc>
                  <a:txBody>
                    <a:bodyPr wrap="square"/>
                    <a:lstStyle/>
                    <a:p>
                      <a:r>
                        <a:rPr sz="1100" b="0" i="0">
                          <a:solidFill>
                            <a:srgbClr val="333333"/>
                          </a:solidFill>
                          <a:latin typeface="Calibri"/>
                        </a:rPr>
                        <a:t>log secs 2 / 3 / 4</a:t>
                      </a:r>
                    </a:p>
                  </a:txBody>
                  <a:tcPr marT="18288" marB="18288" marL="54864" marR="54864">
                    <a:solidFill>
                      <a:srgbClr val="EEF1F5"/>
                    </a:solidFill>
                  </a:tcPr>
                </a:tc>
              </a:tr>
              <a:tr h="329184">
                <a:tc>
                  <a:txBody>
                    <a:bodyPr wrap="square"/>
                    <a:lstStyle/>
                    <a:p>
                      <a:r>
                        <a:rPr sz="1100" b="0" i="0">
                          <a:solidFill>
                            <a:srgbClr val="333333"/>
                          </a:solidFill>
                          <a:latin typeface="Calibri"/>
                        </a:rPr>
                        <a:t>S</a:t>
                      </a:r>
                    </a:p>
                  </a:txBody>
                  <a:tcPr marT="18288" marB="18288" marL="54864" marR="54864">
                    <a:solidFill>
                      <a:srgbClr val="FFFFFF"/>
                    </a:solidFill>
                  </a:tcPr>
                </a:tc>
                <a:tc>
                  <a:txBody>
                    <a:bodyPr wrap="square"/>
                    <a:lstStyle/>
                    <a:p>
                      <a:r>
                        <a:rPr sz="1100" b="0" i="0">
                          <a:solidFill>
                            <a:srgbClr val="333333"/>
                          </a:solidFill>
                          <a:latin typeface="Calibri"/>
                        </a:rPr>
                        <a:t>process + repo-sync decisions (e.g. diff-able workbooks, S4)</a:t>
                      </a:r>
                    </a:p>
                  </a:txBody>
                  <a:tcPr marT="18288" marB="18288" marL="54864" marR="54864">
                    <a:solidFill>
                      <a:srgbClr val="FFFFFF"/>
                    </a:solidFill>
                  </a:tcPr>
                </a:tc>
                <a:tc>
                  <a:txBody>
                    <a:bodyPr wrap="square"/>
                    <a:lstStyle/>
                    <a:p>
                      <a:r>
                        <a:rPr sz="1100" b="0" i="0">
                          <a:solidFill>
                            <a:srgbClr val="333333"/>
                          </a:solidFill>
                          <a:latin typeface="Calibri"/>
                        </a:rPr>
                        <a:t>log sec 1</a:t>
                      </a:r>
                    </a:p>
                  </a:txBody>
                  <a:tcPr marT="18288" marB="18288" marL="54864" marR="54864">
                    <a:solidFill>
                      <a:srgbClr val="FFFFFF"/>
                    </a:solidFill>
                  </a:tcPr>
                </a:tc>
              </a:tr>
              <a:tr h="329184">
                <a:tc>
                  <a:txBody>
                    <a:bodyPr wrap="square"/>
                    <a:lstStyle/>
                    <a:p>
                      <a:r>
                        <a:rPr sz="1100" b="0" i="0">
                          <a:solidFill>
                            <a:srgbClr val="333333"/>
                          </a:solidFill>
                          <a:latin typeface="Calibri"/>
                        </a:rPr>
                        <a:t>C1 - C9</a:t>
                      </a:r>
                    </a:p>
                  </a:txBody>
                  <a:tcPr marT="18288" marB="18288" marL="54864" marR="54864">
                    <a:solidFill>
                      <a:srgbClr val="EEF1F5"/>
                    </a:solidFill>
                  </a:tcPr>
                </a:tc>
                <a:tc>
                  <a:txBody>
                    <a:bodyPr wrap="square"/>
                    <a:lstStyle/>
                    <a:p>
                      <a:r>
                        <a:rPr sz="1100" b="0" i="0">
                          <a:solidFill>
                            <a:srgbClr val="333333"/>
                          </a:solidFill>
                          <a:latin typeface="Calibri"/>
                        </a:rPr>
                        <a:t>coverage state, scenario x message type</a:t>
                      </a:r>
                    </a:p>
                  </a:txBody>
                  <a:tcPr marT="18288" marB="18288" marL="54864" marR="54864">
                    <a:solidFill>
                      <a:srgbClr val="EEF1F5"/>
                    </a:solidFill>
                  </a:tcPr>
                </a:tc>
                <a:tc>
                  <a:txBody>
                    <a:bodyPr wrap="square"/>
                    <a:lstStyle/>
                    <a:p>
                      <a:r>
                        <a:rPr sz="1100" b="0" i="0">
                          <a:solidFill>
                            <a:srgbClr val="333333"/>
                          </a:solidFill>
                          <a:latin typeface="Calibri"/>
                        </a:rPr>
                        <a:t>log sec 6</a:t>
                      </a:r>
                    </a:p>
                  </a:txBody>
                  <a:tcPr marT="18288" marB="18288" marL="54864" marR="54864">
                    <a:solidFill>
                      <a:srgbClr val="EEF1F5"/>
                    </a:solidFill>
                  </a:tcPr>
                </a:tc>
              </a:tr>
              <a:tr h="329184">
                <a:tc>
                  <a:txBody>
                    <a:bodyPr wrap="square"/>
                    <a:lstStyle/>
                    <a:p>
                      <a:r>
                        <a:rPr sz="1100" b="0" i="0">
                          <a:solidFill>
                            <a:srgbClr val="333333"/>
                          </a:solidFill>
                          <a:latin typeface="Calibri"/>
                        </a:rPr>
                        <a:t>X</a:t>
                      </a:r>
                    </a:p>
                  </a:txBody>
                  <a:tcPr marT="18288" marB="18288" marL="54864" marR="54864">
                    <a:solidFill>
                      <a:srgbClr val="FFFFFF"/>
                    </a:solidFill>
                  </a:tcPr>
                </a:tc>
                <a:tc>
                  <a:txBody>
                    <a:bodyPr wrap="square"/>
                    <a:lstStyle/>
                    <a:p>
                      <a:r>
                        <a:rPr sz="1100" b="0" i="0">
                          <a:solidFill>
                            <a:srgbClr val="333333"/>
                          </a:solidFill>
                          <a:latin typeface="Calibri"/>
                        </a:rPr>
                        <a:t>CASEVAC walk findings</a:t>
                      </a:r>
                    </a:p>
                  </a:txBody>
                  <a:tcPr marT="18288" marB="18288" marL="54864" marR="54864">
                    <a:solidFill>
                      <a:srgbClr val="FFFFFF"/>
                    </a:solidFill>
                  </a:tcPr>
                </a:tc>
                <a:tc>
                  <a:txBody>
                    <a:bodyPr wrap="square"/>
                    <a:lstStyle/>
                    <a:p>
                      <a:r>
                        <a:rPr sz="1100" b="0" i="0">
                          <a:solidFill>
                            <a:srgbClr val="333333"/>
                          </a:solidFill>
                          <a:latin typeface="Calibri"/>
                        </a:rPr>
                        <a:t>log sec 6b; CASEVAC-Walk.md</a:t>
                      </a:r>
                    </a:p>
                  </a:txBody>
                  <a:tcPr marT="18288" marB="18288" marL="54864" marR="54864">
                    <a:solidFill>
                      <a:srgbClr val="FFFFFF"/>
                    </a:solidFill>
                  </a:tcPr>
                </a:tc>
              </a:tr>
              <a:tr h="329184">
                <a:tc>
                  <a:txBody>
                    <a:bodyPr wrap="square"/>
                    <a:lstStyle/>
                    <a:p>
                      <a:r>
                        <a:rPr sz="1100" b="0" i="0">
                          <a:solidFill>
                            <a:srgbClr val="333333"/>
                          </a:solidFill>
                          <a:latin typeface="Calibri"/>
                        </a:rPr>
                        <a:t>Y / Z</a:t>
                      </a:r>
                    </a:p>
                  </a:txBody>
                  <a:tcPr marT="18288" marB="18288" marL="54864" marR="54864">
                    <a:solidFill>
                      <a:srgbClr val="EEF1F5"/>
                    </a:solidFill>
                  </a:tcPr>
                </a:tc>
                <a:tc>
                  <a:txBody>
                    <a:bodyPr wrap="square"/>
                    <a:lstStyle/>
                    <a:p>
                      <a:r>
                        <a:rPr sz="1100" b="0" i="0">
                          <a:solidFill>
                            <a:srgbClr val="333333"/>
                          </a:solidFill>
                          <a:latin typeface="Calibri"/>
                        </a:rPr>
                        <a:t>sensor / swarm walk findings</a:t>
                      </a:r>
                    </a:p>
                  </a:txBody>
                  <a:tcPr marT="18288" marB="18288" marL="54864" marR="54864">
                    <a:solidFill>
                      <a:srgbClr val="EEF1F5"/>
                    </a:solidFill>
                  </a:tcPr>
                </a:tc>
                <a:tc>
                  <a:txBody>
                    <a:bodyPr wrap="square"/>
                    <a:lstStyle/>
                    <a:p>
                      <a:r>
                        <a:rPr sz="1100" b="0" i="0">
                          <a:solidFill>
                            <a:srgbClr val="333333"/>
                          </a:solidFill>
                          <a:latin typeface="Calibri"/>
                        </a:rPr>
                        <a:t>log secs 6c / 6d; NonVideoSensors- / Swarm-Walk.md</a:t>
                      </a:r>
                    </a:p>
                  </a:txBody>
                  <a:tcPr marT="18288" marB="18288" marL="54864" marR="54864">
                    <a:solidFill>
                      <a:srgbClr val="EEF1F5"/>
                    </a:solidFill>
                  </a:tcPr>
                </a:tc>
              </a:tr>
              <a:tr h="329184">
                <a:tc>
                  <a:txBody>
                    <a:bodyPr wrap="square"/>
                    <a:lstStyle/>
                    <a:p>
                      <a:r>
                        <a:rPr sz="1100" b="0" i="0">
                          <a:solidFill>
                            <a:srgbClr val="333333"/>
                          </a:solidFill>
                          <a:latin typeface="Calibri"/>
                        </a:rPr>
                        <a:t>W / L / E / R</a:t>
                      </a:r>
                    </a:p>
                  </a:txBody>
                  <a:tcPr marT="18288" marB="18288" marL="54864" marR="54864">
                    <a:solidFill>
                      <a:srgbClr val="FFFFFF"/>
                    </a:solidFill>
                  </a:tcPr>
                </a:tc>
                <a:tc>
                  <a:txBody>
                    <a:bodyPr wrap="square"/>
                    <a:lstStyle/>
                    <a:p>
                      <a:r>
                        <a:rPr sz="1100" b="0" i="0">
                          <a:solidFill>
                            <a:srgbClr val="333333"/>
                          </a:solidFill>
                          <a:latin typeface="Calibri"/>
                        </a:rPr>
                        <a:t>fire support / logistics / engineering / rescue findings</a:t>
                      </a:r>
                    </a:p>
                  </a:txBody>
                  <a:tcPr marT="18288" marB="18288" marL="54864" marR="54864">
                    <a:solidFill>
                      <a:srgbClr val="FFFFFF"/>
                    </a:solidFill>
                  </a:tcPr>
                </a:tc>
                <a:tc>
                  <a:txBody>
                    <a:bodyPr wrap="square"/>
                    <a:lstStyle/>
                    <a:p>
                      <a:r>
                        <a:rPr sz="1100" b="0" i="0">
                          <a:solidFill>
                            <a:srgbClr val="333333"/>
                          </a:solidFill>
                          <a:latin typeface="Calibri"/>
                        </a:rPr>
                        <a:t>log secs 6e / 6f; FireSupport- / TaskEffect-Batch-Walk.md</a:t>
                      </a:r>
                    </a:p>
                  </a:txBody>
                  <a:tcPr marT="18288" marB="18288" marL="54864" marR="54864">
                    <a:solidFill>
                      <a:srgbClr val="FFFFFF"/>
                    </a:solidFill>
                  </a:tcPr>
                </a:tc>
              </a:tr>
              <a:tr h="329184">
                <a:tc>
                  <a:txBody>
                    <a:bodyPr wrap="square"/>
                    <a:lstStyle/>
                    <a:p>
                      <a:r>
                        <a:rPr sz="1100" b="0" i="0">
                          <a:solidFill>
                            <a:srgbClr val="333333"/>
                          </a:solidFill>
                          <a:latin typeface="Calibri"/>
                        </a:rPr>
                        <a:t>N</a:t>
                      </a:r>
                    </a:p>
                  </a:txBody>
                  <a:tcPr marT="18288" marB="18288" marL="54864" marR="54864">
                    <a:solidFill>
                      <a:srgbClr val="EEF1F5"/>
                    </a:solidFill>
                  </a:tcPr>
                </a:tc>
                <a:tc>
                  <a:txBody>
                    <a:bodyPr wrap="square"/>
                    <a:lstStyle/>
                    <a:p>
                      <a:r>
                        <a:rPr sz="1100" b="0" i="0">
                          <a:solidFill>
                            <a:srgbClr val="333333"/>
                          </a:solidFill>
                          <a:latin typeface="Calibri"/>
                        </a:rPr>
                        <a:t>redundancy-pass findings</a:t>
                      </a:r>
                    </a:p>
                  </a:txBody>
                  <a:tcPr marT="18288" marB="18288" marL="54864" marR="54864">
                    <a:solidFill>
                      <a:srgbClr val="EEF1F5"/>
                    </a:solidFill>
                  </a:tcPr>
                </a:tc>
                <a:tc>
                  <a:txBody>
                    <a:bodyPr wrap="square"/>
                    <a:lstStyle/>
                    <a:p>
                      <a:r>
                        <a:rPr sz="1100" b="0" i="0">
                          <a:solidFill>
                            <a:srgbClr val="333333"/>
                          </a:solidFill>
                          <a:latin typeface="Calibri"/>
                        </a:rPr>
                        <a:t>log sec 6g; RedundancyPass-Walk.md</a:t>
                      </a:r>
                    </a:p>
                  </a:txBody>
                  <a:tcPr marT="18288" marB="18288" marL="54864" marR="54864">
                    <a:solidFill>
                      <a:srgbClr val="EEF1F5"/>
                    </a:solidFill>
                  </a:tcPr>
                </a:tc>
              </a:tr>
              <a:tr h="329184">
                <a:tc>
                  <a:txBody>
                    <a:bodyPr wrap="square"/>
                    <a:lstStyle/>
                    <a:p>
                      <a:r>
                        <a:rPr sz="1100" b="0" i="0">
                          <a:solidFill>
                            <a:srgbClr val="333333"/>
                          </a:solidFill>
                          <a:latin typeface="Calibri"/>
                        </a:rPr>
                        <a:t>G</a:t>
                      </a:r>
                    </a:p>
                  </a:txBody>
                  <a:tcPr marT="18288" marB="18288" marL="54864" marR="54864">
                    <a:solidFill>
                      <a:srgbClr val="FFFFFF"/>
                    </a:solidFill>
                  </a:tcPr>
                </a:tc>
                <a:tc>
                  <a:txBody>
                    <a:bodyPr wrap="square"/>
                    <a:lstStyle/>
                    <a:p>
                      <a:r>
                        <a:rPr sz="1100" b="0" i="0">
                          <a:solidFill>
                            <a:srgbClr val="333333"/>
                          </a:solidFill>
                          <a:latin typeface="Calibri"/>
                        </a:rPr>
                        <a:t>sourced-scenario + validation + drone-warfare findings</a:t>
                      </a:r>
                    </a:p>
                  </a:txBody>
                  <a:tcPr marT="18288" marB="18288" marL="54864" marR="54864">
                    <a:solidFill>
                      <a:srgbClr val="FFFFFF"/>
                    </a:solidFill>
                  </a:tcPr>
                </a:tc>
                <a:tc>
                  <a:txBody>
                    <a:bodyPr wrap="square"/>
                    <a:lstStyle/>
                    <a:p>
                      <a:r>
                        <a:rPr sz="1100" b="0" i="0">
                          <a:solidFill>
                            <a:srgbClr val="333333"/>
                          </a:solidFill>
                          <a:latin typeface="Calibri"/>
                        </a:rPr>
                        <a:t>log secs 6h-6k; SourcedScenarios- / ValidationEvidence- / DroneWarfare-LIRC-OPFOR-Walk.md</a:t>
                      </a:r>
                    </a:p>
                  </a:txBody>
                  <a:tcPr marT="18288" marB="18288" marL="54864" marR="54864">
                    <a:solidFill>
                      <a:srgbClr val="FFFFFF"/>
                    </a:solidFill>
                  </a:tcPr>
                </a:tc>
              </a:tr>
              <a:tr h="329184">
                <a:tc>
                  <a:txBody>
                    <a:bodyPr wrap="square"/>
                    <a:lstStyle/>
                    <a:p>
                      <a:r>
                        <a:rPr sz="1100" b="0" i="0">
                          <a:solidFill>
                            <a:srgbClr val="333333"/>
                          </a:solidFill>
                          <a:latin typeface="Calibri"/>
                        </a:rPr>
                        <a:t>Q-A .. Q-X</a:t>
                      </a:r>
                    </a:p>
                  </a:txBody>
                  <a:tcPr marT="18288" marB="18288" marL="54864" marR="54864">
                    <a:solidFill>
                      <a:srgbClr val="EEF1F5"/>
                    </a:solidFill>
                  </a:tcPr>
                </a:tc>
                <a:tc>
                  <a:txBody>
                    <a:bodyPr wrap="square"/>
                    <a:lstStyle/>
                    <a:p>
                      <a:r>
                        <a:rPr sz="1100" b="0" i="0">
                          <a:solidFill>
                            <a:srgbClr val="333333"/>
                          </a:solidFill>
                          <a:latin typeface="Calibri"/>
                        </a:rPr>
                        <a:t>the 24 decisions this review puts to the group (Q-A..Q-C decided)</a:t>
                      </a:r>
                    </a:p>
                  </a:txBody>
                  <a:tcPr marT="18288" marB="18288" marL="54864" marR="54864">
                    <a:solidFill>
                      <a:srgbClr val="EEF1F5"/>
                    </a:solidFill>
                  </a:tcPr>
                </a:tc>
                <a:tc>
                  <a:txBody>
                    <a:bodyPr wrap="square"/>
                    <a:lstStyle/>
                    <a:p>
                      <a:r>
                        <a:rPr sz="1100" b="0" i="0">
                          <a:solidFill>
                            <a:srgbClr val="333333"/>
                          </a:solidFill>
                          <a:latin typeface="Calibri"/>
                        </a:rPr>
                        <a:t>log sec 7 - full text + what each resolves; sec 10 - the decisions</a:t>
                      </a:r>
                    </a:p>
                  </a:txBody>
                  <a:tcPr marT="18288" marB="18288" marL="54864" marR="54864">
                    <a:solidFill>
                      <a:srgbClr val="EEF1F5"/>
                    </a:solidFill>
                  </a:tcPr>
                </a:tc>
              </a:tr>
              <a:tr h="329184">
                <a:tc>
                  <a:txBody>
                    <a:bodyPr wrap="square"/>
                    <a:lstStyle/>
                    <a:p>
                      <a:r>
                        <a:rPr sz="1100" b="0" i="0">
                          <a:solidFill>
                            <a:srgbClr val="333333"/>
                          </a:solidFill>
                          <a:latin typeface="Calibri"/>
                        </a:rPr>
                        <a:t>V</a:t>
                      </a:r>
                    </a:p>
                  </a:txBody>
                  <a:tcPr marT="18288" marB="18288" marL="54864" marR="54864">
                    <a:solidFill>
                      <a:srgbClr val="FFFFFF"/>
                    </a:solidFill>
                  </a:tcPr>
                </a:tc>
                <a:tc>
                  <a:txBody>
                    <a:bodyPr wrap="square"/>
                    <a:lstStyle/>
                    <a:p>
                      <a:r>
                        <a:rPr sz="1100" b="0" i="0">
                          <a:solidFill>
                            <a:srgbClr val="333333"/>
                          </a:solidFill>
                          <a:latin typeface="Calibri"/>
                        </a:rPr>
                        <a:t>v0.0.3 / v0.0.4 model observations (V1 maritime parenting, V2 floating properties, ...)</a:t>
                      </a:r>
                    </a:p>
                  </a:txBody>
                  <a:tcPr marT="18288" marB="18288" marL="54864" marR="54864">
                    <a:solidFill>
                      <a:srgbClr val="FFFFFF"/>
                    </a:solidFill>
                  </a:tcPr>
                </a:tc>
                <a:tc>
                  <a:txBody>
                    <a:bodyPr wrap="square"/>
                    <a:lstStyle/>
                    <a:p>
                      <a:r>
                        <a:rPr sz="1100" b="0" i="0">
                          <a:solidFill>
                            <a:srgbClr val="333333"/>
                          </a:solidFill>
                          <a:latin typeface="Calibri"/>
                        </a:rPr>
                        <a:t>log secs 9-10</a:t>
                      </a:r>
                    </a:p>
                  </a:txBody>
                  <a:tcPr marT="18288" marB="18288" marL="54864" marR="54864">
                    <a:solidFill>
                      <a:srgbClr val="FFFFFF"/>
                    </a:solidFill>
                  </a:tcPr>
                </a:tc>
              </a:tr>
            </a:tbl>
          </a:graphicData>
        </a:graphic>
      </p:graphicFrame>
      <p:sp>
        <p:nvSpPr>
          <p:cNvPr id="6" name="TextBox 5"/>
          <p:cNvSpPr txBox="1"/>
          <p:nvPr/>
        </p:nvSpPr>
        <p:spPr>
          <a:xfrm>
            <a:off x="640080" y="6053328"/>
            <a:ext cx="10972800" cy="301752"/>
          </a:xfrm>
          <a:prstGeom prst="rect">
            <a:avLst/>
          </a:prstGeom>
          <a:noFill/>
        </p:spPr>
        <p:txBody>
          <a:bodyPr wrap="square">
            <a:spAutoFit/>
          </a:bodyPr>
          <a:lstStyle/>
          <a:p>
            <a:pPr>
              <a:spcBef>
                <a:spcPts val="200"/>
              </a:spcBef>
              <a:spcAft>
                <a:spcPts val="600"/>
              </a:spcAft>
            </a:pPr>
            <a:r>
              <a:rPr sz="1150" b="0" i="0">
                <a:solidFill>
                  <a:srgbClr val="1F3A5F"/>
                </a:solidFill>
                <a:latin typeface="Calibri"/>
              </a:rPr>
              <a:t>•  An unfamiliar ID in any document is a pointer, not jargon - the right column lands on its definition, evidence, and status.</a:t>
            </a:r>
          </a:p>
        </p:txBody>
      </p:sp>
      <p:sp>
        <p:nvSpPr>
          <p:cNvPr id="7" name="TextBox 6"/>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8" name="TextBox 7"/>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170432"/>
            <a:ext cx="2011680" cy="38100"/>
          </a:xfrm>
          <a:prstGeom prst="rect">
            <a:avLst/>
          </a:prstGeom>
          <a:solidFill>
            <a:srgbClr val="2E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822960"/>
          </a:xfrm>
          <a:prstGeom prst="rect">
            <a:avLst/>
          </a:prstGeom>
          <a:noFill/>
        </p:spPr>
        <p:txBody>
          <a:bodyPr wrap="square">
            <a:spAutoFit/>
          </a:bodyPr>
          <a:lstStyle/>
          <a:p>
            <a:r>
              <a:rPr sz="3000" b="1" i="0">
                <a:solidFill>
                  <a:srgbClr val="1F3A5F"/>
                </a:solidFill>
                <a:latin typeface="Calibri"/>
              </a:rPr>
              <a:t>Where to dig deeper</a:t>
            </a:r>
          </a:p>
        </p:txBody>
      </p:sp>
      <p:sp>
        <p:nvSpPr>
          <p:cNvPr id="4" name="TextBox 3"/>
          <p:cNvSpPr txBox="1"/>
          <p:nvPr/>
        </p:nvSpPr>
        <p:spPr>
          <a:xfrm>
            <a:off x="548640" y="914400"/>
            <a:ext cx="10972800" cy="320040"/>
          </a:xfrm>
          <a:prstGeom prst="rect">
            <a:avLst/>
          </a:prstGeom>
          <a:noFill/>
        </p:spPr>
        <p:txBody>
          <a:bodyPr wrap="square">
            <a:spAutoFit/>
          </a:bodyPr>
          <a:lstStyle/>
          <a:p>
            <a:r>
              <a:rPr sz="1300" b="0" i="1">
                <a:solidFill>
                  <a:srgbClr val="2E869A"/>
                </a:solidFill>
                <a:latin typeface="Calibri"/>
              </a:rPr>
              <a:t>Branch asx-diffable-spreadsheets: docs in ASX/InstantiationReview, workbooks in ASX/Proposed Extension Working Materials</a:t>
            </a:r>
          </a:p>
        </p:txBody>
      </p:sp>
      <p:sp>
        <p:nvSpPr>
          <p:cNvPr id="5" name="TextBox 4"/>
          <p:cNvSpPr txBox="1"/>
          <p:nvPr/>
        </p:nvSpPr>
        <p:spPr>
          <a:xfrm>
            <a:off x="640080" y="1508760"/>
            <a:ext cx="10972800" cy="4754880"/>
          </a:xfrm>
          <a:prstGeom prst="rect">
            <a:avLst/>
          </a:prstGeom>
          <a:noFill/>
        </p:spPr>
        <p:txBody>
          <a:bodyPr wrap="square">
            <a:spAutoFit/>
          </a:bodyPr>
          <a:lstStyle/>
          <a:p>
            <a:pPr>
              <a:spcBef>
                <a:spcPts val="200"/>
              </a:spcBef>
              <a:spcAft>
                <a:spcPts val="500"/>
              </a:spcAft>
            </a:pPr>
            <a:r>
              <a:rPr sz="1200" b="1" i="0">
                <a:solidFill>
                  <a:srgbClr val="1F3A5F"/>
                </a:solidFill>
                <a:latin typeface="Calibri"/>
              </a:rPr>
              <a:t>•  Master evidence log:  </a:t>
            </a:r>
            <a:r>
              <a:rPr sz="1200" b="0" i="0">
                <a:solidFill>
                  <a:srgbClr val="333333"/>
                </a:solidFill>
                <a:latin typeface="Calibri"/>
              </a:rPr>
              <a:t>Issues-And-Comments-Log.md - every finding, the 24 decisions (sec 7), v0.0.3 reconciliation (sec 9), v0.0.4 + the P1/P2/P7 decisions and the implementation order (sec 10), why gaps remain (sec 8).</a:t>
            </a:r>
          </a:p>
          <a:p>
            <a:pPr>
              <a:spcBef>
                <a:spcPts val="200"/>
              </a:spcBef>
              <a:spcAft>
                <a:spcPts val="500"/>
              </a:spcAft>
            </a:pPr>
            <a:r>
              <a:rPr sz="1200" b="1" i="0">
                <a:solidFill>
                  <a:srgbClr val="1F3A5F"/>
                </a:solidFill>
                <a:latin typeface="Calibri"/>
              </a:rPr>
              <a:t>•  Briefing / Q&amp;A / talk track:  </a:t>
            </a:r>
            <a:r>
              <a:rPr sz="1200" b="0" i="0">
                <a:solidFill>
                  <a:srgbClr val="333333"/>
                </a:solidFill>
                <a:latin typeface="Calibri"/>
              </a:rPr>
              <a:t>Group-Briefing.md (one page); Anticipated-QA.md; Presenter-Notes.md.</a:t>
            </a:r>
          </a:p>
          <a:p>
            <a:pPr>
              <a:spcBef>
                <a:spcPts val="200"/>
              </a:spcBef>
              <a:spcAft>
                <a:spcPts val="500"/>
              </a:spcAft>
            </a:pPr>
            <a:r>
              <a:rPr sz="1200" b="1" i="0">
                <a:solidFill>
                  <a:srgbClr val="1F3A5F"/>
                </a:solidFill>
                <a:latin typeface="Calibri"/>
              </a:rPr>
              <a:t>•  Coverage + the actual messages:  </a:t>
            </a:r>
            <a:r>
              <a:rPr sz="1200" b="0" i="0">
                <a:solidFill>
                  <a:srgbClr val="333333"/>
                </a:solidFill>
                <a:latin typeface="Calibri"/>
              </a:rPr>
              <a:t>Message-Instantiation-Coverage.md; the three 'ASX Sample *.xml' workbooks (the ~38 instantiations, diff-able).</a:t>
            </a:r>
          </a:p>
          <a:p>
            <a:pPr>
              <a:spcBef>
                <a:spcPts val="200"/>
              </a:spcBef>
              <a:spcAft>
                <a:spcPts val="500"/>
              </a:spcAft>
            </a:pPr>
            <a:r>
              <a:rPr sz="1200" b="1" i="0">
                <a:solidFill>
                  <a:srgbClr val="1F3A5F"/>
                </a:solidFill>
                <a:latin typeface="Calibri"/>
              </a:rPr>
              <a:t>•  Initialization &amp; entity typing (P1/P2/P7, decided):  </a:t>
            </a:r>
            <a:r>
              <a:rPr sz="1200" b="0" i="0">
                <a:solidFill>
                  <a:srgbClr val="333333"/>
                </a:solidFill>
                <a:latin typeface="Calibri"/>
              </a:rPr>
              <a:t>Initialization-Walk.md; log sec 5 + sec 10; Sensor-Characterization-Slice.md for the P2 rework.</a:t>
            </a:r>
          </a:p>
          <a:p>
            <a:pPr>
              <a:spcBef>
                <a:spcPts val="200"/>
              </a:spcBef>
              <a:spcAft>
                <a:spcPts val="500"/>
              </a:spcAft>
            </a:pPr>
            <a:r>
              <a:rPr sz="1200" b="1" i="0">
                <a:solidFill>
                  <a:srgbClr val="1F3A5F"/>
                </a:solidFill>
                <a:latin typeface="Calibri"/>
              </a:rPr>
              <a:t>•  CASEVAC (X1/X2 -&gt; Q-G/Q-H):  </a:t>
            </a:r>
            <a:r>
              <a:rPr sz="1200" b="0" i="0">
                <a:solidFill>
                  <a:srgbClr val="333333"/>
                </a:solidFill>
                <a:latin typeface="Calibri"/>
              </a:rPr>
              <a:t>CASEVAC-Walk.md; log sec 6b.</a:t>
            </a:r>
          </a:p>
          <a:p>
            <a:pPr>
              <a:spcBef>
                <a:spcPts val="200"/>
              </a:spcBef>
              <a:spcAft>
                <a:spcPts val="500"/>
              </a:spcAft>
            </a:pPr>
            <a:r>
              <a:rPr sz="1200" b="1" i="0">
                <a:solidFill>
                  <a:srgbClr val="1F3A5F"/>
                </a:solidFill>
                <a:latin typeface="Calibri"/>
              </a:rPr>
              <a:t>•  Sensors &amp; swarm (Y / Z series):  </a:t>
            </a:r>
            <a:r>
              <a:rPr sz="1200" b="0" i="0">
                <a:solidFill>
                  <a:srgbClr val="333333"/>
                </a:solidFill>
                <a:latin typeface="Calibri"/>
              </a:rPr>
              <a:t>NonVideoSensors-Walk.md; Swarm-Walk.md; log sec 6c / 6d.</a:t>
            </a:r>
          </a:p>
          <a:p>
            <a:pPr>
              <a:spcBef>
                <a:spcPts val="200"/>
              </a:spcBef>
              <a:spcAft>
                <a:spcPts val="500"/>
              </a:spcAft>
            </a:pPr>
            <a:r>
              <a:rPr sz="1200" b="1" i="0">
                <a:solidFill>
                  <a:srgbClr val="1F3A5F"/>
                </a:solidFill>
                <a:latin typeface="Calibri"/>
              </a:rPr>
              <a:t>•  Task / effect &amp; engagement (W / L, Q-K/Q-L):  </a:t>
            </a:r>
            <a:r>
              <a:rPr sz="1200" b="0" i="0">
                <a:solidFill>
                  <a:srgbClr val="333333"/>
                </a:solidFill>
                <a:latin typeface="Calibri"/>
              </a:rPr>
              <a:t>FireSupport-Walk.md; TaskEffect-Batch-Walk.md; log sec 6e / 6f.</a:t>
            </a:r>
          </a:p>
          <a:p>
            <a:pPr>
              <a:spcBef>
                <a:spcPts val="200"/>
              </a:spcBef>
              <a:spcAft>
                <a:spcPts val="500"/>
              </a:spcAft>
            </a:pPr>
            <a:r>
              <a:rPr sz="1200" b="1" i="0">
                <a:solidFill>
                  <a:srgbClr val="1F3A5F"/>
                </a:solidFill>
                <a:latin typeface="Calibri"/>
              </a:rPr>
              <a:t>•  Sourced, validation &amp; drone-warfare missions:  </a:t>
            </a:r>
            <a:r>
              <a:rPr sz="1200" b="0" i="0">
                <a:solidFill>
                  <a:srgbClr val="333333"/>
                </a:solidFill>
                <a:latin typeface="Calibri"/>
              </a:rPr>
              <a:t>SourcedScenarios-Walk.md; ValidationEvidence-Walk.md; DroneWarfare-LIRC-OPFOR-Walk.md; Documents-Found.md; log sec 6h / 6j / 6k.</a:t>
            </a:r>
          </a:p>
          <a:p>
            <a:pPr>
              <a:spcBef>
                <a:spcPts val="200"/>
              </a:spcBef>
              <a:spcAft>
                <a:spcPts val="500"/>
              </a:spcAft>
            </a:pPr>
            <a:r>
              <a:rPr sz="1200" b="1" i="0">
                <a:solidFill>
                  <a:srgbClr val="1F3A5F"/>
                </a:solidFill>
                <a:latin typeface="Calibri"/>
              </a:rPr>
              <a:t>•  Redundancy screen (N1):  </a:t>
            </a:r>
            <a:r>
              <a:rPr sz="1200" b="0" i="0">
                <a:solidFill>
                  <a:srgbClr val="333333"/>
                </a:solidFill>
                <a:latin typeface="Calibri"/>
              </a:rPr>
              <a:t>RedundancyPass-Walk.md; log sec 6g.</a:t>
            </a:r>
          </a:p>
        </p:txBody>
      </p:sp>
      <p:sp>
        <p:nvSpPr>
          <p:cNvPr id="6" name="TextBox 5"/>
          <p:cNvSpPr txBox="1"/>
          <p:nvPr/>
        </p:nvSpPr>
        <p:spPr>
          <a:xfrm>
            <a:off x="502920" y="6419088"/>
            <a:ext cx="11155680" cy="320040"/>
          </a:xfrm>
          <a:prstGeom prst="rect">
            <a:avLst/>
          </a:prstGeom>
          <a:noFill/>
        </p:spPr>
        <p:txBody>
          <a:bodyPr wrap="square">
            <a:spAutoFit/>
          </a:bodyPr>
          <a:lstStyle/>
          <a:p>
            <a:r>
              <a:rPr sz="900" b="0" i="0">
                <a:solidFill>
                  <a:srgbClr val="666666"/>
                </a:solidFill>
                <a:latin typeface="Calibri"/>
              </a:rPr>
              <a:t>C2SIM ASX Sub-group   |   Hyssos   |   October 2026</a:t>
            </a:r>
          </a:p>
        </p:txBody>
      </p:sp>
      <p:sp>
        <p:nvSpPr>
          <p:cNvPr id="7" name="TextBox 6"/>
          <p:cNvSpPr txBox="1"/>
          <p:nvPr/>
        </p:nvSpPr>
        <p:spPr>
          <a:xfrm>
            <a:off x="11338560" y="6419088"/>
            <a:ext cx="640080" cy="320040"/>
          </a:xfrm>
          <a:prstGeom prst="rect">
            <a:avLst/>
          </a:prstGeom>
          <a:noFill/>
        </p:spPr>
        <p:txBody>
          <a:bodyPr wrap="square">
            <a:spAutoFit/>
          </a:bodyPr>
          <a:lstStyle/>
          <a:p>
            <a:pPr algn="r"/>
            <a:r>
              <a:rPr sz="900" b="0" i="0">
                <a:solidFill>
                  <a:srgbClr val="666666"/>
                </a:solidFill>
                <a:latin typeface="Calibri"/>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