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4069" r:id="rId5"/>
  </p:sldMasterIdLst>
  <p:notesMasterIdLst>
    <p:notesMasterId r:id="rId29"/>
  </p:notesMasterIdLst>
  <p:handoutMasterIdLst>
    <p:handoutMasterId r:id="rId30"/>
  </p:handoutMasterIdLst>
  <p:sldIdLst>
    <p:sldId id="2147470876" r:id="rId6"/>
    <p:sldId id="2147472409" r:id="rId7"/>
    <p:sldId id="2147472412" r:id="rId8"/>
    <p:sldId id="2147472422" r:id="rId9"/>
    <p:sldId id="2147472407" r:id="rId10"/>
    <p:sldId id="2147472420" r:id="rId11"/>
    <p:sldId id="2147472421" r:id="rId12"/>
    <p:sldId id="2147472423" r:id="rId13"/>
    <p:sldId id="2147472410" r:id="rId14"/>
    <p:sldId id="2147472411" r:id="rId15"/>
    <p:sldId id="2147472413" r:id="rId16"/>
    <p:sldId id="2147472414" r:id="rId17"/>
    <p:sldId id="2147472419" r:id="rId18"/>
    <p:sldId id="2147472418" r:id="rId19"/>
    <p:sldId id="2147472415" r:id="rId20"/>
    <p:sldId id="2147472416" r:id="rId21"/>
    <p:sldId id="2147472417" r:id="rId22"/>
    <p:sldId id="2147470948" r:id="rId23"/>
    <p:sldId id="2147472350" r:id="rId24"/>
    <p:sldId id="2147472396" r:id="rId25"/>
    <p:sldId id="2147472373" r:id="rId26"/>
    <p:sldId id="2147472369" r:id="rId27"/>
    <p:sldId id="2147472370" r:id="rId28"/>
  </p:sldIdLst>
  <p:sldSz cx="12192000" cy="6858000"/>
  <p:notesSz cx="6858000" cy="9144000"/>
  <p:custDataLst>
    <p:tags r:id="rId31"/>
  </p:custDataLst>
  <p:defaultTextStyle>
    <a:defPPr>
      <a:defRPr lang="en-US"/>
    </a:defPPr>
    <a:lvl1pPr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08" indent="-20085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614" indent="-401707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423" indent="-602558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19" indent="-80430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1279772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1535726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1791681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2047634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AD7ED7-20BA-447F-8EB5-49C1BA74D5CC}">
          <p14:sldIdLst>
            <p14:sldId id="2147470876"/>
            <p14:sldId id="2147472409"/>
            <p14:sldId id="2147472412"/>
            <p14:sldId id="2147472422"/>
            <p14:sldId id="2147472407"/>
            <p14:sldId id="2147472420"/>
            <p14:sldId id="2147472421"/>
            <p14:sldId id="2147472423"/>
            <p14:sldId id="2147472410"/>
            <p14:sldId id="2147472411"/>
            <p14:sldId id="2147472413"/>
            <p14:sldId id="2147472414"/>
            <p14:sldId id="2147472419"/>
            <p14:sldId id="2147472418"/>
            <p14:sldId id="2147472415"/>
            <p14:sldId id="2147472416"/>
            <p14:sldId id="2147472417"/>
            <p14:sldId id="2147470948"/>
            <p14:sldId id="2147472350"/>
            <p14:sldId id="2147472396"/>
            <p14:sldId id="2147472373"/>
            <p14:sldId id="2147472369"/>
            <p14:sldId id="2147472370"/>
          </p14:sldIdLst>
        </p14:section>
        <p14:section name="Rough Notes" id="{4A96723C-D75C-4363-B0CC-4C787FD6C871}">
          <p14:sldIdLst/>
        </p14:section>
      </p14:sectionLst>
    </p:ext>
    <p:ext uri="{EFAFB233-063F-42B5-8137-9DF3F51BA10A}">
      <p15:sldGuideLst xmlns:p15="http://schemas.microsoft.com/office/powerpoint/2012/main">
        <p15:guide id="1" pos="540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02B0F-18B6-A1BA-3D11-C94701D9A598}" name="Mary Beth Kennedy" initials="MK" userId="S::mkenn@cae.com::68bd4555-574c-4743-80b3-f4d0605b48dd" providerId="AD"/>
  <p188:author id="{D6B93F27-DAAF-7636-048B-F1EE364D2696}" name="Wendy Stough" initials="WS" userId="S::stough@cae.com::516d0afc-ea59-4f3e-8456-8cc9577739fb" providerId="AD"/>
  <p188:author id="{0068EE2C-92D3-4DA4-8A4C-AA46438635BE}" name="Andrew Arnovitz" initials="AA" userId="S::andrewa@cae.com::16fb7044-88b0-4005-9034-e219091908a2" providerId="AD"/>
  <p188:author id="{1E104033-2659-D2D9-65EC-9E86B1178930}" name="Constance Drilhon" initials="CD" userId="S::cdrilhon@cae.com::7c039946-c06f-412e-97d4-20d2e1c70f66" providerId="AD"/>
  <p188:author id="{968BC23A-C135-5FED-A839-3F844301CDFA}" name="Aline Massouh" initials="AM" userId="S::massouh@cae.com::f6945719-1d17-47b0-bb52-8d9b15a53f0a" providerId="AD"/>
  <p188:author id="{F185FA65-3452-B5BB-1225-8CBD8E4E6644}" name="Janie Mercky" initials="JM" userId="S::jmercky@cae.com::9214bfdf-f995-4722-a55a-f665a75775b8" providerId="AD"/>
  <p188:author id="{4C5EB16B-6394-B54D-5E75-F7C1F3C6FB50}" name="Jennifer Wood" initials="JW" userId="S::jennifw@cae.com::60627efe-5448-4879-91fd-2bb1c3c6254e" providerId="AD"/>
  <p188:author id="{0C37076D-8DEE-115E-2C2E-0F63C9278A94}" name="Xavier Arbour" initials="XA" userId="S::xarbour@cae.com::b36a5711-b6d9-4f95-8fa7-3d07e146ae58" providerId="AD"/>
  <p188:author id="{E67FBF75-F16C-23B2-DD0D-383A4B0C0F01}" name="Lyanne Joubert" initials="LJ" userId="S::ljoubert@cae.com::98bde078-f6d9-4616-84a3-8e643b4a61ed" providerId="AD"/>
  <p188:author id="{6661E87B-5442-3FCE-6EF2-44644B918B91}" name="Roger Marszalek" initials="RM" userId="S::rmarszalek@cae.com::9ebe57dc-a393-42f2-8917-2f326a754908" providerId="AD"/>
  <p188:author id="{E335F07D-D365-1864-CE46-901AB54851FC}" name="Heidi Fedak" initials="HF" userId="S::hfedak@cae.com::6ce069f8-1b57-4f78-81d2-c472e7019cec" providerId="AD"/>
  <p188:author id="{7658B38B-F5C3-3A9E-8749-D35C21257B94}" name="Claudia Boies" initials="CB" userId="S::cboies@cae.com::de1ccae1-2cfa-46c4-b9ff-5f54deba4923" providerId="AD"/>
  <p188:author id="{E3BF74CD-BB59-4CD5-5BFD-8AA91528AE56}" name="Sarah Bibeau" initials="SB" userId="S::sbibe@cae.com::11372fc5-2d87-4450-96cd-1de9251b9a57" providerId="AD"/>
  <p188:author id="{5C9C70D2-0269-CF0D-0911-C77646BD2B30}" name="Wendy Stough" initials="WS" userId="S::Wendy.Stough@caemilusa.com::b9e02a02-9667-4ab0-9ec2-e623e0a89341" providerId="AD"/>
  <p188:author id="{F84C03DD-6985-FDB5-ECE9-460D1AC0DE53}" name="Kyle Davis" initials="KD" userId="S::kdavis@cae.com::1f35857d-1a84-4d92-beb3-c2bf657d4f6e" providerId="AD"/>
  <p188:author id="{18758FE8-B6CC-81E8-F9C9-D41B20F9E300}" name="Samantha Golinski" initials="SG" userId="S::sgolinski@cae.com::07b5c5f7-57de-4290-83bb-b32b67575e2d" providerId="AD"/>
  <p188:author id="{2DBE92F7-F8B7-D20D-2953-8D0D26B73B31}" name="Ryan Eldridge" initials="RE" userId="S::reldr@cae.com::08927472-968a-416b-88fa-7accee49b1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antha Golinski" initials="SG" lastIdx="40" clrIdx="0">
    <p:extLst>
      <p:ext uri="{19B8F6BF-5375-455C-9EA6-DF929625EA0E}">
        <p15:presenceInfo xmlns:p15="http://schemas.microsoft.com/office/powerpoint/2012/main" userId="S::sgolinski@cae.com::07b5c5f7-57de-4290-83bb-b32b67575e2d" providerId="AD"/>
      </p:ext>
    </p:extLst>
  </p:cmAuthor>
  <p:cmAuthor id="2" name="Aline Massouh" initials="AM" lastIdx="44" clrIdx="1">
    <p:extLst>
      <p:ext uri="{19B8F6BF-5375-455C-9EA6-DF929625EA0E}">
        <p15:presenceInfo xmlns:p15="http://schemas.microsoft.com/office/powerpoint/2012/main" userId="S::massouh@cae.com::f6945719-1d17-47b0-bb52-8d9b15a53f0a" providerId="AD"/>
      </p:ext>
    </p:extLst>
  </p:cmAuthor>
  <p:cmAuthor id="3" name="Sarah Bibeau" initials="SB" lastIdx="41" clrIdx="2">
    <p:extLst>
      <p:ext uri="{19B8F6BF-5375-455C-9EA6-DF929625EA0E}">
        <p15:presenceInfo xmlns:p15="http://schemas.microsoft.com/office/powerpoint/2012/main" userId="S::sbibe@cae.com::11372fc5-2d87-4450-96cd-1de9251b9a57" providerId="AD"/>
      </p:ext>
    </p:extLst>
  </p:cmAuthor>
  <p:cmAuthor id="4" name="Annalisa Harris" initials="AH" lastIdx="4" clrIdx="3">
    <p:extLst>
      <p:ext uri="{19B8F6BF-5375-455C-9EA6-DF929625EA0E}">
        <p15:presenceInfo xmlns:p15="http://schemas.microsoft.com/office/powerpoint/2012/main" userId="S::anhar@cae.com::889352be-a83b-42ad-93cc-76d05f9fddd7" providerId="AD"/>
      </p:ext>
    </p:extLst>
  </p:cmAuthor>
  <p:cmAuthor id="5" name="Wendy Stough" initials="WS" lastIdx="2" clrIdx="4">
    <p:extLst>
      <p:ext uri="{19B8F6BF-5375-455C-9EA6-DF929625EA0E}">
        <p15:presenceInfo xmlns:p15="http://schemas.microsoft.com/office/powerpoint/2012/main" userId="S::stough@cae.com::516d0afc-ea59-4f3e-8456-8cc9577739fb" providerId="AD"/>
      </p:ext>
    </p:extLst>
  </p:cmAuthor>
  <p:cmAuthor id="6" name="Constance Drilhon" initials="CD" lastIdx="3" clrIdx="5">
    <p:extLst>
      <p:ext uri="{19B8F6BF-5375-455C-9EA6-DF929625EA0E}">
        <p15:presenceInfo xmlns:p15="http://schemas.microsoft.com/office/powerpoint/2012/main" userId="S::cdrilhon@cae.com::7c039946-c06f-412e-97d4-20d2e1c70f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9F2"/>
    <a:srgbClr val="1D4BB6"/>
    <a:srgbClr val="FFFFFF"/>
    <a:srgbClr val="00B050"/>
    <a:srgbClr val="E3E3E3"/>
    <a:srgbClr val="06103D"/>
    <a:srgbClr val="FAFAFA"/>
    <a:srgbClr val="D9D9D9"/>
    <a:srgbClr val="F3F3F3"/>
    <a:srgbClr val="7F8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 varScale="1">
        <p:scale>
          <a:sx n="56" d="100"/>
          <a:sy n="56" d="100"/>
        </p:scale>
        <p:origin x="322" y="43"/>
      </p:cViewPr>
      <p:guideLst>
        <p:guide pos="540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33E728-FF3F-47D0-95DE-B2C4065CFC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869160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CC9FE-CDEF-4228-80B2-120082C1CD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9239" y="0"/>
            <a:ext cx="1267173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r">
              <a:defRPr sz="1200"/>
            </a:lvl1pPr>
          </a:lstStyle>
          <a:p>
            <a:fld id="{65784025-F79D-4849-B13B-BFBE9BA48635}" type="datetimeFigureOut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2026-02-11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5142-A5B5-414A-A935-439ECD5930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486916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A9A4E-A69C-4CE9-B88B-1DA872B2E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9239" y="8685213"/>
            <a:ext cx="1267173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/>
            </a:lvl1pPr>
          </a:lstStyle>
          <a:p>
            <a:fld id="{40B11401-9CD5-4FFC-B428-D493AAFECA1D}" type="slidenum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‹#›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6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862401FA-03E4-417E-850D-BECBAC0BE149}" type="datetimeFigureOut">
              <a:rPr lang="en-CA" smtClean="0"/>
              <a:pPr/>
              <a:t>2026-02-11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8680" y="971600"/>
            <a:ext cx="5760640" cy="324036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8680" y="4427934"/>
            <a:ext cx="5760640" cy="37444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noProof="0"/>
              <a:t>Cliquez pour ajouter des notes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 err="1"/>
              <a:t>Cinquème</a:t>
            </a:r>
            <a:r>
              <a:rPr lang="fr-CA" noProof="0"/>
              <a:t>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527AB645-225A-4E0C-832E-9FE495AA9FC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6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4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1pPr>
    <a:lvl2pPr marL="234000" indent="-216000" algn="l" defTabSz="914400" rtl="0" eaLnBrk="1" latinLnBrk="0" hangingPunct="1"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2pPr>
    <a:lvl3pPr marL="428400" indent="-180000" algn="l" defTabSz="914400" rtl="0" eaLnBrk="1" latinLnBrk="0" hangingPunct="1">
      <a:spcBef>
        <a:spcPts val="200"/>
      </a:spcBef>
      <a:buClr>
        <a:schemeClr val="accent3"/>
      </a:buClr>
      <a:buFont typeface="Wingdings" panose="05000000000000000000" pitchFamily="2" charset="2"/>
      <a:buChar char="§"/>
      <a:defRPr sz="11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3pPr>
    <a:lvl4pPr marL="583200" indent="-144000" algn="l" defTabSz="914400" rtl="0" eaLnBrk="1" latinLnBrk="0" hangingPunct="1">
      <a:spcBef>
        <a:spcPts val="100"/>
      </a:spcBef>
      <a:buClr>
        <a:schemeClr val="accent3"/>
      </a:buClr>
      <a:buFont typeface="Wingdings" panose="05000000000000000000" pitchFamily="2" charset="2"/>
      <a:buChar char="§"/>
      <a:defRPr sz="10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4pPr>
    <a:lvl5pPr marL="234000" indent="-234000" algn="l" defTabSz="914400" rtl="0" eaLnBrk="1" latinLnBrk="0" hangingPunct="1">
      <a:buFont typeface="+mj-lt"/>
      <a:buAutoNum type="arabicPeriod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>
                <a:latin typeface="+mn-lt"/>
              </a:rPr>
              <a:t>Welcome to CAE!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82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93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5D5A5-820A-B44F-8145-281BEDFB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84" y="1929226"/>
            <a:ext cx="6332760" cy="28679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AB5DDA-A6EF-A373-1863-37FDEBFCE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072" y="404664"/>
            <a:ext cx="7658383" cy="828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02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13E4E3-EA9B-4FF8-B6C4-2516ED16E94E}" type="slidenum">
              <a:rPr lang="fr-CA" smtClean="0"/>
              <a:t>‹#›</a:t>
            </a:fld>
            <a:endParaRPr lang="fr-CA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8438D0E-53A7-4602-B060-5EB840E30748}"/>
              </a:ext>
            </a:extLst>
          </p:cNvPr>
          <p:cNvCxnSpPr/>
          <p:nvPr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9FFEBF-15C5-4A74-8443-3D9F69DF5BA6}"/>
              </a:ext>
            </a:extLst>
          </p:cNvPr>
          <p:cNvCxnSpPr/>
          <p:nvPr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63FEA88-6238-4326-ADAA-5D5995C58B00}"/>
              </a:ext>
            </a:extLst>
          </p:cNvPr>
          <p:cNvCxnSpPr/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C0827F4-BBBC-4AC8-82BB-F80122849490}"/>
              </a:ext>
            </a:extLst>
          </p:cNvPr>
          <p:cNvCxnSpPr/>
          <p:nvPr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82C03B-9388-45AF-B32A-14369CBD1092}"/>
              </a:ext>
            </a:extLst>
          </p:cNvPr>
          <p:cNvCxnSpPr/>
          <p:nvPr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FC4DB00-D96A-4DF3-8277-90A16AF398FE}"/>
              </a:ext>
            </a:extLst>
          </p:cNvPr>
          <p:cNvCxnSpPr/>
          <p:nvPr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6BCEB62-8960-4982-8E37-7F8C41E3020D}"/>
              </a:ext>
            </a:extLst>
          </p:cNvPr>
          <p:cNvCxnSpPr/>
          <p:nvPr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380230A-3186-4194-B30B-500F725DBC56}"/>
              </a:ext>
            </a:extLst>
          </p:cNvPr>
          <p:cNvCxnSpPr/>
          <p:nvPr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3281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4" y="1129932"/>
            <a:ext cx="10086975" cy="778381"/>
          </a:xfrm>
        </p:spPr>
        <p:txBody>
          <a:bodyPr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72358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144716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9217075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BD5-9F0B-6B4D-9022-97B835D9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F2535-BEB3-26B7-4C3E-F23734681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AA71-8C1C-6386-4E19-ABB95B02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D6A9C-C457-1C04-9BA0-23451CDC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30" y="6347991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37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0CD-62C1-E37D-BEE9-36E69304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90F2-B8AB-B494-0052-6F4086BE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588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D94B-D298-1553-3C1C-F06DDE3C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B353-2DD6-1159-F66E-011E4577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CA2FC-0713-D70E-1828-2001F7E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10E5-CF92-1334-2F4D-8BF28353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90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8CF6-F428-FBC5-01A5-9F18569E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7C50-3BBA-E137-5B8F-4CB14D3B2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32A8-105A-FAF3-0E19-D21F6470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688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5616-B9BC-4C92-0460-CE9BB983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2F45-9DD6-3DEF-A99C-321F3CF4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8F63-0F60-B3CE-37D3-4A600A0C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F882B-CAF4-763A-D388-BFF19C97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38CC7-EE62-C44D-7C70-8748B3ADF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B4E1D-3CED-B2AF-759F-D67A2AD0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AACD-1E1B-4EE6-8883-A09231BD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35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76E1-A0AD-D6A9-D307-3775BC4C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1F160-5C16-1AE2-CBA8-D96792FD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E6DC-C756-B6DD-A2E0-92B451DF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1FCBC-A445-9DD3-9CA0-2DBDC18F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727-2ABD-1B3B-AA44-DB0C8BA1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4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7E0B-9508-648A-BDFA-FB743597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6BE1-FEAF-F46D-7BD1-B99FB032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A36E-90C3-9F2F-F913-60E9933B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B696-100C-6204-73C4-47E7AC6F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3EA2-1FA4-1976-0B6E-5FC026CC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47AC-98A3-957C-B222-D38432B4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57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85DA-7408-8724-02A3-42C3556E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1611B-92EC-7AD8-E9E7-7D838CF00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3F87E-14E9-E6FE-09D2-DD4C31F2E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3D4E9-2808-4C3F-0386-59A446A1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A68B-F608-1B95-C937-806F229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B2E0-0AC3-BA45-C088-9D7F873D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21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0DD6-ED25-8ECA-92CF-E4D0D75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20A86-DC8D-869E-6C79-25A01E11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82B5-E63B-70A9-CDCE-57E44A0D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4D9AA-E5CC-067C-C206-6B547DDD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B71E-7FE4-3910-695D-38CCF8FE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231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DD116-2052-C881-F445-CBB917EBA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FABBE-937D-A6AE-4FFC-399430E55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33A9-18FA-46F1-433E-BF3BE8247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0D24-DA10-51C1-6B44-AAED4CDF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89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563563" y="1035051"/>
            <a:ext cx="11089754" cy="8286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noProof="0"/>
              <a:t>Cliquez pour ajouter une machette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3563" y="1881188"/>
            <a:ext cx="11077576" cy="45565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a14="http://schemas.microsoft.com/office/drawing/2010/main" xmlns="" val="1"/>
            </a:ext>
            <a:ext uri="{909E8E84-426E-40dd-AFC4-6F175D3DCCD1}">
              <a14:hiddenFill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 dirty="0"/>
              <a:t>Cliquez pour modifier le texte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  <a:p>
            <a:pPr lvl="5"/>
            <a:r>
              <a:rPr lang="fr-CA" noProof="0" dirty="0"/>
              <a:t>Sixième niveau</a:t>
            </a:r>
          </a:p>
          <a:p>
            <a:pPr lvl="6"/>
            <a:r>
              <a:rPr lang="fr-CA" noProof="0" dirty="0"/>
              <a:t>Septième niveau pour titre de paragraphe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287" y="6517862"/>
            <a:ext cx="504000" cy="144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F13E4E3-EA9B-4FF8-B6C4-2516ED16E94E}" type="slidenum">
              <a:rPr lang="fr-CA" smtClean="0"/>
              <a:pPr/>
              <a:t>‹#›</a:t>
            </a:fld>
            <a:endParaRPr lang="fr-CA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FCBB0A4-34BF-4F15-8383-65A93B5F10EF}"/>
              </a:ext>
            </a:extLst>
          </p:cNvPr>
          <p:cNvCxnSpPr/>
          <p:nvPr userDrawn="1"/>
        </p:nvCxnSpPr>
        <p:spPr>
          <a:xfrm flipV="1">
            <a:off x="5635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8A06FE9-917C-48F3-878A-E6DFD3A44D90}"/>
              </a:ext>
            </a:extLst>
          </p:cNvPr>
          <p:cNvCxnSpPr/>
          <p:nvPr userDrawn="1"/>
        </p:nvCxnSpPr>
        <p:spPr>
          <a:xfrm flipV="1">
            <a:off x="116252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5F5152-33FE-4563-9ABC-9042E366D428}"/>
              </a:ext>
            </a:extLst>
          </p:cNvPr>
          <p:cNvCxnSpPr>
            <a:cxnSpLocks/>
          </p:cNvCxnSpPr>
          <p:nvPr userDrawn="1"/>
        </p:nvCxnSpPr>
        <p:spPr>
          <a:xfrm>
            <a:off x="-315300" y="101715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63B879-E6E3-4ACE-A15D-F64560162815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1025674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DA1220E-448F-44B2-866F-92ECB3A717EB}"/>
              </a:ext>
            </a:extLst>
          </p:cNvPr>
          <p:cNvCxnSpPr/>
          <p:nvPr userDrawn="1"/>
        </p:nvCxnSpPr>
        <p:spPr>
          <a:xfrm>
            <a:off x="-315300" y="628655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0A997D2-1B0A-477D-9B2E-D2C7CF49A7A9}"/>
              </a:ext>
            </a:extLst>
          </p:cNvPr>
          <p:cNvCxnSpPr/>
          <p:nvPr userDrawn="1"/>
        </p:nvCxnSpPr>
        <p:spPr>
          <a:xfrm>
            <a:off x="12291276" y="62865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B470E4-0712-3F41-8087-979FE2C02DC8}"/>
              </a:ext>
            </a:extLst>
          </p:cNvPr>
          <p:cNvSpPr txBox="1"/>
          <p:nvPr userDrawn="1"/>
        </p:nvSpPr>
        <p:spPr>
          <a:xfrm>
            <a:off x="14073809" y="276970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800" err="1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necteur droit 11">
            <a:extLst>
              <a:ext uri="{FF2B5EF4-FFF2-40B4-BE49-F238E27FC236}">
                <a16:creationId xmlns:a16="http://schemas.microsoft.com/office/drawing/2014/main" id="{ABA5DEBF-FB63-354E-8AB1-6815A278F433}"/>
              </a:ext>
            </a:extLst>
          </p:cNvPr>
          <p:cNvCxnSpPr>
            <a:cxnSpLocks/>
          </p:cNvCxnSpPr>
          <p:nvPr userDrawn="1"/>
        </p:nvCxnSpPr>
        <p:spPr>
          <a:xfrm flipV="1">
            <a:off x="5635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12">
            <a:extLst>
              <a:ext uri="{FF2B5EF4-FFF2-40B4-BE49-F238E27FC236}">
                <a16:creationId xmlns:a16="http://schemas.microsoft.com/office/drawing/2014/main" id="{AC002767-9C39-1947-AA2F-E4D10AADEE1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52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5">
            <a:extLst>
              <a:ext uri="{FF2B5EF4-FFF2-40B4-BE49-F238E27FC236}">
                <a16:creationId xmlns:a16="http://schemas.microsoft.com/office/drawing/2014/main" id="{6F0D71C7-E788-D154-143E-0CD1C7D4AF9E}"/>
              </a:ext>
            </a:extLst>
          </p:cNvPr>
          <p:cNvCxnSpPr>
            <a:cxnSpLocks/>
          </p:cNvCxnSpPr>
          <p:nvPr userDrawn="1"/>
        </p:nvCxnSpPr>
        <p:spPr>
          <a:xfrm>
            <a:off x="-315300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18">
            <a:extLst>
              <a:ext uri="{FF2B5EF4-FFF2-40B4-BE49-F238E27FC236}">
                <a16:creationId xmlns:a16="http://schemas.microsoft.com/office/drawing/2014/main" id="{9769CFF4-1AC7-1339-2F34-B2C59B56B494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6E28FB-4E92-3B69-259B-3F96B74D3A53}"/>
              </a:ext>
            </a:extLst>
          </p:cNvPr>
          <p:cNvSpPr txBox="1">
            <a:spLocks/>
          </p:cNvSpPr>
          <p:nvPr userDrawn="1"/>
        </p:nvSpPr>
        <p:spPr>
          <a:xfrm>
            <a:off x="4058816" y="6517862"/>
            <a:ext cx="358295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08" indent="-20085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14" indent="-401707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423" indent="-602558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19" indent="-80430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79772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35726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91681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7634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b="0" noProof="0" dirty="0"/>
              <a:t>C2SIM </a:t>
            </a:r>
            <a:r>
              <a:rPr lang="en-US" b="0" noProof="0" dirty="0"/>
              <a:t>ASX PDG Update to 2026 SIW</a:t>
            </a:r>
            <a:endParaRPr lang="fr-CA" b="0" dirty="0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0212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798" r:id="rId2"/>
    <p:sldLayoutId id="2147484056" r:id="rId3"/>
  </p:sldLayoutIdLst>
  <p:transition spd="med">
    <p:fade/>
  </p:transition>
  <p:hf hdr="0" ftr="0" dt="0"/>
  <p:txStyles>
    <p:titleStyle>
      <a:lvl1pPr algn="l" defTabSz="612019" rtl="0" eaLnBrk="1" fontAlgn="base" hangingPunct="1">
        <a:lnSpc>
          <a:spcPct val="89000"/>
        </a:lnSpc>
        <a:spcBef>
          <a:spcPts val="0"/>
        </a:spcBef>
        <a:spcAft>
          <a:spcPts val="0"/>
        </a:spcAft>
        <a:defRPr lang="en-US" sz="3200" b="0" kern="1200" cap="none" baseline="0" dirty="0" smtClean="0">
          <a:solidFill>
            <a:schemeClr val="tx2"/>
          </a:solidFill>
          <a:latin typeface="+mj-lt"/>
          <a:ea typeface="+mn-ea"/>
          <a:cs typeface="+mn-cs"/>
        </a:defRPr>
      </a:lvl1pPr>
      <a:lvl2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2pPr>
      <a:lvl3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3pPr>
      <a:lvl4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4pPr>
      <a:lvl5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5pPr>
      <a:lvl6pPr marL="192846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6pPr>
      <a:lvl7pPr marL="385691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7pPr>
      <a:lvl8pPr marL="578537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8pPr>
      <a:lvl9pPr marL="771383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9pPr>
    </p:titleStyle>
    <p:bodyStyle>
      <a:lvl1pPr marL="0" indent="0" algn="l" defTabSz="612019" rtl="0" eaLnBrk="1" fontAlgn="base" hangingPunct="1">
        <a:spcBef>
          <a:spcPts val="1400"/>
        </a:spcBef>
        <a:spcAft>
          <a:spcPts val="0"/>
        </a:spcAft>
        <a:buClrTx/>
        <a:buFont typeface="Arial" panose="020B0604020202020204" pitchFamily="34" charset="0"/>
        <a:buChar char="​"/>
        <a:defRPr lang="en-US" sz="2200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34000" indent="-216000" algn="l" defTabSz="612019" rtl="0" eaLnBrk="1" fontAlgn="base" hangingPunct="1">
        <a:spcBef>
          <a:spcPts val="8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28400" indent="-180000" algn="l" defTabSz="612019" rtl="0" eaLnBrk="1" fontAlgn="base" hangingPunct="1">
        <a:spcBef>
          <a:spcPts val="4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83200" indent="-144000" algn="l" defTabSz="612019" rtl="0" eaLnBrk="1" fontAlgn="base" hangingPunct="1">
        <a:spcBef>
          <a:spcPts val="2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414000" indent="-414000" algn="l" defTabSz="612019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720000" indent="-288000" algn="l" defTabSz="612212" rtl="0" eaLnBrk="1" latinLnBrk="0" hangingPunct="1">
        <a:spcBef>
          <a:spcPts val="400"/>
        </a:spcBef>
        <a:buClr>
          <a:schemeClr val="tx2"/>
        </a:buClr>
        <a:buFont typeface="+mj-lt"/>
        <a:buAutoNum type="alphaLcPeriod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12212" rtl="0" eaLnBrk="1" latinLnBrk="0" hangingPunct="1">
        <a:spcBef>
          <a:spcPts val="1400"/>
        </a:spcBef>
        <a:buFont typeface="Arial" panose="020B0604020202020204" pitchFamily="34" charset="0"/>
        <a:buChar char="​"/>
        <a:defRPr sz="22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2295794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01901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610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221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831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4424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0531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663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274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4884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795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640">
          <p15:clr>
            <a:srgbClr val="F26B43"/>
          </p15:clr>
        </p15:guide>
        <p15:guide id="8" pos="6902">
          <p15:clr>
            <a:srgbClr val="F26B43"/>
          </p15:clr>
        </p15:guide>
        <p15:guide id="9" pos="6040">
          <p15:clr>
            <a:srgbClr val="F26B43"/>
          </p15:clr>
        </p15:guide>
        <p15:guide id="10" pos="6471">
          <p15:clr>
            <a:srgbClr val="F26B43"/>
          </p15:clr>
        </p15:guide>
        <p15:guide id="11" pos="5609">
          <p15:clr>
            <a:srgbClr val="F26B43"/>
          </p15:clr>
        </p15:guide>
        <p15:guide id="12" pos="5178">
          <p15:clr>
            <a:srgbClr val="F26B43"/>
          </p15:clr>
        </p15:guide>
        <p15:guide id="13" pos="4747">
          <p15:clr>
            <a:srgbClr val="F26B43"/>
          </p15:clr>
        </p15:guide>
        <p15:guide id="14" pos="3885">
          <p15:clr>
            <a:srgbClr val="F26B43"/>
          </p15:clr>
        </p15:guide>
        <p15:guide id="15" pos="4316">
          <p15:clr>
            <a:srgbClr val="F26B43"/>
          </p15:clr>
        </p15:guide>
        <p15:guide id="16" pos="3364">
          <p15:clr>
            <a:srgbClr val="F26B43"/>
          </p15:clr>
        </p15:guide>
        <p15:guide id="17" pos="2933">
          <p15:clr>
            <a:srgbClr val="F26B43"/>
          </p15:clr>
        </p15:guide>
        <p15:guide id="18" pos="2502">
          <p15:clr>
            <a:srgbClr val="F26B43"/>
          </p15:clr>
        </p15:guide>
        <p15:guide id="19" pos="2071">
          <p15:clr>
            <a:srgbClr val="F26B43"/>
          </p15:clr>
        </p15:guide>
        <p15:guide id="20" pos="1640">
          <p15:clr>
            <a:srgbClr val="F26B43"/>
          </p15:clr>
        </p15:guide>
        <p15:guide id="21" pos="1209">
          <p15:clr>
            <a:srgbClr val="F26B43"/>
          </p15:clr>
        </p15:guide>
        <p15:guide id="22" pos="778">
          <p15:clr>
            <a:srgbClr val="F26B43"/>
          </p15:clr>
        </p15:guide>
        <p15:guide id="23" orient="horz" pos="368">
          <p15:clr>
            <a:srgbClr val="F26B43"/>
          </p15:clr>
        </p15:guide>
        <p15:guide id="24" orient="horz" pos="913">
          <p15:clr>
            <a:srgbClr val="F26B43"/>
          </p15:clr>
        </p15:guide>
        <p15:guide id="25" orient="horz" pos="1185">
          <p15:clr>
            <a:srgbClr val="F26B43"/>
          </p15:clr>
        </p15:guide>
        <p15:guide id="26" orient="horz" pos="1457">
          <p15:clr>
            <a:srgbClr val="F26B43"/>
          </p15:clr>
        </p15:guide>
        <p15:guide id="27" orient="horz" pos="1729">
          <p15:clr>
            <a:srgbClr val="F26B43"/>
          </p15:clr>
        </p15:guide>
        <p15:guide id="28" orient="horz" pos="2001">
          <p15:clr>
            <a:srgbClr val="F26B43"/>
          </p15:clr>
        </p15:guide>
        <p15:guide id="29" orient="horz" pos="2319">
          <p15:clr>
            <a:srgbClr val="F26B43"/>
          </p15:clr>
        </p15:guide>
        <p15:guide id="30" orient="horz" pos="2863">
          <p15:clr>
            <a:srgbClr val="F26B43"/>
          </p15:clr>
        </p15:guide>
        <p15:guide id="31" orient="horz" pos="3135">
          <p15:clr>
            <a:srgbClr val="F26B43"/>
          </p15:clr>
        </p15:guide>
        <p15:guide id="32" orient="horz" pos="3407">
          <p15:clr>
            <a:srgbClr val="F26B43"/>
          </p15:clr>
        </p15:guide>
        <p15:guide id="33" orient="horz" pos="3680">
          <p15:clr>
            <a:srgbClr val="F26B43"/>
          </p15:clr>
        </p15:guide>
        <p15:guide id="35" orient="horz" pos="2591">
          <p15:clr>
            <a:srgbClr val="F26B43"/>
          </p15:clr>
        </p15:guide>
        <p15:guide id="3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C71E-A752-61DD-4996-3C8B63F2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B491-69B4-5A7C-4AB1-1614DD08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2E02F-17C1-5808-9236-66DD1393EA0D}"/>
              </a:ext>
            </a:extLst>
          </p:cNvPr>
          <p:cNvSpPr txBox="1"/>
          <p:nvPr userDrawn="1"/>
        </p:nvSpPr>
        <p:spPr>
          <a:xfrm>
            <a:off x="4308450" y="6354246"/>
            <a:ext cx="3597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600" b="0" noProof="0" dirty="0"/>
              <a:t>C2SIM </a:t>
            </a:r>
            <a:r>
              <a:rPr lang="en-US" sz="1600" b="0" noProof="0" dirty="0"/>
              <a:t>ASX PDG Update to 2026 SIW</a:t>
            </a:r>
            <a:endParaRPr lang="fr-CA" sz="16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E3DB0-88DA-15AC-46A1-D0477EDBE912}"/>
              </a:ext>
            </a:extLst>
          </p:cNvPr>
          <p:cNvSpPr txBox="1"/>
          <p:nvPr userDrawn="1"/>
        </p:nvSpPr>
        <p:spPr>
          <a:xfrm>
            <a:off x="838200" y="6323598"/>
            <a:ext cx="88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A35E5-31F2-402C-8CA1-4B5E4AF19C5A}" type="slidenum">
              <a:rPr lang="en-CA" sz="1600" smtClean="0"/>
              <a:pPr marL="0" marR="0" lvl="0" indent="0" algn="l" defTabSz="91361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94010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 Hat Display Light" panose="02010303040201060303" pitchFamily="2" charset="0"/>
          <a:ea typeface="Red Hat Display Light" panose="02010303040201060303" pitchFamily="2" charset="0"/>
          <a:cs typeface="Red Hat Display Light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yssostech/C2SIMArtifact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880D755-0639-D1CE-8B23-3D420E392C12}"/>
              </a:ext>
            </a:extLst>
          </p:cNvPr>
          <p:cNvGrpSpPr/>
          <p:nvPr/>
        </p:nvGrpSpPr>
        <p:grpSpPr>
          <a:xfrm>
            <a:off x="609096" y="1663311"/>
            <a:ext cx="8469672" cy="3644428"/>
            <a:chOff x="790467" y="544276"/>
            <a:chExt cx="8469672" cy="36444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749BA1-5E89-057E-BEBC-2AA865BFD04F}"/>
                </a:ext>
              </a:extLst>
            </p:cNvPr>
            <p:cNvSpPr txBox="1"/>
            <p:nvPr/>
          </p:nvSpPr>
          <p:spPr>
            <a:xfrm>
              <a:off x="790467" y="3543143"/>
              <a:ext cx="6231542" cy="645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E. Hosang (CAE), M. Dembach (Fraunhofer), 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February 2026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3C8E09-94F3-EC16-B78D-0EC7330B352D}"/>
                </a:ext>
              </a:extLst>
            </p:cNvPr>
            <p:cNvSpPr txBox="1"/>
            <p:nvPr/>
          </p:nvSpPr>
          <p:spPr>
            <a:xfrm>
              <a:off x="860042" y="544276"/>
              <a:ext cx="8400097" cy="13549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5400" b="1" dirty="0">
                  <a:solidFill>
                    <a:schemeClr val="bg1"/>
                  </a:solidFill>
                  <a:ea typeface="Bebas Neue" charset="0"/>
                  <a:cs typeface="Bebas Neue" charset="0"/>
                </a:rPr>
                <a:t>ASX Extension – PDG Update for SIW 2026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4452691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4350-BD87-F6A9-CD98-57AB5AE5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ASX PDG Activity 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2E5F-DC37-235A-F436-53FF432D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C2SIM ASX PDG is investigating the use of C2SIM to simulate Autonomous Vehicles.</a:t>
            </a:r>
          </a:p>
          <a:p>
            <a:pPr lvl="1"/>
            <a:r>
              <a:rPr lang="en-CA" dirty="0"/>
              <a:t>This includes Ground, Airborne, Surface and Sub-surface vehicles (UXV).</a:t>
            </a:r>
            <a:endParaRPr lang="en-US" dirty="0"/>
          </a:p>
          <a:p>
            <a:r>
              <a:rPr lang="en-US" dirty="0"/>
              <a:t>Ontology definition started with concepts from IEEE Robotics standards.</a:t>
            </a:r>
          </a:p>
          <a:p>
            <a:r>
              <a:rPr lang="en-CA" dirty="0"/>
              <a:t>Additional concepts being identified using both real-life and hypothetical scenarios for deploying UXVs.</a:t>
            </a:r>
          </a:p>
        </p:txBody>
      </p:sp>
    </p:spTree>
    <p:extLst>
      <p:ext uri="{BB962C8B-B14F-4D97-AF65-F5344CB8AC3E}">
        <p14:creationId xmlns:p14="http://schemas.microsoft.com/office/powerpoint/2010/main" val="1706241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C2B5-4D7B-81AF-5860-63D8A50E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over the last year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7A69-347E-0D49-03EF-52CDC51F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Reviewing Standards for Ontology Concepts</a:t>
            </a:r>
          </a:p>
          <a:p>
            <a:r>
              <a:rPr lang="en-US" dirty="0"/>
              <a:t>Mining Use Cases for Ontology entities – Use Case Document</a:t>
            </a:r>
          </a:p>
          <a:p>
            <a:r>
              <a:rPr lang="en-US" dirty="0"/>
              <a:t>Identifying entities from Use Cases</a:t>
            </a:r>
          </a:p>
          <a:p>
            <a:endParaRPr lang="en-US" dirty="0"/>
          </a:p>
          <a:p>
            <a:pPr lvl="1"/>
            <a:r>
              <a:rPr lang="en-US" dirty="0"/>
              <a:t>Note: All presentations and working documents are available from GitHub under </a:t>
            </a:r>
            <a:r>
              <a:rPr lang="en-CA" dirty="0">
                <a:hlinkClick r:id="rId2"/>
              </a:rPr>
              <a:t>GitHub - </a:t>
            </a:r>
            <a:r>
              <a:rPr lang="en-CA" dirty="0" err="1">
                <a:hlinkClick r:id="rId2"/>
              </a:rPr>
              <a:t>hyssostech</a:t>
            </a:r>
            <a:r>
              <a:rPr lang="en-CA" dirty="0">
                <a:hlinkClick r:id="rId2"/>
              </a:rPr>
              <a:t>/C2SIMArtifacts: C2SIM Artifacts</a:t>
            </a:r>
            <a:endParaRPr lang="en-CA" dirty="0"/>
          </a:p>
          <a:p>
            <a:pPr lvl="2"/>
            <a:r>
              <a:rPr lang="en-CA" dirty="0"/>
              <a:t>See the Subgroups / ASX folder.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AF0F-403F-8693-CC03-73BC6E01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Standards for Ontology Concepts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A845-CFF2-2921-D58A-64413CE88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started with the IEEE  Autonomous Robotics (</a:t>
            </a:r>
            <a:r>
              <a:rPr lang="en-US" dirty="0" err="1"/>
              <a:t>AuR</a:t>
            </a:r>
            <a:r>
              <a:rPr lang="en-US" dirty="0"/>
              <a:t>) Ontology.</a:t>
            </a:r>
          </a:p>
          <a:p>
            <a:r>
              <a:rPr lang="en-US" dirty="0"/>
              <a:t>It builds on a number of other standards, so they were also reviewed.</a:t>
            </a:r>
          </a:p>
          <a:p>
            <a:r>
              <a:rPr lang="en-US" dirty="0"/>
              <a:t>Key concepts were used to start Ontology Definition.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1849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7114-DB32-1639-B829-D95DE068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A7C7-C82F-DA05-B77A-94E6D3A8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Robotic standards reviewed for useful concepts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9E148-75E3-050B-82D4-7501A61E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Descriptive Ontology for Linguistic and Cognitive Engineering (DOLCE) ultra-lite (DUL). [2308.01597] DOLCE: A Descriptive Ontology for Linguistic and Cognitive Engineering (arxiv.org)</a:t>
            </a:r>
          </a:p>
          <a:p>
            <a:r>
              <a:rPr lang="en-US" sz="2400" dirty="0"/>
              <a:t>The Suggested Upper Merged Ontology (SUMO) - Ontology Portal</a:t>
            </a:r>
          </a:p>
          <a:p>
            <a:r>
              <a:rPr lang="en-US" sz="2400" dirty="0"/>
              <a:t>1872-15 IEEE Standard for Ontologies for Robotics and Automation </a:t>
            </a:r>
          </a:p>
          <a:p>
            <a:pPr lvl="1"/>
            <a:r>
              <a:rPr lang="en-US" sz="2000" dirty="0"/>
              <a:t>Defines the Core Ontology for Robotics and Automation (CORA)</a:t>
            </a:r>
          </a:p>
          <a:p>
            <a:pPr lvl="1"/>
            <a:r>
              <a:rPr lang="en-US" sz="2000" dirty="0"/>
              <a:t>Uses concepts from  SUMO</a:t>
            </a:r>
          </a:p>
          <a:p>
            <a:r>
              <a:rPr lang="en-US" sz="2400" dirty="0"/>
              <a:t>1872.2-2021 IEEE  Autonomous Robotics (</a:t>
            </a:r>
            <a:r>
              <a:rPr lang="en-US" sz="2400" dirty="0" err="1"/>
              <a:t>AuR</a:t>
            </a:r>
            <a:r>
              <a:rPr lang="en-US" sz="2400" dirty="0"/>
              <a:t>) Ontology</a:t>
            </a:r>
          </a:p>
          <a:p>
            <a:pPr lvl="1"/>
            <a:r>
              <a:rPr lang="en-US" sz="2000" dirty="0"/>
              <a:t>Extension of CORA</a:t>
            </a:r>
          </a:p>
          <a:p>
            <a:pPr lvl="1"/>
            <a:r>
              <a:rPr lang="en-US" sz="2000" dirty="0"/>
              <a:t>Uses concepts from  SUMO and DOLCE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133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7488-9C30-AB38-DF06-FD09A81F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ASX concepts from CORA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4705-D066-EDCD-50F7-FE2ACD4B8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Agent ≡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/>
              <a:t>ActorEntity</a:t>
            </a:r>
            <a:endParaRPr lang="de-DE" dirty="0"/>
          </a:p>
          <a:p>
            <a:pPr lvl="1"/>
            <a:r>
              <a:rPr lang="en-CA" dirty="0">
                <a:solidFill>
                  <a:srgbClr val="179C7D"/>
                </a:solidFill>
              </a:rPr>
              <a:t>Robot </a:t>
            </a:r>
            <a:r>
              <a:rPr lang="de-DE" dirty="0"/>
              <a:t>⊑ </a:t>
            </a:r>
            <a:r>
              <a:rPr lang="en-CA" noProof="0" dirty="0" err="1"/>
              <a:t>ActorEntity</a:t>
            </a:r>
            <a:r>
              <a:rPr lang="en-CA" noProof="0" dirty="0"/>
              <a:t> (in Cora also Subclass of </a:t>
            </a:r>
            <a:r>
              <a:rPr lang="en-CA" noProof="0" dirty="0" err="1"/>
              <a:t>ElectricDevice</a:t>
            </a:r>
            <a:r>
              <a:rPr lang="en-CA" noProof="0" dirty="0"/>
              <a:t>, but multiple upper classes were not modeled</a:t>
            </a:r>
            <a:r>
              <a:rPr lang="de-DE" dirty="0"/>
              <a:t>)</a:t>
            </a:r>
          </a:p>
          <a:p>
            <a:r>
              <a:rPr lang="en-CA" dirty="0">
                <a:solidFill>
                  <a:schemeClr val="accent1"/>
                </a:solidFill>
              </a:rPr>
              <a:t>Artifact</a:t>
            </a:r>
            <a:r>
              <a:rPr lang="en-CA" dirty="0"/>
              <a:t>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PhysicalEntity</a:t>
            </a:r>
            <a:endParaRPr lang="de-DE" dirty="0">
              <a:solidFill>
                <a:schemeClr val="accent1"/>
              </a:solidFill>
            </a:endParaRPr>
          </a:p>
          <a:p>
            <a:pPr lvl="1"/>
            <a:r>
              <a:rPr lang="en-CA" dirty="0" err="1">
                <a:solidFill>
                  <a:srgbClr val="179C7D"/>
                </a:solidFill>
              </a:rPr>
              <a:t>ArtificialSystem</a:t>
            </a:r>
            <a:r>
              <a:rPr lang="en-CA" dirty="0">
                <a:solidFill>
                  <a:srgbClr val="179C7D"/>
                </a:solidFill>
              </a:rPr>
              <a:t> </a:t>
            </a:r>
            <a:r>
              <a:rPr lang="de-DE" dirty="0"/>
              <a:t>⊑</a:t>
            </a:r>
            <a:r>
              <a:rPr lang="en-CA" dirty="0">
                <a:solidFill>
                  <a:srgbClr val="179C7D"/>
                </a:solidFill>
              </a:rPr>
              <a:t> Artifact</a:t>
            </a:r>
            <a:endParaRPr lang="de-DE" dirty="0">
              <a:solidFill>
                <a:srgbClr val="179C7D"/>
              </a:solidFill>
            </a:endParaRPr>
          </a:p>
          <a:p>
            <a:pPr lvl="1"/>
            <a:r>
              <a:rPr lang="de-DE" dirty="0">
                <a:solidFill>
                  <a:schemeClr val="accent1"/>
                </a:solidFill>
              </a:rPr>
              <a:t>Device </a:t>
            </a:r>
            <a:r>
              <a:rPr lang="de-DE" dirty="0"/>
              <a:t>⊑ </a:t>
            </a:r>
            <a:r>
              <a:rPr lang="en-CA" dirty="0">
                <a:solidFill>
                  <a:srgbClr val="179C7D"/>
                </a:solidFill>
              </a:rPr>
              <a:t>Artifact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en-CA" dirty="0"/>
              <a:t>Measure </a:t>
            </a:r>
            <a:r>
              <a:rPr lang="de-DE" dirty="0"/>
              <a:t>≡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hasEntityState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/>
              <a:t>(</a:t>
            </a:r>
            <a:r>
              <a:rPr lang="en-CA" noProof="0" dirty="0"/>
              <a:t>no Properties used yet, though</a:t>
            </a:r>
            <a:r>
              <a:rPr lang="de-DE" dirty="0"/>
              <a:t>)</a:t>
            </a:r>
          </a:p>
          <a:p>
            <a:r>
              <a:rPr lang="en-CA" dirty="0" err="1">
                <a:solidFill>
                  <a:srgbClr val="179C7D"/>
                </a:solidFill>
              </a:rPr>
              <a:t>ComputerProcess</a:t>
            </a:r>
            <a:r>
              <a:rPr lang="en-CA" dirty="0">
                <a:solidFill>
                  <a:srgbClr val="179C7D"/>
                </a:solidFill>
              </a:rPr>
              <a:t> </a:t>
            </a:r>
            <a:r>
              <a:rPr lang="de-DE" dirty="0"/>
              <a:t>⊑ </a:t>
            </a:r>
            <a:r>
              <a:rPr lang="de-DE" dirty="0">
                <a:solidFill>
                  <a:schemeClr val="accent1"/>
                </a:solidFill>
              </a:rPr>
              <a:t>Event </a:t>
            </a:r>
            <a:r>
              <a:rPr lang="de-DE" dirty="0"/>
              <a:t>(</a:t>
            </a:r>
            <a:r>
              <a:rPr lang="en-CA" noProof="0" dirty="0"/>
              <a:t>will probably need own </a:t>
            </a:r>
            <a:r>
              <a:rPr lang="en-CA" noProof="0" dirty="0" err="1"/>
              <a:t>EventCode</a:t>
            </a:r>
            <a:r>
              <a:rPr lang="de-DE" dirty="0"/>
              <a:t>)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/>
              <a:t>Group ≡ </a:t>
            </a:r>
            <a:r>
              <a:rPr lang="en-CA" dirty="0" err="1"/>
              <a:t>CollectiveEntity</a:t>
            </a:r>
            <a:endParaRPr lang="en-CA" dirty="0"/>
          </a:p>
          <a:p>
            <a:r>
              <a:rPr lang="en-CA" dirty="0" err="1">
                <a:solidFill>
                  <a:srgbClr val="179C7D"/>
                </a:solidFill>
              </a:rPr>
              <a:t>RoboticEnvironment</a:t>
            </a:r>
            <a:r>
              <a:rPr lang="en-CA" dirty="0">
                <a:solidFill>
                  <a:srgbClr val="179C7D"/>
                </a:solidFill>
              </a:rPr>
              <a:t> </a:t>
            </a:r>
            <a:r>
              <a:rPr lang="de-DE" dirty="0"/>
              <a:t>⊑ </a:t>
            </a:r>
            <a:r>
              <a:rPr lang="de-DE" dirty="0" err="1"/>
              <a:t>EnvironmentalObject</a:t>
            </a:r>
            <a:endParaRPr lang="de-DE" dirty="0"/>
          </a:p>
          <a:p>
            <a:r>
              <a:rPr lang="en-CA" dirty="0" err="1">
                <a:solidFill>
                  <a:srgbClr val="179C7D"/>
                </a:solidFill>
              </a:rPr>
              <a:t>PhysicalEnvironment</a:t>
            </a:r>
            <a:r>
              <a:rPr lang="en-CA" dirty="0">
                <a:solidFill>
                  <a:srgbClr val="179C7D"/>
                </a:solidFill>
              </a:rPr>
              <a:t> </a:t>
            </a:r>
            <a:r>
              <a:rPr lang="de-DE" dirty="0"/>
              <a:t>⊑ </a:t>
            </a:r>
            <a:r>
              <a:rPr lang="de-DE" dirty="0" err="1"/>
              <a:t>EnvironmentalObject</a:t>
            </a:r>
            <a:endParaRPr lang="de-DE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626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50A2-3E5B-1E3C-1338-CB5675A0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Concepts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EA48E-414A-F26A-226B-047B078C5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chemeClr val="accent1"/>
                </a:solidFill>
              </a:rPr>
              <a:t>Sensor</a:t>
            </a:r>
            <a:r>
              <a:rPr lang="en-CA" dirty="0"/>
              <a:t>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ElectricDevice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 err="1">
                <a:solidFill>
                  <a:schemeClr val="accent1"/>
                </a:solidFill>
              </a:rPr>
              <a:t>Actuator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ElectricDevice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Swarm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CollectiveRoboticSystem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UAV </a:t>
            </a:r>
            <a:r>
              <a:rPr lang="de-DE" dirty="0"/>
              <a:t>⊑ </a:t>
            </a:r>
            <a:r>
              <a:rPr lang="de-DE" dirty="0">
                <a:solidFill>
                  <a:schemeClr val="accent1"/>
                </a:solidFill>
              </a:rPr>
              <a:t>Robot</a:t>
            </a:r>
          </a:p>
          <a:p>
            <a:r>
              <a:rPr lang="de-DE" dirty="0">
                <a:solidFill>
                  <a:schemeClr val="accent1"/>
                </a:solidFill>
              </a:rPr>
              <a:t>UGV </a:t>
            </a:r>
            <a:r>
              <a:rPr lang="de-DE" dirty="0"/>
              <a:t>⊑ </a:t>
            </a:r>
            <a:r>
              <a:rPr lang="de-DE" dirty="0">
                <a:solidFill>
                  <a:schemeClr val="accent1"/>
                </a:solidFill>
              </a:rPr>
              <a:t>Robot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0281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2964-DFE8-8D70-39F8-8B4DE32C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Mining Use Cases for Ontology entities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55A39-3207-75F7-823B-D5E1DE91E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Scenarios involving autonomous vehicles were identified.</a:t>
            </a:r>
          </a:p>
          <a:p>
            <a:r>
              <a:rPr lang="en-US" dirty="0"/>
              <a:t>Describing these scenarios using C2SIM is underway to identify aspects that cannot be represented by the existing standard.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61564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33423-EDAC-DAE7-125B-35CAC07C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Use Cases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2141-B60E-72EB-4B55-D22BE2B9D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Initial investigation included using Large Language Model (LLM) to identify possible scenarios / use cases. </a:t>
            </a:r>
          </a:p>
          <a:p>
            <a:r>
              <a:rPr lang="en-US" dirty="0"/>
              <a:t>Collecting use cases is an ongoing activity.</a:t>
            </a:r>
          </a:p>
          <a:p>
            <a:pPr lvl="1"/>
            <a:r>
              <a:rPr lang="en-US" dirty="0"/>
              <a:t>UXV are being deployed in Ukraine in new ways.</a:t>
            </a:r>
          </a:p>
          <a:p>
            <a:r>
              <a:rPr lang="en-CA" dirty="0"/>
              <a:t>Due to overlap between autonomous vehicles and robotic platforms, the extension may not be limited to “Autonomous” entities.</a:t>
            </a:r>
          </a:p>
          <a:p>
            <a:pPr lvl="1"/>
            <a:r>
              <a:rPr lang="en-US" dirty="0"/>
              <a:t>Ex. Use of First Person View (FPV) drones deployed in Ukraine. Pilot in HQ wears goggles that transmit live video feed from camera on the drone.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095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ABA0-9527-09D1-9548-9F93CE6B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Capture Document (1/2)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B4CE-B329-6871-D671-6E466B5F7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 scenarios were combined into a single document that provides an overview of activities.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Scenario: Deploying military to aid in earthquake recovery. </a:t>
            </a:r>
          </a:p>
          <a:p>
            <a:pPr lvl="1"/>
            <a:r>
              <a:rPr lang="en-US" dirty="0"/>
              <a:t>Activity: </a:t>
            </a:r>
            <a:r>
              <a:rPr lang="en-CA" dirty="0"/>
              <a:t>Deploy swarm of Ground vehicles to detect and retrieve injured civilian.</a:t>
            </a:r>
            <a:endParaRPr lang="en-US" dirty="0"/>
          </a:p>
          <a:p>
            <a:r>
              <a:rPr lang="en-US" dirty="0"/>
              <a:t>Large examples were broken down into atomic use cases</a:t>
            </a:r>
          </a:p>
          <a:p>
            <a:pPr lvl="1"/>
            <a:r>
              <a:rPr lang="en-CA" dirty="0" err="1"/>
              <a:t>Eg.</a:t>
            </a:r>
            <a:r>
              <a:rPr lang="en-CA" dirty="0"/>
              <a:t> Deploy swarm of Ground vehicles … becomes:</a:t>
            </a:r>
          </a:p>
          <a:p>
            <a:pPr lvl="1"/>
            <a:r>
              <a:rPr lang="en-CA" dirty="0"/>
              <a:t>1. Dispatch swarm to start of search. </a:t>
            </a:r>
          </a:p>
          <a:p>
            <a:pPr lvl="1"/>
            <a:r>
              <a:rPr lang="en-CA" dirty="0"/>
              <a:t>2. Provide search pattern to lead drone; </a:t>
            </a:r>
          </a:p>
          <a:p>
            <a:pPr lvl="1"/>
            <a:r>
              <a:rPr lang="en-CA" dirty="0"/>
              <a:t>3. Drone reports location of injured civilian to C2 unit. …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6372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A956-A33A-15E0-7D1F-47077F27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Capture Document (2/2)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1045-06E3-47C0-B39C-631CD057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Atomic use cases broken out into more details:</a:t>
            </a:r>
          </a:p>
          <a:p>
            <a:pPr lvl="1"/>
            <a:r>
              <a:rPr lang="en-US" dirty="0"/>
              <a:t>Entities</a:t>
            </a:r>
          </a:p>
          <a:p>
            <a:pPr lvl="1"/>
            <a:r>
              <a:rPr lang="en-US" dirty="0"/>
              <a:t>Initialization Messages</a:t>
            </a:r>
          </a:p>
          <a:p>
            <a:pPr lvl="1"/>
            <a:r>
              <a:rPr lang="en-US" dirty="0"/>
              <a:t>Order, Report Messages.</a:t>
            </a:r>
          </a:p>
          <a:p>
            <a:r>
              <a:rPr lang="en-US" dirty="0"/>
              <a:t>Use cases that describe activities with autonomous or robotic entities are broken out into individual messages.</a:t>
            </a:r>
          </a:p>
          <a:p>
            <a:pPr lvl="1"/>
            <a:r>
              <a:rPr lang="en-US" dirty="0"/>
              <a:t>Ex. tasking a human reconnaissance unit using jeeps is already understood. BUT</a:t>
            </a:r>
          </a:p>
          <a:p>
            <a:pPr lvl="1"/>
            <a:r>
              <a:rPr lang="en-US" dirty="0"/>
              <a:t>Initialization of a swarm of ground vehicles with specialized sensors requires extensions for vehicle platform, orders and reports.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4012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8ABB-D8AC-F406-F3A9-0D57615F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entities from Use Cases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6272-E8F8-D147-5AB2-2B2A2000A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Spreadsheets used for primary investigation, with one each for Initialization messages, Orders and Reports.</a:t>
            </a:r>
          </a:p>
          <a:p>
            <a:r>
              <a:rPr lang="en-US" dirty="0"/>
              <a:t>In the spreadsheets, each tab represents a single message.</a:t>
            </a:r>
          </a:p>
          <a:p>
            <a:r>
              <a:rPr lang="en-US" dirty="0"/>
              <a:t>Tab is used to list all elements of the message. </a:t>
            </a:r>
          </a:p>
          <a:p>
            <a:r>
              <a:rPr lang="en-US" dirty="0"/>
              <a:t>Each element is identified by its C2SIM model (C2SIM, C2SIM_SMX_LOX)</a:t>
            </a:r>
          </a:p>
          <a:p>
            <a:r>
              <a:rPr lang="en-US" dirty="0"/>
              <a:t>Concepts that cannot be specified with existing values are highlighted. </a:t>
            </a:r>
          </a:p>
          <a:p>
            <a:r>
              <a:rPr lang="en-US" dirty="0"/>
              <a:t>See next slide for details.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8052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8FCA-D790-0210-1C40-8BBB28B8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ReportBody</a:t>
            </a:r>
            <a:r>
              <a:rPr lang="en-US" dirty="0"/>
              <a:t> Class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12CC-4A4D-FFE8-4616-B3314CAF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Reports send Situational Awareness (SA) information from Areas of Operation to C2 units, allowing Commanders to adapt their tactics based on current conditions.</a:t>
            </a:r>
          </a:p>
          <a:p>
            <a:r>
              <a:rPr lang="en-US" dirty="0"/>
              <a:t>The </a:t>
            </a:r>
            <a:r>
              <a:rPr lang="en-US" dirty="0" err="1"/>
              <a:t>ReportBody</a:t>
            </a:r>
            <a:r>
              <a:rPr lang="en-US" dirty="0"/>
              <a:t> is a subclass of </a:t>
            </a:r>
            <a:r>
              <a:rPr lang="en-US" dirty="0" err="1"/>
              <a:t>MessageBody</a:t>
            </a:r>
            <a:r>
              <a:rPr lang="en-US" dirty="0"/>
              <a:t>, and can be used as the </a:t>
            </a:r>
            <a:r>
              <a:rPr lang="en-US" dirty="0" err="1"/>
              <a:t>MessageBody</a:t>
            </a:r>
            <a:r>
              <a:rPr lang="en-US" dirty="0"/>
              <a:t> value of Message.</a:t>
            </a:r>
          </a:p>
          <a:p>
            <a:r>
              <a:rPr lang="en-US" dirty="0"/>
              <a:t>Its main attribute is an instance of </a:t>
            </a:r>
            <a:r>
              <a:rPr lang="en-US" dirty="0" err="1"/>
              <a:t>ReportContent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0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79AE-336A-B116-F1BC-706EE701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Class Diagram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6A157-8988-819B-D1F4-981B2FB8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39" y="1291479"/>
            <a:ext cx="7335521" cy="52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85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CD15-99D3-4797-4365-B99AFE9C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Base Attributes sample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D009FC-3A8C-45A4-0BD8-6E4707F8F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074660"/>
              </p:ext>
            </p:extLst>
          </p:nvPr>
        </p:nvGraphicFramePr>
        <p:xfrm>
          <a:off x="1064871" y="1940560"/>
          <a:ext cx="9704728" cy="276023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076">
                  <a:extLst>
                    <a:ext uri="{9D8B030D-6E8A-4147-A177-3AD203B41FA5}">
                      <a16:colId xmlns:a16="http://schemas.microsoft.com/office/drawing/2014/main" val="520064536"/>
                    </a:ext>
                  </a:extLst>
                </a:gridCol>
                <a:gridCol w="2268638">
                  <a:extLst>
                    <a:ext uri="{9D8B030D-6E8A-4147-A177-3AD203B41FA5}">
                      <a16:colId xmlns:a16="http://schemas.microsoft.com/office/drawing/2014/main" val="1804433301"/>
                    </a:ext>
                  </a:extLst>
                </a:gridCol>
                <a:gridCol w="2355631">
                  <a:extLst>
                    <a:ext uri="{9D8B030D-6E8A-4147-A177-3AD203B41FA5}">
                      <a16:colId xmlns:a16="http://schemas.microsoft.com/office/drawing/2014/main" val="538829021"/>
                    </a:ext>
                  </a:extLst>
                </a:gridCol>
                <a:gridCol w="1750536">
                  <a:extLst>
                    <a:ext uri="{9D8B030D-6E8A-4147-A177-3AD203B41FA5}">
                      <a16:colId xmlns:a16="http://schemas.microsoft.com/office/drawing/2014/main" val="536896592"/>
                    </a:ext>
                  </a:extLst>
                </a:gridCol>
                <a:gridCol w="1535847">
                  <a:extLst>
                    <a:ext uri="{9D8B030D-6E8A-4147-A177-3AD203B41FA5}">
                      <a16:colId xmlns:a16="http://schemas.microsoft.com/office/drawing/2014/main" val="3942443313"/>
                    </a:ext>
                  </a:extLst>
                </a:gridCol>
              </a:tblGrid>
              <a:tr h="372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Model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C2SIM Object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Parent Type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Field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Type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71936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 err="1">
                          <a:effectLst/>
                        </a:rPr>
                        <a:t>MessageConcept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N/A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N/A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2560670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MessageBody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MessageConcept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N/A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1382216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DomainMessageBody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MessageBody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8184418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isFromSender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UUIDBase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5458800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isToReceiver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 err="1">
                          <a:effectLst/>
                        </a:rPr>
                        <a:t>UUIDBase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2883678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C2SIM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ReportBody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DomainMessageBody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ReportingEntity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56191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ReportContent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9627066"/>
                  </a:ext>
                </a:extLst>
              </a:tr>
              <a:tr h="2983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C2SIM_SMX_LOX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ReportingEntity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479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24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F04D-C399-22D2-5909-A7F3E82D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with Media example - Basics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57A82-A402-DF1E-FEAF-1A78068EC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028559"/>
              </p:ext>
            </p:extLst>
          </p:nvPr>
        </p:nvGraphicFramePr>
        <p:xfrm>
          <a:off x="980438" y="1467168"/>
          <a:ext cx="10231123" cy="401775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17982">
                  <a:extLst>
                    <a:ext uri="{9D8B030D-6E8A-4147-A177-3AD203B41FA5}">
                      <a16:colId xmlns:a16="http://schemas.microsoft.com/office/drawing/2014/main" val="15977096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40360034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3485137442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4098751968"/>
                    </a:ext>
                  </a:extLst>
                </a:gridCol>
                <a:gridCol w="1011184">
                  <a:extLst>
                    <a:ext uri="{9D8B030D-6E8A-4147-A177-3AD203B41FA5}">
                      <a16:colId xmlns:a16="http://schemas.microsoft.com/office/drawing/2014/main" val="2736329421"/>
                    </a:ext>
                  </a:extLst>
                </a:gridCol>
                <a:gridCol w="2085077">
                  <a:extLst>
                    <a:ext uri="{9D8B030D-6E8A-4147-A177-3AD203B41FA5}">
                      <a16:colId xmlns:a16="http://schemas.microsoft.com/office/drawing/2014/main" val="2071731730"/>
                    </a:ext>
                  </a:extLst>
                </a:gridCol>
              </a:tblGrid>
              <a:tr h="205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Model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 Object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Parent Type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Field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Type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Value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872751603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C2SIM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ReportBody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DomainMessageBody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ReportingEntity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992169771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ReportContent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ObservationReportContent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3013599857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C2SIM_SMX_LOX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ReportingEntity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Unit with Sensor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2514608871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C2SIM_SMX_LOX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ObservationReportContent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ReportContent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2776280976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C2SIM_SMX_LOX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LocationObservation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Sensor's  location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323799574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actorReference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string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520071649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confidenceLevel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404125792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uncertaintyInterval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22231918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C2SIM_SMX_LOX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LocationObservation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Observed entity's location (optional)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935668794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actorReference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string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185339037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confidenceLevel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3071833378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uncertaintyInterval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2353389123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C2SIM_SMX_LOX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ActivityObservation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2254499355"/>
                  </a:ext>
                </a:extLst>
              </a:tr>
              <a:tr h="205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actorReference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string 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827346227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confidenceLevel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422030190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uncertaintyInterval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double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42" marR="6842" marT="6842" marB="0" anchor="b"/>
                </a:tc>
                <a:extLst>
                  <a:ext uri="{0D108BD9-81ED-4DB2-BD59-A6C34878D82A}">
                    <a16:rowId xmlns:a16="http://schemas.microsoft.com/office/drawing/2014/main" val="161075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744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1385-6DB1-D055-E8CE-F76183D8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with Media example – ASX Elements extend </a:t>
            </a:r>
            <a:r>
              <a:rPr lang="en-US" dirty="0" err="1"/>
              <a:t>ActivityObservation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EB89B-B6C5-A126-58D7-1E4A6169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10477"/>
              </p:ext>
            </p:extLst>
          </p:nvPr>
        </p:nvGraphicFramePr>
        <p:xfrm>
          <a:off x="1028700" y="1690688"/>
          <a:ext cx="9932525" cy="49411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49680">
                  <a:extLst>
                    <a:ext uri="{9D8B030D-6E8A-4147-A177-3AD203B41FA5}">
                      <a16:colId xmlns:a16="http://schemas.microsoft.com/office/drawing/2014/main" val="1379037334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691407757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158575406"/>
                    </a:ext>
                  </a:extLst>
                </a:gridCol>
                <a:gridCol w="1990846">
                  <a:extLst>
                    <a:ext uri="{9D8B030D-6E8A-4147-A177-3AD203B41FA5}">
                      <a16:colId xmlns:a16="http://schemas.microsoft.com/office/drawing/2014/main" val="1220672037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3720253032"/>
                    </a:ext>
                  </a:extLst>
                </a:gridCol>
                <a:gridCol w="2095017">
                  <a:extLst>
                    <a:ext uri="{9D8B030D-6E8A-4147-A177-3AD203B41FA5}">
                      <a16:colId xmlns:a16="http://schemas.microsoft.com/office/drawing/2014/main" val="393348526"/>
                    </a:ext>
                  </a:extLst>
                </a:gridCol>
              </a:tblGrid>
              <a:tr h="1925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Model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C2SIM Object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Parent Type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Field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Type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Value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006153883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C2SIM_ASX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SensorObservation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ActivityObservation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654326734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media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MediaReference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029633541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analystComment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AnalystComment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1670802075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C2SIM_ASX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AnalysisConcept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C2SIMContent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Sub-type of C2SIMContent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623078903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C2SIM_ASX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 err="1">
                          <a:effectLst/>
                        </a:rPr>
                        <a:t>MediaReference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AnalysisConcept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23686287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effectiveTime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IntervalTime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1049666262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mediaType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MediaTypeEnum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Video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787365284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url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URL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631149934"/>
                  </a:ext>
                </a:extLst>
              </a:tr>
              <a:tr h="30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C2SIM_ASX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AnalystComment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 err="1">
                          <a:effectLst/>
                        </a:rPr>
                        <a:t>AnalysisConcept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033192476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analystName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Name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1740385456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createdTime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DateTime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4289656071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lastModifiedTime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DateTime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58560810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repositoryReference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UUID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969991819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reportReference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string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1920972099"/>
                  </a:ext>
                </a:extLst>
              </a:tr>
              <a:tr h="30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url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string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321501889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C2SIM_ASX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MediaTypeEnum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N/A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Video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024605540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 dirty="0">
                          <a:effectLst/>
                        </a:rPr>
                        <a:t>Audio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909278821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Image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563372956"/>
                  </a:ext>
                </a:extLst>
              </a:tr>
              <a:tr h="1540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Document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2028151481"/>
                  </a:ext>
                </a:extLst>
              </a:tr>
              <a:tr h="30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u="none" strike="noStrike">
                          <a:effectLst/>
                        </a:rPr>
                        <a:t>Not Otherwise Specified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18" marR="6418" marT="6418" marB="0" anchor="b"/>
                </a:tc>
                <a:extLst>
                  <a:ext uri="{0D108BD9-81ED-4DB2-BD59-A6C34878D82A}">
                    <a16:rowId xmlns:a16="http://schemas.microsoft.com/office/drawing/2014/main" val="3995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20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3C8E09-94F3-EC16-B78D-0EC7330B352D}"/>
              </a:ext>
            </a:extLst>
          </p:cNvPr>
          <p:cNvSpPr txBox="1"/>
          <p:nvPr/>
        </p:nvSpPr>
        <p:spPr>
          <a:xfrm>
            <a:off x="579279" y="2438563"/>
            <a:ext cx="8400097" cy="843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chemeClr val="bg1"/>
                </a:solidFill>
                <a:ea typeface="Bebas Neue" charset="0"/>
                <a:cs typeface="Bebas Neue" charset="0"/>
              </a:rPr>
              <a:t>Thank you!</a:t>
            </a:r>
          </a:p>
        </p:txBody>
      </p:sp>
      <p:pic>
        <p:nvPicPr>
          <p:cNvPr id="14" name="Picture 1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076E4E16-88AC-6A50-5A4F-C0764FA74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942" y="6273800"/>
            <a:ext cx="976261" cy="5669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3428960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A0FCD5-9692-CF49-F1C6-06DE2609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Acronyms (to be </a:t>
            </a:r>
            <a:r>
              <a:rPr lang="en-US"/>
              <a:t>alphabetized later)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2AD-2AA7-4181-367D-A9814B920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AuR</a:t>
            </a:r>
            <a:r>
              <a:rPr lang="en-US" sz="2900" dirty="0"/>
              <a:t> – Autonomous Robots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ALFUS – Autonomy Levels for Unmanned Systems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CORA – Core Ontology for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CORAX – CORA Extension. Aspects of reality necessary for modelling, but not explicitly covered by SUMO.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DOLCE – Descriptive Ontology for Linguistic and Cognitive Engineering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DUL – DOLCE ultra-light.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ORA – Ontology for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POS – Position and Orientation ontology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R&amp;A –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SUMO – Suggested Upper Merged Ontology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2C782-9654-E799-800C-07421CC5D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UAV – Unpiloted Aerial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USV – Unpiloted Surface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UUV – Unpiloted Underwater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UXV – Unpiloted Aerial/Surface/Underwater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AOE – Area of Interest</a:t>
            </a:r>
            <a:endParaRPr lang="en-CA" sz="2900" dirty="0"/>
          </a:p>
          <a:p>
            <a:r>
              <a:rPr lang="en-CA" dirty="0"/>
              <a:t>ASX – Autonomous System Extension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65176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A0FCD5-9692-CF49-F1C6-06DE2609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2AD-2AA7-4181-367D-A9814B920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CA" sz="1600" dirty="0"/>
              <a:t>ALFUS - Autonomy Levels for Unmanned Systems</a:t>
            </a:r>
          </a:p>
          <a:p>
            <a:r>
              <a:rPr lang="en-CA" sz="1600" dirty="0"/>
              <a:t>AOE - Area of Interest</a:t>
            </a:r>
          </a:p>
          <a:p>
            <a:r>
              <a:rPr lang="en-CA" sz="1600" dirty="0"/>
              <a:t>ASX - Autonomous System Extension</a:t>
            </a:r>
          </a:p>
          <a:p>
            <a:r>
              <a:rPr lang="en-CA" sz="1600" dirty="0" err="1"/>
              <a:t>AuR</a:t>
            </a:r>
            <a:r>
              <a:rPr lang="en-CA" sz="1600" dirty="0"/>
              <a:t> - Autonomous Robots</a:t>
            </a:r>
          </a:p>
          <a:p>
            <a:r>
              <a:rPr lang="en-CA" sz="1600" dirty="0"/>
              <a:t>CORA - Core Ontology for Robotics and Automation</a:t>
            </a:r>
          </a:p>
          <a:p>
            <a:r>
              <a:rPr lang="en-CA" sz="1600" dirty="0"/>
              <a:t>CORAX," CORA Extension. Aspects of reality necessary for modelling - but not explicitly covered by SUMO.",</a:t>
            </a:r>
          </a:p>
          <a:p>
            <a:r>
              <a:rPr lang="en-CA" sz="1600" dirty="0"/>
              <a:t>DOLCE - Descriptive Ontology for Linguistic and Cognitive Engineering</a:t>
            </a:r>
          </a:p>
          <a:p>
            <a:r>
              <a:rPr lang="en-CA" sz="1600" dirty="0"/>
              <a:t>DUL - DOLCE ultra-light</a:t>
            </a:r>
          </a:p>
          <a:p>
            <a:r>
              <a:rPr lang="en-CA" sz="1600" dirty="0"/>
              <a:t>ORA - Ontology for Robotics and Automation</a:t>
            </a:r>
          </a:p>
          <a:p>
            <a:r>
              <a:rPr lang="en-CA" sz="1600" dirty="0"/>
              <a:t>POS - Position and Orientation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2C782-9654-E799-800C-07421CC5D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1600" dirty="0"/>
              <a:t>R&amp;A - Robotics and Automation,</a:t>
            </a:r>
          </a:p>
          <a:p>
            <a:r>
              <a:rPr lang="en-CA" sz="1600" dirty="0"/>
              <a:t>SUMO - Suggested Upper Merged Ontology,</a:t>
            </a:r>
          </a:p>
          <a:p>
            <a:r>
              <a:rPr lang="en-CA" sz="1600" dirty="0"/>
              <a:t>UAV - Unpiloted Aerial Vehicle,</a:t>
            </a:r>
          </a:p>
          <a:p>
            <a:r>
              <a:rPr lang="en-CA" sz="1600" dirty="0"/>
              <a:t>USV - Unpiloted Surface Vehicle,</a:t>
            </a:r>
          </a:p>
          <a:p>
            <a:r>
              <a:rPr lang="en-CA" sz="1600" dirty="0"/>
              <a:t>UUV - Unpiloted Underwater Vehicle,</a:t>
            </a:r>
          </a:p>
          <a:p>
            <a:r>
              <a:rPr lang="en-CA" sz="1600" dirty="0"/>
              <a:t>UXV - Unpiloted Aerial/Surface/Underwater Vehicle </a:t>
            </a:r>
          </a:p>
        </p:txBody>
      </p:sp>
    </p:spTree>
    <p:extLst>
      <p:ext uri="{BB962C8B-B14F-4D97-AF65-F5344CB8AC3E}">
        <p14:creationId xmlns:p14="http://schemas.microsoft.com/office/powerpoint/2010/main" val="3427942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3E9F-CD83-09E8-48EA-E1784A35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Generic Use Cases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F950-0EB9-8DCE-37BB-05B43A24E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Each scenario can be broken down into distinct stages: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Deployment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Maintenance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Coordination – in case of hierarchy change, loss of key nodes, i.e. changing of roles in hierarchy.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Resupply – manage swarm members: replace depleted delivery entities, rotate out entities that need to be recharged/refueled</a:t>
            </a:r>
          </a:p>
          <a:p>
            <a:pPr>
              <a:lnSpc>
                <a:spcPct val="120000"/>
              </a:lnSpc>
            </a:pPr>
            <a:r>
              <a:rPr lang="en-US" dirty="0"/>
              <a:t>Types of tasks: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Surveillance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Delivery – emergency supplies, e.g. food/water, medical supplies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Deployed with swarm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Communications – radio repeater, communication between humans (video/voice relay back to Command Center)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Protection (armed)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64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E084-B4F9-7B58-BEE6-B7688D16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Activities (1/2)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7E29-AC7A-9215-4D23-6119FDCE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Deploy swarm from base</a:t>
            </a:r>
          </a:p>
          <a:p>
            <a:r>
              <a:rPr lang="en-US" dirty="0"/>
              <a:t>Travel to destination</a:t>
            </a:r>
          </a:p>
          <a:p>
            <a:r>
              <a:rPr lang="en-CA" dirty="0"/>
              <a:t>Perform specific tasks</a:t>
            </a:r>
          </a:p>
          <a:p>
            <a:pPr lvl="1"/>
            <a:r>
              <a:rPr lang="en-CA" dirty="0"/>
              <a:t>Intelligence Gathering</a:t>
            </a:r>
          </a:p>
          <a:p>
            <a:pPr lvl="2"/>
            <a:r>
              <a:rPr lang="en-CA" dirty="0"/>
              <a:t>Locate Survivors, objects, resources, </a:t>
            </a:r>
          </a:p>
          <a:p>
            <a:pPr lvl="2"/>
            <a:r>
              <a:rPr lang="en-CA" dirty="0"/>
              <a:t>Identify hazards</a:t>
            </a:r>
          </a:p>
          <a:p>
            <a:pPr lvl="1"/>
            <a:r>
              <a:rPr lang="en-CA" dirty="0"/>
              <a:t>Respond to situation</a:t>
            </a:r>
          </a:p>
          <a:p>
            <a:pPr lvl="2"/>
            <a:r>
              <a:rPr lang="en-CA" dirty="0"/>
              <a:t>Report survivors</a:t>
            </a:r>
          </a:p>
          <a:p>
            <a:pPr lvl="2"/>
            <a:r>
              <a:rPr lang="en-CA" dirty="0"/>
              <a:t>Deploy medical assistance</a:t>
            </a:r>
          </a:p>
          <a:p>
            <a:pPr lvl="2"/>
            <a:r>
              <a:rPr lang="en-CA" dirty="0"/>
              <a:t>Protect from danger</a:t>
            </a:r>
          </a:p>
          <a:p>
            <a:pPr lvl="2"/>
            <a:r>
              <a:rPr lang="en-CA" dirty="0"/>
              <a:t>Extract survivors</a:t>
            </a:r>
          </a:p>
          <a:p>
            <a:pPr lvl="2"/>
            <a:r>
              <a:rPr lang="en-CA" dirty="0"/>
              <a:t>Recover assets / Materiel</a:t>
            </a:r>
          </a:p>
        </p:txBody>
      </p:sp>
    </p:spTree>
    <p:extLst>
      <p:ext uri="{BB962C8B-B14F-4D97-AF65-F5344CB8AC3E}">
        <p14:creationId xmlns:p14="http://schemas.microsoft.com/office/powerpoint/2010/main" val="2270285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E084-B4F9-7B58-BEE6-B7688D16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Activities (2/2)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7E29-AC7A-9215-4D23-6119FDCE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Perform specific tasks (cont’d)</a:t>
            </a:r>
          </a:p>
          <a:p>
            <a:pPr lvl="1"/>
            <a:r>
              <a:rPr lang="en-CA" dirty="0"/>
              <a:t>Decisions Required</a:t>
            </a:r>
          </a:p>
          <a:p>
            <a:pPr lvl="2"/>
            <a:r>
              <a:rPr lang="en-CA" dirty="0"/>
              <a:t>Deployment of specialized units in response to observed data, e.g. deploy medical kits to victims </a:t>
            </a:r>
          </a:p>
          <a:p>
            <a:pPr lvl="2"/>
            <a:r>
              <a:rPr lang="en-CA" dirty="0"/>
              <a:t>Collection of intelligence information</a:t>
            </a:r>
          </a:p>
          <a:p>
            <a:pPr lvl="3"/>
            <a:r>
              <a:rPr lang="en-CA" dirty="0"/>
              <a:t>Prioritize reporting data back to Command Center, e.g. CBRN or other munitions detected.</a:t>
            </a:r>
          </a:p>
          <a:p>
            <a:pPr lvl="2"/>
            <a:r>
              <a:rPr lang="en-CA" dirty="0"/>
              <a:t>Direction of specific sensor types depending on what is found, e.g. CBRN detectors, EW survey sensors, video systems.</a:t>
            </a:r>
          </a:p>
          <a:p>
            <a:pPr lvl="2"/>
            <a:r>
              <a:rPr lang="en-CA" dirty="0"/>
              <a:t>Communications: </a:t>
            </a:r>
          </a:p>
          <a:p>
            <a:pPr lvl="3"/>
            <a:r>
              <a:rPr lang="en-CA" dirty="0"/>
              <a:t>Relay signals if distance to Command Center is too far from surveillance drones (radio repeaters)</a:t>
            </a:r>
          </a:p>
          <a:p>
            <a:pPr lvl="3"/>
            <a:r>
              <a:rPr lang="en-CA" dirty="0"/>
              <a:t>Create communications between victims and Command Center, e.g. medical responders directing survivors to treat with supplied first aid kits</a:t>
            </a:r>
          </a:p>
          <a:p>
            <a:pPr lvl="3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674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GABARIT CAE 16/9 JUIN 2022 PAR PREZEXPERT" val="N3sKuFEn"/>
  <p:tag name="ARTICULATE_SLIDE_COUNT" val="6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Layout 1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RedHat">
      <a:majorFont>
        <a:latin typeface="Red Hat Display Light"/>
        <a:ea typeface="Helvetica"/>
        <a:cs typeface="Helvetica"/>
      </a:majorFont>
      <a:minorFont>
        <a:latin typeface="Red Hat Display"/>
        <a:ea typeface="Avenir Roman"/>
        <a:cs typeface="Avenir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lIns="144000" tIns="72000" rIns="144000" bIns="72000" rtlCol="0" anchor="ctr"/>
      <a:lstStyle>
        <a:defPPr algn="ctr">
          <a:spcBef>
            <a:spcPts val="800"/>
          </a:spcBef>
          <a:defRPr sz="1600" b="1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800" dirty="0" err="1" smtClean="0">
            <a:effectLst/>
            <a:ea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custClrLst>
    <a:custClr name="Yellow">
      <a:srgbClr val="F59B40"/>
    </a:custClr>
    <a:custClr name="Orange">
      <a:srgbClr val="F55C38"/>
    </a:custClr>
    <a:custClr name="Teal">
      <a:srgbClr val="1ED4B2"/>
    </a:custClr>
    <a:custClr name="Turqoise">
      <a:srgbClr val="31C6DE"/>
    </a:custClr>
    <a:custClr name="Indigo">
      <a:srgbClr val="4C41BB"/>
    </a:custClr>
    <a:custClr name="Pink">
      <a:srgbClr val="E23E9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shboard - Red">
      <a:srgbClr val="FF0000"/>
    </a:custClr>
    <a:custClr name="Dashboard - Yellow">
      <a:srgbClr val="FFFF00"/>
    </a:custClr>
    <a:custClr name="Dashboard - Green">
      <a:srgbClr val="00B050"/>
    </a:custClr>
  </a:custClrLst>
  <a:extLst>
    <a:ext uri="{05A4C25C-085E-4340-85A3-A5531E510DB2}">
      <thm15:themeFamily xmlns:thm15="http://schemas.microsoft.com/office/thememl/2012/main" name="CAE 16_9 ENG NEW" id="{38154DC4-D6D4-4853-AA96-12D2C0765396}" vid="{70359D05-C866-44FC-A42D-8188BDF82D04}"/>
    </a:ext>
  </a:extLst>
</a:theme>
</file>

<file path=ppt/theme/theme2.xml><?xml version="1.0" encoding="utf-8"?>
<a:theme xmlns:a="http://schemas.openxmlformats.org/drawingml/2006/main" name="Default Layou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E6BE8E9D62A489E89088165552537" ma:contentTypeVersion="23" ma:contentTypeDescription="Create a new document." ma:contentTypeScope="" ma:versionID="6e83425ab1c525ba8fce5c619b58b1dc">
  <xsd:schema xmlns:xsd="http://www.w3.org/2001/XMLSchema" xmlns:xs="http://www.w3.org/2001/XMLSchema" xmlns:p="http://schemas.microsoft.com/office/2006/metadata/properties" xmlns:ns2="9de35825-77e6-4d9d-bbc7-7a2b5e5c6d68" xmlns:ns3="12cd23af-3e52-4056-a2c9-5961a2704e29" xmlns:ns4="716d1e58-2f47-4028-a3d3-4ae2fbcdb48c" targetNamespace="http://schemas.microsoft.com/office/2006/metadata/properties" ma:root="true" ma:fieldsID="23aa16b45e4256d0f85adf32c85bedd2" ns2:_="" ns3:_="" ns4:_="">
    <xsd:import namespace="9de35825-77e6-4d9d-bbc7-7a2b5e5c6d68"/>
    <xsd:import namespace="12cd23af-3e52-4056-a2c9-5961a2704e29"/>
    <xsd:import namespace="716d1e58-2f47-4028-a3d3-4ae2fbcdb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4:SharedWithUsers" minOccurs="0"/>
                <xsd:element ref="ns4:SharedWithDetail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35825-77e6-4d9d-bbc7-7a2b5e5c6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dac91e-569b-4c3a-829b-3856784e6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23af-3e52-4056-a2c9-5961a2704e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2d30fd-74c4-4107-a3e6-a9ccb0e97e32}" ma:internalName="TaxCatchAll" ma:showField="CatchAllData" ma:web="716d1e58-2f47-4028-a3d3-4ae2fbcdb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d1e58-2f47-4028-a3d3-4ae2fbcdb48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6d1e58-2f47-4028-a3d3-4ae2fbcdb48c">
      <UserInfo>
        <DisplayName>SharingLinks.3e3d083d-97f8-426a-ad2b-91c3f471e3c9.OrganizationEdit.06e789e9-29fd-41f8-9fa1-705ae9007a95</DisplayName>
        <AccountId>24</AccountId>
        <AccountType/>
      </UserInfo>
      <UserInfo>
        <DisplayName>SharingLinks.f39469b9-5b0e-416a-ba7b-bcaccd1af0d5.OrganizationEdit.e01e0804-14a8-468e-9836-48909cdb4ae1</DisplayName>
        <AccountId>36</AccountId>
        <AccountType/>
      </UserInfo>
      <UserInfo>
        <DisplayName>Sylvia Mutter</DisplayName>
        <AccountId>43</AccountId>
        <AccountType/>
      </UserInfo>
      <UserInfo>
        <DisplayName>Aline Massouh</DisplayName>
        <AccountId>9031</AccountId>
        <AccountType/>
      </UserInfo>
    </SharedWithUsers>
    <lcf76f155ced4ddcb4097134ff3c332f xmlns="9de35825-77e6-4d9d-bbc7-7a2b5e5c6d68">
      <Terms xmlns="http://schemas.microsoft.com/office/infopath/2007/PartnerControls"/>
    </lcf76f155ced4ddcb4097134ff3c332f>
    <TaxCatchAll xmlns="12cd23af-3e52-4056-a2c9-5961a2704e29" xsi:nil="true"/>
    <MediaLengthInSeconds xmlns="9de35825-77e6-4d9d-bbc7-7a2b5e5c6d6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F9799-0721-4C37-841B-72253AFD5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35825-77e6-4d9d-bbc7-7a2b5e5c6d68"/>
    <ds:schemaRef ds:uri="12cd23af-3e52-4056-a2c9-5961a2704e29"/>
    <ds:schemaRef ds:uri="716d1e58-2f47-4028-a3d3-4ae2fbcdb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91A0FF-7CF6-4FC6-83D5-1298EC075798}">
  <ds:schemaRefs>
    <ds:schemaRef ds:uri="12cd23af-3e52-4056-a2c9-5961a2704e29"/>
    <ds:schemaRef ds:uri="716d1e58-2f47-4028-a3d3-4ae2fbcdb48c"/>
    <ds:schemaRef ds:uri="9de35825-77e6-4d9d-bbc7-7a2b5e5c6d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7F82A6-C5BB-4E86-A9B2-E9D69C0733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6911</TotalTime>
  <Words>1498</Words>
  <Application>Microsoft Office PowerPoint</Application>
  <PresentationFormat>Widescreen</PresentationFormat>
  <Paragraphs>283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 Narrow</vt:lpstr>
      <vt:lpstr>Arial</vt:lpstr>
      <vt:lpstr>Bebas Neue</vt:lpstr>
      <vt:lpstr>Calibri</vt:lpstr>
      <vt:lpstr>Montserrat Medium</vt:lpstr>
      <vt:lpstr>Red Hat Display</vt:lpstr>
      <vt:lpstr>Red Hat Display Light</vt:lpstr>
      <vt:lpstr>Wingdings</vt:lpstr>
      <vt:lpstr>Default Layout 1</vt:lpstr>
      <vt:lpstr>Default Layout 2</vt:lpstr>
      <vt:lpstr>PowerPoint Presentation</vt:lpstr>
      <vt:lpstr>C2SIM ASX PDG Activity Overview</vt:lpstr>
      <vt:lpstr>Activities over the last year</vt:lpstr>
      <vt:lpstr>Reviewing Standards for Ontology Concepts</vt:lpstr>
      <vt:lpstr>Robotic standards reviewed for useful concepts</vt:lpstr>
      <vt:lpstr>C2SIM ASX concepts from CORA</vt:lpstr>
      <vt:lpstr>Additional Concepts</vt:lpstr>
      <vt:lpstr>Mining Use Cases for Ontology entities</vt:lpstr>
      <vt:lpstr>Gathering Use Cases</vt:lpstr>
      <vt:lpstr>Use Case Capture Document (1/2)</vt:lpstr>
      <vt:lpstr>Use Case Capture Document (2/2)</vt:lpstr>
      <vt:lpstr>Identifying entities from Use Cases</vt:lpstr>
      <vt:lpstr>ReportBody Class</vt:lpstr>
      <vt:lpstr>Reports Class Diagram</vt:lpstr>
      <vt:lpstr>Report Base Attributes sample</vt:lpstr>
      <vt:lpstr>Report with Media example - Basics</vt:lpstr>
      <vt:lpstr>Report with Media example – ASX Elements extend ActivityObservation</vt:lpstr>
      <vt:lpstr>PowerPoint Presentation</vt:lpstr>
      <vt:lpstr>Acronyms (to be alphabetized later)</vt:lpstr>
      <vt:lpstr>Acronyms</vt:lpstr>
      <vt:lpstr>High-Level Generic Use Cases</vt:lpstr>
      <vt:lpstr>Use Case Activities (1/2)</vt:lpstr>
      <vt:lpstr>Use Case Activities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Aline Massouh</dc:creator>
  <cp:lastModifiedBy>Elizabeth Hosang</cp:lastModifiedBy>
  <cp:revision>366</cp:revision>
  <dcterms:created xsi:type="dcterms:W3CDTF">2022-04-04T19:15:56Z</dcterms:created>
  <dcterms:modified xsi:type="dcterms:W3CDTF">2026-02-11T23:19:42Z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0x01010027EE6BE8E9D62A489E89088165552537</vt:lpwstr>
  </property>
  <property fmtid="{D5CDD505-2E9C-101B-9397-08002B2CF9AE}" pid="3" name="MediaServiceImageTags">
    <vt:lpwstr/>
  </property>
  <property fmtid="{D5CDD505-2E9C-101B-9397-08002B2CF9AE}" pid="4" name="NXPowerLiteLastOptimized">
    <vt:lpwstr>8881486</vt:lpwstr>
  </property>
  <property fmtid="{D5CDD505-2E9C-101B-9397-08002B2CF9AE}" pid="5" name="NXPowerLiteSettings">
    <vt:lpwstr>C980073804F000</vt:lpwstr>
  </property>
  <property fmtid="{D5CDD505-2E9C-101B-9397-08002B2CF9AE}" pid="6" name="NXPowerLiteVersion">
    <vt:lpwstr>D8.0.11</vt:lpwstr>
  </property>
  <property fmtid="{D5CDD505-2E9C-101B-9397-08002B2CF9AE}" pid="7" name="ArticulateGUID">
    <vt:lpwstr>3E637D0B-B1D6-41F1-8258-826E0EE99FA7</vt:lpwstr>
  </property>
  <property fmtid="{D5CDD505-2E9C-101B-9397-08002B2CF9AE}" pid="8" name="ArticulatePath">
    <vt:lpwstr>EN-Marc Parent-2022_v1b</vt:lpwstr>
  </property>
  <property fmtid="{D5CDD505-2E9C-101B-9397-08002B2CF9AE}" pid="9" name="Order">
    <vt:lpwstr>133200.000000000</vt:lpwstr>
  </property>
  <property fmtid="{D5CDD505-2E9C-101B-9397-08002B2CF9AE}" pid="10" name="xd_ProgID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xd_Signature">
    <vt:lpwstr/>
  </property>
  <property fmtid="{D5CDD505-2E9C-101B-9397-08002B2CF9AE}" pid="17" name="Person">
    <vt:lpwstr>13;#Sarah Bibeau</vt:lpwstr>
  </property>
  <property fmtid="{D5CDD505-2E9C-101B-9397-08002B2CF9AE}" pid="18" name="TriggerFlowInfo">
    <vt:lpwstr/>
  </property>
</Properties>
</file>